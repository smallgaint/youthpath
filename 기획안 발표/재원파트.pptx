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7" r:id="rId2"/>
    <p:sldId id="289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0" autoAdjust="0"/>
    <p:restoredTop sz="94660"/>
  </p:normalViewPr>
  <p:slideViewPr>
    <p:cSldViewPr snapToGrid="0" showGuides="1">
      <p:cViewPr>
        <p:scale>
          <a:sx n="56" d="100"/>
          <a:sy n="56" d="100"/>
        </p:scale>
        <p:origin x="173" y="52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9A845F-7E51-147C-B922-7B9910C08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569EE3-8838-CD8D-BADD-D536C8914C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4B55A8-65E9-EB31-EEEB-35C7A5BD4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D4B3CC-DCBF-4ACC-1983-490D1C1B8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C87C11-98A3-43AB-9020-46E299C1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121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8B6F9F-AD1A-4B71-0258-02EBFDE17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B0D499-5175-8B01-3672-87B869EF3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F07972-A171-E594-8ED3-9426BCB92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898CE2-A7E1-58D6-8589-EBD97A4DF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AEF099-ADBC-5E2D-285A-BE8B7B82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53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8165D1-322E-9727-CAC0-6314BFBF0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CCB023-35CA-1C20-37A1-8EA5B5546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C13A26-4FA2-B360-6930-32252A94B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A61D77-B723-A8C3-9578-687A2AF39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89C5A5-E265-34BC-939C-01018B994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006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BAD1E-4DBC-D6D2-304F-29C887A7B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0C2A25-62DF-6D65-3C50-285A02E63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D97056-0C66-114D-A01D-24C10824D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6A1955-EFC5-9BF5-44D1-81A7ED2B8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72FBD5-D160-314E-A5A2-B1638F7BE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C2E293-4348-E660-ADA4-531960E9F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44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AD0484-8F38-9B2A-AF97-A80361AC8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61820D-4450-2C5D-7D9A-75AD81F64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A0132A-3EDF-D57E-285A-DBC93C4FB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6879B8-EA02-7FA8-F2CE-A12219F9B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8D96CE-7E8B-4113-BA3A-4F041A90E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C79279-2E48-8A0D-4799-82B9FA18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F9025ED-CCF9-CD94-EDA4-53219BA8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D2CF807-C080-F060-51CF-7BE9DEC1C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649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E05835-694D-9889-9951-5CAC1D3A4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9901C2-243A-76F7-FDFE-FB9EE96CF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3E623C-3B18-28A8-1A2D-DDB0592F6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F1D3C4-F5B1-E5DF-A69C-266725E3B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8519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67EEA9-D8D8-1BA1-172E-62D084FB3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91F0D8F-13BC-21F1-3703-07D73D45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CA1689-F1D7-D9EF-7045-0F5FD4059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50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078EDB-CD6E-6CB1-A7DC-DBE4F0A72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70C49-83A1-2718-5A88-F292A07D6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C99FD9-6DAF-96C5-634E-58DBBD1E8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1243E3-CB51-0559-8F9D-6BEAC2A7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0185C5-4E3C-8FA4-A210-27EBE1618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5266DC-4C24-5321-19DC-D21633BD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457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97560A-1492-83C5-83D7-50371178F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4C43CB6-F371-7B36-2D54-ABA227381B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EE68F7-23C4-06F6-C912-B33B2ABB2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00CBDE-3D75-CB1A-3427-EA391D4AF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B558CD-7312-BE10-15F4-C0ABA8B3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EB0F6A-F64F-5D9A-8FAD-B26D56374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029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1FA7F-6991-6070-70FB-416B40D0F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2AF70F-2764-D97E-8CD7-BA8101C54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C54383-FFA2-47B8-B462-91F66DC7F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1C7F95-1D91-20DC-12B5-53DA60378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88566A-B26C-E7B3-2D11-37426392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3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6C74A2D-DE32-7248-94FB-C02FDF05FD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054B5-E615-EB10-837C-B280B5CCA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AFCC22-FD00-8196-408D-1C7E1814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1541C5-4F3E-76E6-3CF2-713E15E86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9B4E35-F08E-262A-126F-1B84ABA9A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848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422CF73-E8A8-280C-FA1D-6CE044709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553DBB-8A36-7BB6-E6CF-89198735B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7C7FAF-3B71-F0B0-16AB-EB8FAE45B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43C32-C053-D51C-47E5-54504F1BC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1FF342-D338-3989-7000-FAAB77DD2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00" name="TopAccentBar"/>
          <p:cNvSpPr/>
          <p:nvPr userDrawn="1"/>
        </p:nvSpPr>
        <p:spPr>
          <a:xfrm>
            <a:off x="457200" y="177800"/>
            <a:ext cx="1651000" cy="508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TopLine"/>
          <p:cNvSpPr/>
          <p:nvPr userDrawn="1"/>
        </p:nvSpPr>
        <p:spPr>
          <a:xfrm>
            <a:off x="457200" y="279400"/>
            <a:ext cx="11277600" cy="127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BottomLine"/>
          <p:cNvSpPr/>
          <p:nvPr userDrawn="1"/>
        </p:nvSpPr>
        <p:spPr>
          <a:xfrm>
            <a:off x="457200" y="6540500"/>
            <a:ext cx="11277600" cy="127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64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ction"/>
          <p:cNvSpPr txBox="1"/>
          <p:nvPr/>
        </p:nvSpPr>
        <p:spPr>
          <a:xfrm>
            <a:off x="9430603" y="406400"/>
            <a:ext cx="2380397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n-US" sz="1100" b="1" dirty="0">
                <a:solidFill>
                  <a:srgbClr val="184ED2"/>
                </a:solidFill>
              </a:rPr>
              <a:t>Background &amp; Relative Work</a:t>
            </a:r>
            <a:r>
              <a:rPr lang="en-US" sz="1100" dirty="0">
                <a:solidFill>
                  <a:srgbClr val="BFD4F5"/>
                </a:solidFill>
              </a:rPr>
              <a:t>    |    </a:t>
            </a:r>
            <a:r>
              <a:rPr lang="en-US" sz="1100" b="1" dirty="0">
                <a:solidFill>
                  <a:srgbClr val="0E2559"/>
                </a:solidFill>
              </a:rPr>
              <a:t>06</a:t>
            </a:r>
          </a:p>
        </p:txBody>
      </p:sp>
      <p:sp>
        <p:nvSpPr>
          <p:cNvPr id="101" name="Title"/>
          <p:cNvSpPr txBox="1"/>
          <p:nvPr/>
        </p:nvSpPr>
        <p:spPr>
          <a:xfrm>
            <a:off x="609600" y="762000"/>
            <a:ext cx="108331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600" b="1" dirty="0">
                <a:solidFill>
                  <a:srgbClr val="0E2559"/>
                </a:solidFill>
              </a:rPr>
              <a:t>Background &amp; Relative Work : </a:t>
            </a:r>
            <a:r>
              <a:rPr lang="en-US" sz="2300" b="1" dirty="0">
                <a:solidFill>
                  <a:srgbClr val="0E2559"/>
                </a:solidFill>
              </a:rPr>
              <a:t>Models &amp; Tools</a:t>
            </a:r>
          </a:p>
        </p:txBody>
      </p:sp>
      <p:sp>
        <p:nvSpPr>
          <p:cNvPr id="107" name="A0Card"/>
          <p:cNvSpPr/>
          <p:nvPr/>
        </p:nvSpPr>
        <p:spPr>
          <a:xfrm>
            <a:off x="749300" y="2105576"/>
            <a:ext cx="2540000" cy="305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8" name="A0Hdr"/>
          <p:cNvSpPr/>
          <p:nvPr/>
        </p:nvSpPr>
        <p:spPr>
          <a:xfrm>
            <a:off x="749300" y="2105190"/>
            <a:ext cx="2540000" cy="457200"/>
          </a:xfrm>
          <a:prstGeom prst="roundRect">
            <a:avLst>
              <a:gd name="adj" fmla="val 1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9" name="A0HdrMask"/>
          <p:cNvSpPr/>
          <p:nvPr/>
        </p:nvSpPr>
        <p:spPr>
          <a:xfrm>
            <a:off x="749300" y="2365695"/>
            <a:ext cx="2540000" cy="2286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0" name="A0Num"/>
          <p:cNvSpPr/>
          <p:nvPr/>
        </p:nvSpPr>
        <p:spPr>
          <a:xfrm>
            <a:off x="876300" y="32004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2" name="A0Title"/>
          <p:cNvSpPr txBox="1"/>
          <p:nvPr/>
        </p:nvSpPr>
        <p:spPr>
          <a:xfrm>
            <a:off x="1154735" y="2231823"/>
            <a:ext cx="207899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dirty="0">
                <a:solidFill>
                  <a:srgbClr val="FFFFFF"/>
                </a:solidFill>
              </a:rPr>
              <a:t>Large Language Models</a:t>
            </a:r>
          </a:p>
        </p:txBody>
      </p:sp>
      <p:sp>
        <p:nvSpPr>
          <p:cNvPr id="113" name="Arrow"/>
          <p:cNvSpPr/>
          <p:nvPr/>
        </p:nvSpPr>
        <p:spPr>
          <a:xfrm>
            <a:off x="917074" y="2815631"/>
            <a:ext cx="152400" cy="152400"/>
          </a:xfrm>
          <a:prstGeom prst="rightArrow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A0R0"/>
          <p:cNvSpPr txBox="1"/>
          <p:nvPr/>
        </p:nvSpPr>
        <p:spPr>
          <a:xfrm>
            <a:off x="1154735" y="2803628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LUXIA: </a:t>
            </a:r>
            <a:br>
              <a:rPr lang="en-US" sz="1200" b="1" dirty="0">
                <a:solidFill>
                  <a:srgbClr val="184ED2"/>
                </a:solidFill>
              </a:rPr>
            </a:br>
            <a:r>
              <a:rPr lang="en-US" sz="1200" b="1" dirty="0">
                <a:solidFill>
                  <a:srgbClr val="3A4A66"/>
                </a:solidFill>
              </a:rPr>
              <a:t>Korean - specialized</a:t>
            </a:r>
            <a:endParaRPr lang="en-US" sz="1200" dirty="0">
              <a:solidFill>
                <a:srgbClr val="3A4A66"/>
              </a:solidFill>
            </a:endParaRPr>
          </a:p>
        </p:txBody>
      </p:sp>
      <p:sp>
        <p:nvSpPr>
          <p:cNvPr id="115" name="Gear"/>
          <p:cNvSpPr/>
          <p:nvPr/>
        </p:nvSpPr>
        <p:spPr>
          <a:xfrm>
            <a:off x="917074" y="3331913"/>
            <a:ext cx="152400" cy="152400"/>
          </a:xfrm>
          <a:prstGeom prst="sun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A0R1"/>
          <p:cNvSpPr txBox="1"/>
          <p:nvPr/>
        </p:nvSpPr>
        <p:spPr>
          <a:xfrm>
            <a:off x="1154735" y="3309025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GPT-4o-mini: </a:t>
            </a:r>
            <a:br>
              <a:rPr lang="en-US" sz="1200" b="1" dirty="0">
                <a:solidFill>
                  <a:srgbClr val="184ED2"/>
                </a:solidFill>
              </a:rPr>
            </a:br>
            <a:r>
              <a:rPr lang="en-US" sz="1200" b="1" dirty="0">
                <a:solidFill>
                  <a:srgbClr val="3A4A66"/>
                </a:solidFill>
              </a:rPr>
              <a:t>Response Evaluation</a:t>
            </a:r>
            <a:endParaRPr lang="en-US" sz="1200" dirty="0">
              <a:solidFill>
                <a:srgbClr val="3A4A66"/>
              </a:solidFill>
            </a:endParaRPr>
          </a:p>
        </p:txBody>
      </p:sp>
      <p:sp>
        <p:nvSpPr>
          <p:cNvPr id="117" name="Diamond"/>
          <p:cNvSpPr/>
          <p:nvPr/>
        </p:nvSpPr>
        <p:spPr>
          <a:xfrm>
            <a:off x="919858" y="3885623"/>
            <a:ext cx="152400" cy="152400"/>
          </a:xfrm>
          <a:prstGeom prst="diamond">
            <a:avLst/>
          </a:prstGeom>
          <a:noFill/>
          <a:ln w="12700">
            <a:solidFill>
              <a:srgbClr val="4DB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8" name="A0R2"/>
          <p:cNvSpPr txBox="1"/>
          <p:nvPr/>
        </p:nvSpPr>
        <p:spPr>
          <a:xfrm>
            <a:off x="1166511" y="3863000"/>
            <a:ext cx="2108200" cy="45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Gemini 2.0 Flash: </a:t>
            </a:r>
            <a:br>
              <a:rPr lang="en-US" sz="1200" b="1" dirty="0">
                <a:solidFill>
                  <a:srgbClr val="184ED2"/>
                </a:solidFill>
              </a:rPr>
            </a:br>
            <a:r>
              <a:rPr lang="en-US" sz="1200" b="1" dirty="0">
                <a:solidFill>
                  <a:srgbClr val="3A4A66"/>
                </a:solidFill>
              </a:rPr>
              <a:t>Handling long-context</a:t>
            </a:r>
            <a:endParaRPr lang="en-US" sz="1200" dirty="0">
              <a:solidFill>
                <a:srgbClr val="3A4A66"/>
              </a:solidFill>
            </a:endParaRPr>
          </a:p>
        </p:txBody>
      </p:sp>
      <p:sp>
        <p:nvSpPr>
          <p:cNvPr id="119" name="A1Card"/>
          <p:cNvSpPr/>
          <p:nvPr/>
        </p:nvSpPr>
        <p:spPr>
          <a:xfrm>
            <a:off x="3454490" y="2111979"/>
            <a:ext cx="2540000" cy="304422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 dirty="0"/>
          </a:p>
        </p:txBody>
      </p:sp>
      <p:sp>
        <p:nvSpPr>
          <p:cNvPr id="120" name="A1Hdr"/>
          <p:cNvSpPr/>
          <p:nvPr/>
        </p:nvSpPr>
        <p:spPr>
          <a:xfrm>
            <a:off x="3451895" y="2109175"/>
            <a:ext cx="2553850" cy="457200"/>
          </a:xfrm>
          <a:prstGeom prst="roundRect">
            <a:avLst>
              <a:gd name="adj" fmla="val 1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1" name="A1HdrMask"/>
          <p:cNvSpPr/>
          <p:nvPr/>
        </p:nvSpPr>
        <p:spPr>
          <a:xfrm>
            <a:off x="3451895" y="2365872"/>
            <a:ext cx="2553850" cy="2286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2" name="A1Num"/>
          <p:cNvSpPr/>
          <p:nvPr/>
        </p:nvSpPr>
        <p:spPr>
          <a:xfrm>
            <a:off x="3529560" y="2230121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3" name="A1NumT"/>
          <p:cNvSpPr txBox="1"/>
          <p:nvPr/>
        </p:nvSpPr>
        <p:spPr>
          <a:xfrm>
            <a:off x="3529560" y="2260600"/>
            <a:ext cx="25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200" b="1" dirty="0">
                <a:solidFill>
                  <a:srgbClr val="1446AF"/>
                </a:solidFill>
              </a:rPr>
              <a:t>2</a:t>
            </a:r>
          </a:p>
        </p:txBody>
      </p:sp>
      <p:sp>
        <p:nvSpPr>
          <p:cNvPr id="124" name="A1Title"/>
          <p:cNvSpPr txBox="1"/>
          <p:nvPr/>
        </p:nvSpPr>
        <p:spPr>
          <a:xfrm>
            <a:off x="3886200" y="2240330"/>
            <a:ext cx="1981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dirty="0">
                <a:solidFill>
                  <a:srgbClr val="FFFFFF"/>
                </a:solidFill>
              </a:rPr>
              <a:t>RAG</a:t>
            </a:r>
          </a:p>
        </p:txBody>
      </p:sp>
      <p:sp>
        <p:nvSpPr>
          <p:cNvPr id="125" name="Arrow"/>
          <p:cNvSpPr/>
          <p:nvPr/>
        </p:nvSpPr>
        <p:spPr>
          <a:xfrm>
            <a:off x="3585222" y="2699415"/>
            <a:ext cx="152400" cy="152400"/>
          </a:xfrm>
          <a:prstGeom prst="rightArrow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A1R0"/>
          <p:cNvSpPr txBox="1"/>
          <p:nvPr/>
        </p:nvSpPr>
        <p:spPr>
          <a:xfrm>
            <a:off x="3865977" y="2679578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b="1" dirty="0">
                <a:solidFill>
                  <a:srgbClr val="184ED2"/>
                </a:solidFill>
              </a:rPr>
              <a:t>Static RAG: </a:t>
            </a:r>
            <a:br>
              <a:rPr lang="en-US" sz="1200" b="1" dirty="0">
                <a:solidFill>
                  <a:srgbClr val="184ED2"/>
                </a:solidFill>
              </a:rPr>
            </a:br>
            <a:r>
              <a:rPr lang="en-US" altLang="ko-KR" sz="1000" b="1" dirty="0"/>
              <a:t>Retrieves pre-stored policy and resume datasets</a:t>
            </a:r>
            <a:endParaRPr lang="en-US" sz="1000" b="1" dirty="0">
              <a:solidFill>
                <a:srgbClr val="3A4A66"/>
              </a:solidFill>
            </a:endParaRPr>
          </a:p>
        </p:txBody>
      </p:sp>
      <p:sp>
        <p:nvSpPr>
          <p:cNvPr id="127" name="Gear"/>
          <p:cNvSpPr/>
          <p:nvPr/>
        </p:nvSpPr>
        <p:spPr>
          <a:xfrm>
            <a:off x="3580360" y="3707278"/>
            <a:ext cx="152400" cy="152400"/>
          </a:xfrm>
          <a:prstGeom prst="sun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8" name="A1R1"/>
          <p:cNvSpPr txBox="1"/>
          <p:nvPr/>
        </p:nvSpPr>
        <p:spPr>
          <a:xfrm>
            <a:off x="3865977" y="3705684"/>
            <a:ext cx="1998137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b="1" dirty="0">
                <a:solidFill>
                  <a:srgbClr val="184ED2"/>
                </a:solidFill>
              </a:rPr>
              <a:t>Limitations of Traditional LLM:</a:t>
            </a:r>
            <a:br>
              <a:rPr lang="en-US" sz="1000" b="1" dirty="0">
                <a:solidFill>
                  <a:srgbClr val="184ED2"/>
                </a:solidFill>
              </a:rPr>
            </a:br>
            <a:r>
              <a:rPr lang="en-US" sz="1000" b="1" dirty="0">
                <a:solidFill>
                  <a:srgbClr val="3A4A66"/>
                </a:solidFill>
              </a:rPr>
              <a:t>Hallucination, Lack of specificity, Outdated knowledge</a:t>
            </a:r>
            <a:endParaRPr lang="en-US" sz="1000" dirty="0">
              <a:solidFill>
                <a:srgbClr val="3A4A66"/>
              </a:solidFill>
            </a:endParaRPr>
          </a:p>
        </p:txBody>
      </p:sp>
      <p:sp>
        <p:nvSpPr>
          <p:cNvPr id="129" name="Diamond"/>
          <p:cNvSpPr/>
          <p:nvPr/>
        </p:nvSpPr>
        <p:spPr>
          <a:xfrm>
            <a:off x="3580360" y="4275655"/>
            <a:ext cx="152400" cy="152400"/>
          </a:xfrm>
          <a:prstGeom prst="diamond">
            <a:avLst/>
          </a:prstGeom>
          <a:noFill/>
          <a:ln w="12700">
            <a:solidFill>
              <a:srgbClr val="4DB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0" name="A1R2"/>
          <p:cNvSpPr txBox="1"/>
          <p:nvPr/>
        </p:nvSpPr>
        <p:spPr>
          <a:xfrm>
            <a:off x="3869263" y="4273404"/>
            <a:ext cx="1998137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b="1" dirty="0">
                <a:solidFill>
                  <a:srgbClr val="184ED2"/>
                </a:solidFill>
              </a:rPr>
              <a:t>Advantages of RAG: </a:t>
            </a:r>
          </a:p>
          <a:p>
            <a:r>
              <a:rPr lang="en-US" sz="1000" b="1" dirty="0">
                <a:solidFill>
                  <a:srgbClr val="3A4A66"/>
                </a:solidFill>
              </a:rPr>
              <a:t>Improving factual accuracy, more specific and context-aware responses, </a:t>
            </a:r>
            <a:r>
              <a:rPr lang="en-US" altLang="ko-KR" sz="1000" b="1" dirty="0"/>
              <a:t>Keeping information up-to-date without retraining the model</a:t>
            </a:r>
            <a:endParaRPr lang="en-US" sz="1000" b="1" dirty="0">
              <a:solidFill>
                <a:srgbClr val="3A4A66"/>
              </a:solidFill>
            </a:endParaRPr>
          </a:p>
        </p:txBody>
      </p:sp>
      <p:sp>
        <p:nvSpPr>
          <p:cNvPr id="131" name="A2Card"/>
          <p:cNvSpPr/>
          <p:nvPr/>
        </p:nvSpPr>
        <p:spPr>
          <a:xfrm>
            <a:off x="6184899" y="2118782"/>
            <a:ext cx="2540000" cy="303741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 dirty="0"/>
          </a:p>
        </p:txBody>
      </p:sp>
      <p:sp>
        <p:nvSpPr>
          <p:cNvPr id="132" name="A2Hdr"/>
          <p:cNvSpPr/>
          <p:nvPr/>
        </p:nvSpPr>
        <p:spPr>
          <a:xfrm>
            <a:off x="6184900" y="2117707"/>
            <a:ext cx="2540000" cy="457200"/>
          </a:xfrm>
          <a:prstGeom prst="roundRect">
            <a:avLst>
              <a:gd name="adj" fmla="val 1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3" name="A2HdrMask"/>
          <p:cNvSpPr/>
          <p:nvPr/>
        </p:nvSpPr>
        <p:spPr>
          <a:xfrm>
            <a:off x="6184900" y="2360601"/>
            <a:ext cx="2540000" cy="2286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4" name="A2Num"/>
          <p:cNvSpPr/>
          <p:nvPr/>
        </p:nvSpPr>
        <p:spPr>
          <a:xfrm>
            <a:off x="6265245" y="221931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5" name="A2NumT"/>
          <p:cNvSpPr txBox="1"/>
          <p:nvPr/>
        </p:nvSpPr>
        <p:spPr>
          <a:xfrm>
            <a:off x="6265245" y="2259672"/>
            <a:ext cx="25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200" b="1" dirty="0">
                <a:solidFill>
                  <a:srgbClr val="1446AF"/>
                </a:solidFill>
              </a:rPr>
              <a:t>3</a:t>
            </a:r>
          </a:p>
        </p:txBody>
      </p:sp>
      <p:sp>
        <p:nvSpPr>
          <p:cNvPr id="136" name="A2Title"/>
          <p:cNvSpPr txBox="1"/>
          <p:nvPr/>
        </p:nvSpPr>
        <p:spPr>
          <a:xfrm>
            <a:off x="6620845" y="2239569"/>
            <a:ext cx="1981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dirty="0">
                <a:solidFill>
                  <a:srgbClr val="FFFFFF"/>
                </a:solidFill>
              </a:rPr>
              <a:t>MCP</a:t>
            </a:r>
          </a:p>
        </p:txBody>
      </p:sp>
      <p:sp>
        <p:nvSpPr>
          <p:cNvPr id="137" name="Arrow"/>
          <p:cNvSpPr/>
          <p:nvPr/>
        </p:nvSpPr>
        <p:spPr>
          <a:xfrm>
            <a:off x="6311900" y="2694984"/>
            <a:ext cx="152400" cy="152400"/>
          </a:xfrm>
          <a:prstGeom prst="rightArrow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8" name="A2R0"/>
          <p:cNvSpPr txBox="1"/>
          <p:nvPr/>
        </p:nvSpPr>
        <p:spPr>
          <a:xfrm>
            <a:off x="6540500" y="2678919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altLang="ko-KR" sz="1200" b="1" dirty="0"/>
              <a:t>Standardized interface for connecting external APIs and tools</a:t>
            </a:r>
            <a:endParaRPr lang="en-US" sz="1200" b="1" dirty="0">
              <a:solidFill>
                <a:srgbClr val="3A4A66"/>
              </a:solidFill>
            </a:endParaRPr>
          </a:p>
        </p:txBody>
      </p:sp>
      <p:sp>
        <p:nvSpPr>
          <p:cNvPr id="139" name="Gear"/>
          <p:cNvSpPr/>
          <p:nvPr/>
        </p:nvSpPr>
        <p:spPr>
          <a:xfrm>
            <a:off x="6311900" y="3430552"/>
            <a:ext cx="152400" cy="152400"/>
          </a:xfrm>
          <a:prstGeom prst="sun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0" name="A2R1"/>
          <p:cNvSpPr txBox="1"/>
          <p:nvPr/>
        </p:nvSpPr>
        <p:spPr>
          <a:xfrm>
            <a:off x="6540500" y="3414484"/>
            <a:ext cx="2108200" cy="10135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Limitations of Traditional LLM: </a:t>
            </a:r>
            <a:endParaRPr lang="en-US" sz="1200" b="1" dirty="0">
              <a:solidFill>
                <a:srgbClr val="3A4A66"/>
              </a:solidFill>
            </a:endParaRPr>
          </a:p>
          <a:p>
            <a:r>
              <a:rPr lang="en-US" altLang="ko-KR" sz="1000" b="1" dirty="0"/>
              <a:t>1. Cannot access real-time external APIs or databases</a:t>
            </a:r>
          </a:p>
          <a:p>
            <a:r>
              <a:rPr lang="en-US" altLang="ko-KR" sz="1000" b="1" dirty="0"/>
              <a:t>2. Cannot directly interact with internal systems or tools</a:t>
            </a:r>
          </a:p>
          <a:p>
            <a:r>
              <a:rPr lang="en-US" altLang="ko-KR" sz="1000" b="1" dirty="0"/>
              <a:t>3. Cannot directly call APIs</a:t>
            </a:r>
          </a:p>
        </p:txBody>
      </p:sp>
      <p:sp>
        <p:nvSpPr>
          <p:cNvPr id="141" name="Diamond"/>
          <p:cNvSpPr/>
          <p:nvPr/>
        </p:nvSpPr>
        <p:spPr>
          <a:xfrm>
            <a:off x="6311900" y="4559300"/>
            <a:ext cx="152400" cy="152400"/>
          </a:xfrm>
          <a:prstGeom prst="diamond">
            <a:avLst/>
          </a:prstGeom>
          <a:noFill/>
          <a:ln w="12700">
            <a:solidFill>
              <a:srgbClr val="4DB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2" name="A2R2"/>
          <p:cNvSpPr txBox="1"/>
          <p:nvPr/>
        </p:nvSpPr>
        <p:spPr>
          <a:xfrm>
            <a:off x="6540500" y="4559299"/>
            <a:ext cx="2108200" cy="46989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Advantages of MCP:</a:t>
            </a:r>
            <a:br>
              <a:rPr lang="en-US" sz="1200" b="1" dirty="0">
                <a:solidFill>
                  <a:srgbClr val="184ED2"/>
                </a:solidFill>
              </a:rPr>
            </a:br>
            <a:r>
              <a:rPr lang="en-US" altLang="ko-KR" sz="1000" b="1" dirty="0"/>
              <a:t>Enables standardized access to external APIs and tools</a:t>
            </a:r>
            <a:endParaRPr lang="en-US" sz="1000" b="1" dirty="0">
              <a:solidFill>
                <a:srgbClr val="3A4A66"/>
              </a:solidFill>
            </a:endParaRPr>
          </a:p>
        </p:txBody>
      </p:sp>
      <p:sp>
        <p:nvSpPr>
          <p:cNvPr id="143" name="A3Card"/>
          <p:cNvSpPr/>
          <p:nvPr/>
        </p:nvSpPr>
        <p:spPr>
          <a:xfrm>
            <a:off x="8902700" y="2118781"/>
            <a:ext cx="2540000" cy="303741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 dirty="0"/>
          </a:p>
        </p:txBody>
      </p:sp>
      <p:sp>
        <p:nvSpPr>
          <p:cNvPr id="144" name="A3Hdr"/>
          <p:cNvSpPr/>
          <p:nvPr/>
        </p:nvSpPr>
        <p:spPr>
          <a:xfrm>
            <a:off x="8902700" y="2118495"/>
            <a:ext cx="2540000" cy="457200"/>
          </a:xfrm>
          <a:prstGeom prst="roundRect">
            <a:avLst>
              <a:gd name="adj" fmla="val 1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5" name="A3HdrMask"/>
          <p:cNvSpPr/>
          <p:nvPr/>
        </p:nvSpPr>
        <p:spPr>
          <a:xfrm>
            <a:off x="8902700" y="2368092"/>
            <a:ext cx="2540000" cy="2286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6" name="A3Num"/>
          <p:cNvSpPr/>
          <p:nvPr/>
        </p:nvSpPr>
        <p:spPr>
          <a:xfrm>
            <a:off x="8985737" y="2224216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7" name="A3NumT"/>
          <p:cNvSpPr txBox="1"/>
          <p:nvPr/>
        </p:nvSpPr>
        <p:spPr>
          <a:xfrm>
            <a:off x="8985738" y="2260005"/>
            <a:ext cx="25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200" b="1" dirty="0">
                <a:solidFill>
                  <a:srgbClr val="1446AF"/>
                </a:solidFill>
              </a:rPr>
              <a:t>4</a:t>
            </a:r>
          </a:p>
        </p:txBody>
      </p:sp>
      <p:sp>
        <p:nvSpPr>
          <p:cNvPr id="148" name="A3Title"/>
          <p:cNvSpPr txBox="1"/>
          <p:nvPr/>
        </p:nvSpPr>
        <p:spPr>
          <a:xfrm>
            <a:off x="9323756" y="2243016"/>
            <a:ext cx="2092568" cy="23065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dirty="0">
                <a:solidFill>
                  <a:srgbClr val="FFFFFF"/>
                </a:solidFill>
              </a:rPr>
              <a:t>Multi-Agent(</a:t>
            </a:r>
            <a:r>
              <a:rPr lang="en-US" sz="1500" b="1" dirty="0" err="1">
                <a:solidFill>
                  <a:srgbClr val="FFFFFF"/>
                </a:solidFill>
              </a:rPr>
              <a:t>LangGraph</a:t>
            </a:r>
            <a:r>
              <a:rPr lang="en-US" sz="1500" b="1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149" name="Arrow"/>
          <p:cNvSpPr/>
          <p:nvPr/>
        </p:nvSpPr>
        <p:spPr>
          <a:xfrm>
            <a:off x="9029700" y="2702168"/>
            <a:ext cx="152400" cy="152400"/>
          </a:xfrm>
          <a:prstGeom prst="rightArrow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0" name="A3R0"/>
          <p:cNvSpPr txBox="1"/>
          <p:nvPr/>
        </p:nvSpPr>
        <p:spPr>
          <a:xfrm>
            <a:off x="9258300" y="2685561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Router Agent: </a:t>
            </a:r>
            <a:br>
              <a:rPr lang="en-US" sz="1200" b="1" dirty="0">
                <a:solidFill>
                  <a:srgbClr val="184ED2"/>
                </a:solidFill>
              </a:rPr>
            </a:br>
            <a:r>
              <a:rPr lang="en-US" altLang="ko-KR" sz="1200" b="1" dirty="0"/>
              <a:t>analyzes user intent and assigns tasks</a:t>
            </a:r>
            <a:endParaRPr lang="en-US" sz="1200" b="1" dirty="0">
              <a:solidFill>
                <a:srgbClr val="3A4A66"/>
              </a:solidFill>
            </a:endParaRPr>
          </a:p>
        </p:txBody>
      </p:sp>
      <p:sp>
        <p:nvSpPr>
          <p:cNvPr id="151" name="Gear"/>
          <p:cNvSpPr/>
          <p:nvPr/>
        </p:nvSpPr>
        <p:spPr>
          <a:xfrm>
            <a:off x="9029700" y="3443655"/>
            <a:ext cx="152400" cy="152400"/>
          </a:xfrm>
          <a:prstGeom prst="sun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2" name="A3R1"/>
          <p:cNvSpPr txBox="1"/>
          <p:nvPr/>
        </p:nvSpPr>
        <p:spPr>
          <a:xfrm>
            <a:off x="9258300" y="3435836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Sub-Agents: </a:t>
            </a:r>
            <a:br>
              <a:rPr lang="en-US" sz="1200" b="1" dirty="0">
                <a:solidFill>
                  <a:srgbClr val="184ED2"/>
                </a:solidFill>
              </a:rPr>
            </a:br>
            <a:r>
              <a:rPr lang="en-US" altLang="ko-KR" sz="1200" b="1" dirty="0"/>
              <a:t>Policy Agent, Job Agent, Resume/Interview Agent, Calendar Agent</a:t>
            </a:r>
            <a:endParaRPr lang="en-US" sz="1200" b="1" dirty="0">
              <a:solidFill>
                <a:srgbClr val="3A4A66"/>
              </a:solidFill>
            </a:endParaRPr>
          </a:p>
        </p:txBody>
      </p:sp>
      <p:sp>
        <p:nvSpPr>
          <p:cNvPr id="153" name="Diamond"/>
          <p:cNvSpPr/>
          <p:nvPr/>
        </p:nvSpPr>
        <p:spPr>
          <a:xfrm>
            <a:off x="9029700" y="4341895"/>
            <a:ext cx="152400" cy="152400"/>
          </a:xfrm>
          <a:prstGeom prst="diamond">
            <a:avLst/>
          </a:prstGeom>
          <a:noFill/>
          <a:ln w="12700">
            <a:solidFill>
              <a:srgbClr val="4DB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A1Num">
            <a:extLst>
              <a:ext uri="{FF2B5EF4-FFF2-40B4-BE49-F238E27FC236}">
                <a16:creationId xmlns:a16="http://schemas.microsoft.com/office/drawing/2014/main" id="{E8EBE449-5A05-BAC9-3074-8DC9D963CFDE}"/>
              </a:ext>
            </a:extLst>
          </p:cNvPr>
          <p:cNvSpPr/>
          <p:nvPr/>
        </p:nvSpPr>
        <p:spPr>
          <a:xfrm>
            <a:off x="825500" y="221742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1" name="A0NumT"/>
          <p:cNvSpPr txBox="1"/>
          <p:nvPr/>
        </p:nvSpPr>
        <p:spPr>
          <a:xfrm>
            <a:off x="825500" y="2250918"/>
            <a:ext cx="25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200" b="1" dirty="0">
                <a:solidFill>
                  <a:srgbClr val="1446AF"/>
                </a:solidFill>
              </a:rPr>
              <a:t>1</a:t>
            </a:r>
          </a:p>
        </p:txBody>
      </p:sp>
      <p:sp>
        <p:nvSpPr>
          <p:cNvPr id="3" name="Arrow">
            <a:extLst>
              <a:ext uri="{FF2B5EF4-FFF2-40B4-BE49-F238E27FC236}">
                <a16:creationId xmlns:a16="http://schemas.microsoft.com/office/drawing/2014/main" id="{67BB4B22-32AE-3958-6CD7-9F0BD180FC03}"/>
              </a:ext>
            </a:extLst>
          </p:cNvPr>
          <p:cNvSpPr/>
          <p:nvPr/>
        </p:nvSpPr>
        <p:spPr>
          <a:xfrm>
            <a:off x="3585222" y="3181218"/>
            <a:ext cx="152400" cy="152400"/>
          </a:xfrm>
          <a:prstGeom prst="rightArrow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A1R0">
            <a:extLst>
              <a:ext uri="{FF2B5EF4-FFF2-40B4-BE49-F238E27FC236}">
                <a16:creationId xmlns:a16="http://schemas.microsoft.com/office/drawing/2014/main" id="{8E6B86B1-7F21-3644-83EB-EF79E58F7696}"/>
              </a:ext>
            </a:extLst>
          </p:cNvPr>
          <p:cNvSpPr txBox="1"/>
          <p:nvPr/>
        </p:nvSpPr>
        <p:spPr>
          <a:xfrm>
            <a:off x="3865977" y="3188836"/>
            <a:ext cx="1998137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b="1" dirty="0">
                <a:solidFill>
                  <a:srgbClr val="184ED2"/>
                </a:solidFill>
              </a:rPr>
              <a:t>Dynamic RAG: </a:t>
            </a:r>
            <a:br>
              <a:rPr lang="en-US" sz="1000" b="1" dirty="0">
                <a:solidFill>
                  <a:srgbClr val="184ED2"/>
                </a:solidFill>
              </a:rPr>
            </a:br>
            <a:r>
              <a:rPr lang="en-US" altLang="ko-KR" sz="1000" b="1" dirty="0"/>
              <a:t>Retrieves real-time business reports from DART</a:t>
            </a:r>
            <a:endParaRPr lang="en-US" sz="1000" b="1" dirty="0">
              <a:solidFill>
                <a:srgbClr val="3A4A66"/>
              </a:solidFill>
            </a:endParaRPr>
          </a:p>
        </p:txBody>
      </p:sp>
      <p:sp>
        <p:nvSpPr>
          <p:cNvPr id="6" name="A3R1">
            <a:extLst>
              <a:ext uri="{FF2B5EF4-FFF2-40B4-BE49-F238E27FC236}">
                <a16:creationId xmlns:a16="http://schemas.microsoft.com/office/drawing/2014/main" id="{BDAD6C12-F092-C552-4863-3D428311A682}"/>
              </a:ext>
            </a:extLst>
          </p:cNvPr>
          <p:cNvSpPr txBox="1"/>
          <p:nvPr/>
        </p:nvSpPr>
        <p:spPr>
          <a:xfrm>
            <a:off x="9258300" y="4322204"/>
            <a:ext cx="1937784" cy="77454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altLang="ko-KR" sz="1200" b="1" dirty="0">
                <a:solidFill>
                  <a:srgbClr val="0E2559"/>
                </a:solidFill>
              </a:rPr>
              <a:t>Each agent can run independently, while results are integrated around the user goal</a:t>
            </a:r>
          </a:p>
          <a:p>
            <a:br>
              <a:rPr lang="en-US" sz="1200" b="1" dirty="0">
                <a:solidFill>
                  <a:srgbClr val="184ED2"/>
                </a:solidFill>
              </a:rPr>
            </a:br>
            <a:endParaRPr lang="en-US" sz="1200" b="1" dirty="0">
              <a:solidFill>
                <a:srgbClr val="3A4A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271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ableBg"/>
          <p:cNvSpPr/>
          <p:nvPr/>
        </p:nvSpPr>
        <p:spPr>
          <a:xfrm>
            <a:off x="635000" y="2032000"/>
            <a:ext cx="10922000" cy="4191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 dirty="0"/>
          </a:p>
        </p:txBody>
      </p:sp>
      <p:sp>
        <p:nvSpPr>
          <p:cNvPr id="100" name="Section"/>
          <p:cNvSpPr txBox="1"/>
          <p:nvPr/>
        </p:nvSpPr>
        <p:spPr>
          <a:xfrm>
            <a:off x="9444251" y="406400"/>
            <a:ext cx="2366749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n-US" sz="1100" b="1" dirty="0">
                <a:solidFill>
                  <a:srgbClr val="184ED2"/>
                </a:solidFill>
              </a:rPr>
              <a:t>Background &amp; Relative Work    </a:t>
            </a:r>
            <a:r>
              <a:rPr lang="en-US" sz="1100" dirty="0">
                <a:solidFill>
                  <a:srgbClr val="BFD4F5"/>
                </a:solidFill>
              </a:rPr>
              <a:t>|    </a:t>
            </a:r>
            <a:r>
              <a:rPr lang="en-US" sz="1100" b="1" dirty="0">
                <a:solidFill>
                  <a:srgbClr val="0E2559"/>
                </a:solidFill>
              </a:rPr>
              <a:t>03</a:t>
            </a:r>
          </a:p>
        </p:txBody>
      </p:sp>
      <p:sp>
        <p:nvSpPr>
          <p:cNvPr id="103" name="HeaderBar"/>
          <p:cNvSpPr/>
          <p:nvPr/>
        </p:nvSpPr>
        <p:spPr>
          <a:xfrm>
            <a:off x="635000" y="2032000"/>
            <a:ext cx="10922000" cy="635000"/>
          </a:xfrm>
          <a:prstGeom prst="roundRect">
            <a:avLst>
              <a:gd name="adj" fmla="val 6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4" name="HeaderMask"/>
          <p:cNvSpPr/>
          <p:nvPr/>
        </p:nvSpPr>
        <p:spPr>
          <a:xfrm>
            <a:off x="635000" y="2349500"/>
            <a:ext cx="10922000" cy="3175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5" name="H0"/>
          <p:cNvSpPr txBox="1"/>
          <p:nvPr/>
        </p:nvSpPr>
        <p:spPr>
          <a:xfrm>
            <a:off x="723488" y="22225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Existing Services</a:t>
            </a:r>
          </a:p>
        </p:txBody>
      </p:sp>
      <p:sp>
        <p:nvSpPr>
          <p:cNvPr id="108" name="H3"/>
          <p:cNvSpPr txBox="1"/>
          <p:nvPr/>
        </p:nvSpPr>
        <p:spPr>
          <a:xfrm>
            <a:off x="5431231" y="22225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YouthPath Improvement</a:t>
            </a:r>
          </a:p>
        </p:txBody>
      </p:sp>
      <p:sp>
        <p:nvSpPr>
          <p:cNvPr id="109" name="R0C0"/>
          <p:cNvSpPr txBox="1"/>
          <p:nvPr/>
        </p:nvSpPr>
        <p:spPr>
          <a:xfrm>
            <a:off x="1671561" y="3018000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00" b="1" dirty="0">
                <a:solidFill>
                  <a:srgbClr val="0E2559"/>
                </a:solidFill>
              </a:rPr>
              <a:t>Government24</a:t>
            </a:r>
          </a:p>
        </p:txBody>
      </p:sp>
      <p:sp>
        <p:nvSpPr>
          <p:cNvPr id="112" name="R0C3"/>
          <p:cNvSpPr txBox="1"/>
          <p:nvPr/>
        </p:nvSpPr>
        <p:spPr>
          <a:xfrm>
            <a:off x="4421156" y="2775130"/>
            <a:ext cx="6418248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</a:rPr>
              <a:t>- Provides personalized policy recommendations based on detailed user inputs</a:t>
            </a:r>
          </a:p>
        </p:txBody>
      </p:sp>
      <p:sp>
        <p:nvSpPr>
          <p:cNvPr id="113" name="Sep1"/>
          <p:cNvSpPr/>
          <p:nvPr/>
        </p:nvSpPr>
        <p:spPr>
          <a:xfrm>
            <a:off x="762000" y="3556000"/>
            <a:ext cx="106680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4" name="R1C0"/>
          <p:cNvSpPr txBox="1"/>
          <p:nvPr/>
        </p:nvSpPr>
        <p:spPr>
          <a:xfrm>
            <a:off x="1671561" y="3906455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00" b="1" dirty="0">
                <a:solidFill>
                  <a:srgbClr val="0E2559"/>
                </a:solidFill>
              </a:rPr>
              <a:t>ChatGPT</a:t>
            </a:r>
          </a:p>
        </p:txBody>
      </p:sp>
      <p:sp>
        <p:nvSpPr>
          <p:cNvPr id="118" name="Sep2"/>
          <p:cNvSpPr/>
          <p:nvPr/>
        </p:nvSpPr>
        <p:spPr>
          <a:xfrm>
            <a:off x="762000" y="4445000"/>
            <a:ext cx="106680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9" name="R2C0"/>
          <p:cNvSpPr txBox="1"/>
          <p:nvPr/>
        </p:nvSpPr>
        <p:spPr>
          <a:xfrm>
            <a:off x="1671561" y="4785490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00" b="1" dirty="0">
                <a:solidFill>
                  <a:srgbClr val="0E2559"/>
                </a:solidFill>
              </a:rPr>
              <a:t>JOBKOREA</a:t>
            </a:r>
          </a:p>
        </p:txBody>
      </p:sp>
      <p:sp>
        <p:nvSpPr>
          <p:cNvPr id="123" name="Sep3"/>
          <p:cNvSpPr/>
          <p:nvPr/>
        </p:nvSpPr>
        <p:spPr>
          <a:xfrm>
            <a:off x="762000" y="5334000"/>
            <a:ext cx="106680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4" name="R3C0"/>
          <p:cNvSpPr txBox="1"/>
          <p:nvPr/>
        </p:nvSpPr>
        <p:spPr>
          <a:xfrm>
            <a:off x="1671561" y="5699673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00" b="1" dirty="0">
                <a:solidFill>
                  <a:srgbClr val="0E2559"/>
                </a:solidFill>
              </a:rPr>
              <a:t>Personal Calendar</a:t>
            </a:r>
          </a:p>
        </p:txBody>
      </p:sp>
      <p:sp>
        <p:nvSpPr>
          <p:cNvPr id="127" name="R3C3"/>
          <p:cNvSpPr txBox="1"/>
          <p:nvPr/>
        </p:nvSpPr>
        <p:spPr>
          <a:xfrm>
            <a:off x="4311031" y="5489074"/>
            <a:ext cx="66294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b="1" dirty="0">
                <a:solidFill>
                  <a:schemeClr val="bg2">
                    <a:lumMod val="50000"/>
                  </a:schemeClr>
                </a:solidFill>
              </a:rPr>
              <a:t>- </a:t>
            </a: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</a:rPr>
              <a:t>Automatically synchronizes policy application deadlines and sends reminders</a:t>
            </a:r>
            <a:endParaRPr lang="en-US" sz="13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B3CE46A-9A8C-DDDB-361E-26159ED79C20}"/>
              </a:ext>
            </a:extLst>
          </p:cNvPr>
          <p:cNvSpPr txBox="1"/>
          <p:nvPr/>
        </p:nvSpPr>
        <p:spPr>
          <a:xfrm>
            <a:off x="609600" y="762000"/>
            <a:ext cx="109474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600" b="1" dirty="0">
                <a:solidFill>
                  <a:srgbClr val="0E2559"/>
                </a:solidFill>
              </a:rPr>
              <a:t>Background &amp; Relative Work : </a:t>
            </a:r>
            <a:r>
              <a:rPr lang="en-US" sz="2300" b="1" dirty="0">
                <a:solidFill>
                  <a:srgbClr val="0E2559"/>
                </a:solidFill>
              </a:rPr>
              <a:t>Improvement over Existing Services</a:t>
            </a:r>
          </a:p>
        </p:txBody>
      </p:sp>
      <p:pic>
        <p:nvPicPr>
          <p:cNvPr id="3" name="그림 2" descr="정부24(구 민원24) - Google Play 앱">
            <a:extLst>
              <a:ext uri="{FF2B5EF4-FFF2-40B4-BE49-F238E27FC236}">
                <a16:creationId xmlns:a16="http://schemas.microsoft.com/office/drawing/2014/main" id="{8580E93C-CFB7-C12E-2AEA-14D8D04D2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96" y="2798171"/>
            <a:ext cx="618129" cy="618129"/>
          </a:xfrm>
          <a:prstGeom prst="rect">
            <a:avLst/>
          </a:prstGeom>
        </p:spPr>
      </p:pic>
      <p:pic>
        <p:nvPicPr>
          <p:cNvPr id="4" name="그림 3" descr="챗GPT - 위키백과, 우리 모두의 백과사전">
            <a:extLst>
              <a:ext uri="{FF2B5EF4-FFF2-40B4-BE49-F238E27FC236}">
                <a16:creationId xmlns:a16="http://schemas.microsoft.com/office/drawing/2014/main" id="{86EB9683-A5F9-D20E-C06C-768414B7E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268" y="3785858"/>
            <a:ext cx="438983" cy="438983"/>
          </a:xfrm>
          <a:prstGeom prst="rect">
            <a:avLst/>
          </a:prstGeom>
        </p:spPr>
      </p:pic>
      <p:pic>
        <p:nvPicPr>
          <p:cNvPr id="5" name="그림 4" descr="잡코리아 | 기업정보(매출·투자·고용) - 혁신의숲(InnoForest)">
            <a:extLst>
              <a:ext uri="{FF2B5EF4-FFF2-40B4-BE49-F238E27FC236}">
                <a16:creationId xmlns:a16="http://schemas.microsoft.com/office/drawing/2014/main" id="{1357BD63-A7EC-2C2F-BD17-A9C7B7C45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113" y="4631638"/>
            <a:ext cx="522073" cy="522073"/>
          </a:xfrm>
          <a:prstGeom prst="rect">
            <a:avLst/>
          </a:prstGeom>
        </p:spPr>
      </p:pic>
      <p:pic>
        <p:nvPicPr>
          <p:cNvPr id="6" name="그래픽 5" descr="월 단위 달력 윤곽선">
            <a:extLst>
              <a:ext uri="{FF2B5EF4-FFF2-40B4-BE49-F238E27FC236}">
                <a16:creationId xmlns:a16="http://schemas.microsoft.com/office/drawing/2014/main" id="{394DCE85-5C9D-F669-24B6-F2FA3FD3FD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196" y="5530622"/>
            <a:ext cx="551905" cy="551905"/>
          </a:xfrm>
          <a:prstGeom prst="rect">
            <a:avLst/>
          </a:prstGeom>
        </p:spPr>
      </p:pic>
      <p:sp>
        <p:nvSpPr>
          <p:cNvPr id="7" name="R0C3">
            <a:extLst>
              <a:ext uri="{FF2B5EF4-FFF2-40B4-BE49-F238E27FC236}">
                <a16:creationId xmlns:a16="http://schemas.microsoft.com/office/drawing/2014/main" id="{0E4205C9-7A82-D9D9-C599-E85619F334DD}"/>
              </a:ext>
            </a:extLst>
          </p:cNvPr>
          <p:cNvSpPr txBox="1"/>
          <p:nvPr/>
        </p:nvSpPr>
        <p:spPr>
          <a:xfrm>
            <a:off x="4421156" y="3128421"/>
            <a:ext cx="6418248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</a:rPr>
              <a:t>- Clearly identifies eligibility and suggests application strategies</a:t>
            </a:r>
          </a:p>
        </p:txBody>
      </p:sp>
      <p:sp>
        <p:nvSpPr>
          <p:cNvPr id="8" name="R0C3">
            <a:extLst>
              <a:ext uri="{FF2B5EF4-FFF2-40B4-BE49-F238E27FC236}">
                <a16:creationId xmlns:a16="http://schemas.microsoft.com/office/drawing/2014/main" id="{C86E48CA-9FF3-6B18-05C1-D7A45E8D50D3}"/>
              </a:ext>
            </a:extLst>
          </p:cNvPr>
          <p:cNvSpPr txBox="1"/>
          <p:nvPr/>
        </p:nvSpPr>
        <p:spPr>
          <a:xfrm>
            <a:off x="3946871" y="3869198"/>
            <a:ext cx="6418248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</a:rPr>
              <a:t>- Uses RAG and MCP for real-time retrieval and updated information</a:t>
            </a:r>
            <a:endParaRPr lang="en-US" altLang="ko-KR" sz="13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R0C3">
            <a:extLst>
              <a:ext uri="{FF2B5EF4-FFF2-40B4-BE49-F238E27FC236}">
                <a16:creationId xmlns:a16="http://schemas.microsoft.com/office/drawing/2014/main" id="{55E90B11-5351-E0F3-5908-322A99758490}"/>
              </a:ext>
            </a:extLst>
          </p:cNvPr>
          <p:cNvSpPr txBox="1"/>
          <p:nvPr/>
        </p:nvSpPr>
        <p:spPr>
          <a:xfrm>
            <a:off x="4179199" y="4643892"/>
            <a:ext cx="6996432" cy="5061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</a:rPr>
              <a:t>- Provides resume writing guidelines based on company reports and job postings</a:t>
            </a:r>
            <a:endParaRPr lang="en-US" altLang="ko-KR" sz="13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987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77821892927]">
  <a:themeElements>
    <a:clrScheme name="Office">
      <a:dk1>
        <a:srgbClr val="0E2559"/>
      </a:dk1>
      <a:lt1>
        <a:srgbClr val="FAFCFF"/>
      </a:lt1>
      <a:dk2>
        <a:srgbClr val="1446AF"/>
      </a:dk2>
      <a:lt2>
        <a:srgbClr val="E8EFFB"/>
      </a:lt2>
      <a:accent1>
        <a:srgbClr val="1446AF"/>
      </a:accent1>
      <a:accent2>
        <a:srgbClr val="184ED2"/>
      </a:accent2>
      <a:accent3>
        <a:srgbClr val="4DB8E8"/>
      </a:accent3>
      <a:accent4>
        <a:srgbClr val="0E2559"/>
      </a:accent4>
      <a:accent5>
        <a:srgbClr val="BFD4F5"/>
      </a:accent5>
      <a:accent6>
        <a:srgbClr val="FFFFFF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744AC8-1C20-48CA-A8D7-86A925144C4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8672272e-2f99-4371-936c-46e1348eabb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266</Words>
  <Application>Microsoft Office PowerPoint</Application>
  <PresentationFormat>와이드스크린</PresentationFormat>
  <Paragraphs>41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테마 [1777821892927]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성래 홍</dc:creator>
  <cp:lastModifiedBy>조재원</cp:lastModifiedBy>
  <cp:revision>7</cp:revision>
  <dcterms:created xsi:type="dcterms:W3CDTF">2026-05-03T15:24:52Z</dcterms:created>
  <dcterms:modified xsi:type="dcterms:W3CDTF">2026-05-04T14:21:03Z</dcterms:modified>
</cp:coreProperties>
</file>