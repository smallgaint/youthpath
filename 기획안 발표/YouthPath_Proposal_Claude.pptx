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84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5" autoAdjust="0"/>
    <p:restoredTop sz="87977" autoAdjust="0"/>
  </p:normalViewPr>
  <p:slideViewPr>
    <p:cSldViewPr snapToGrid="0" snapToObjects="1">
      <p:cViewPr varScale="1">
        <p:scale>
          <a:sx n="65" d="100"/>
          <a:sy n="65" d="100"/>
        </p:scale>
        <p:origin x="45" y="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08B18E-11E7-46E5-9E25-2F57E10CFA32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6E882-3076-4B35-8A2C-C07EC32078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476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6E882-3076-4B35-8A2C-C07EC32078A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652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8686800" y="2743200"/>
            <a:ext cx="5029200" cy="5486400"/>
          </a:xfrm>
          <a:prstGeom prst="rtTriangle">
            <a:avLst/>
          </a:prstGeom>
          <a:solidFill>
            <a:srgbClr val="C9D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 rot="10800000">
            <a:off x="7772400" y="-914400"/>
            <a:ext cx="6400800" cy="5943600"/>
          </a:xfrm>
          <a:prstGeom prst="rtTriangle">
            <a:avLst/>
          </a:prstGeom>
          <a:solidFill>
            <a:srgbClr val="DB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 rot="16200000">
            <a:off x="-640080" y="27432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spc="400">
                <a:solidFill>
                  <a:srgbClr val="1C2C5A"/>
                </a:solidFill>
                <a:latin typeface="Pretendard"/>
              </a:rPr>
              <a:t>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4114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1C2C5A"/>
                </a:solidFill>
                <a:latin typeface="Pretendard"/>
              </a:rPr>
              <a:t>2026.05.05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>
                <a:solidFill>
                  <a:srgbClr val="1C2C5A"/>
                </a:solidFill>
                <a:latin typeface="Pretendard"/>
              </a:rPr>
              <a:t>A Multi-Agent Assistant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 i="0">
                <a:solidFill>
                  <a:srgbClr val="1C2C5A"/>
                </a:solidFill>
                <a:latin typeface="Pretendard"/>
              </a:rPr>
              <a:t>Youth Social Entry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7C8AAE"/>
                </a:solidFill>
                <a:latin typeface="Pretendard"/>
              </a:rPr>
              <a:t>YOUTHPATH — INITIAL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5623560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50" b="0" i="0">
                <a:solidFill>
                  <a:srgbClr val="1C2C5A"/>
                </a:solidFill>
                <a:latin typeface="Pretendard"/>
              </a:rPr>
              <a:t>Hanyang University · Deep Learning Methods and Application</a:t>
            </a:r>
          </a:p>
          <a:p>
            <a:pPr algn="r">
              <a:lnSpc>
                <a:spcPct val="140000"/>
              </a:lnSpc>
            </a:pPr>
            <a:r>
              <a:rPr sz="950" b="0" i="0">
                <a:solidFill>
                  <a:srgbClr val="1C2C5A"/>
                </a:solidFill>
                <a:latin typeface="Pretendard"/>
              </a:rPr>
              <a:t>Five-Person Team</a:t>
            </a:r>
          </a:p>
          <a:p>
            <a:pPr algn="r">
              <a:lnSpc>
                <a:spcPct val="140000"/>
              </a:lnSpc>
            </a:pPr>
            <a:r>
              <a:rPr sz="950" b="0" i="0">
                <a:solidFill>
                  <a:srgbClr val="1C2C5A"/>
                </a:solidFill>
                <a:latin typeface="Pretendard"/>
              </a:rPr>
              <a:t>LLM · RAG · Multi-Agent · MCP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75720" y="6355080"/>
            <a:ext cx="91440" cy="9144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4023360" cy="6784848"/>
          </a:xfrm>
          <a:prstGeom prst="rect">
            <a:avLst/>
          </a:prstGeom>
          <a:solidFill>
            <a:srgbClr val="C9D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1C2C5A"/>
                </a:solidFill>
                <a:latin typeface="Pretendard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C2C5A"/>
                </a:solidFill>
                <a:latin typeface="Pretendard"/>
              </a:rPr>
              <a:t>YOUTHPATH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 spc="200">
                <a:solidFill>
                  <a:srgbClr val="1C2C5A"/>
                </a:solidFill>
                <a:latin typeface="Pretendard"/>
              </a:rPr>
              <a:t>CONTENTS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371600"/>
            <a:ext cx="384048" cy="38404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13716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353312"/>
            <a:ext cx="6675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C2C5A"/>
                </a:solidFill>
                <a:latin typeface="Pretendard"/>
              </a:rPr>
              <a:t>Problem 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645920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7C8AAE"/>
                </a:solidFill>
                <a:latin typeface="Pretendard"/>
              </a:rPr>
              <a:t>A fragmented path into society.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2084832"/>
            <a:ext cx="384048" cy="38404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0848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066544"/>
            <a:ext cx="6675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C2C5A"/>
                </a:solidFill>
                <a:latin typeface="Pretendard"/>
              </a:rPr>
              <a:t>Solution and Differentiation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359152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7C8AAE"/>
                </a:solidFill>
                <a:latin typeface="Pretendard"/>
              </a:rPr>
              <a:t>YouthPath and what makes it different.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2798064"/>
            <a:ext cx="384048" cy="38404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0" y="27980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779776"/>
            <a:ext cx="6675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C2C5A"/>
                </a:solidFill>
                <a:latin typeface="Pretendard"/>
              </a:rPr>
              <a:t>System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072384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7C8AAE"/>
                </a:solidFill>
                <a:latin typeface="Pretendard"/>
              </a:rPr>
              <a:t>A four-layer architecture with a multi-agent core.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511296"/>
            <a:ext cx="384048" cy="38404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0" y="35112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3493008"/>
            <a:ext cx="6675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C2C5A"/>
                </a:solidFill>
                <a:latin typeface="Pretendard"/>
              </a:rPr>
              <a:t>Evaluation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785616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7C8AAE"/>
                </a:solidFill>
                <a:latin typeface="Pretendard"/>
              </a:rPr>
              <a:t>Quantitative and qualitative dual-track evaluation.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4224528"/>
            <a:ext cx="384048" cy="38404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0" y="42245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retendard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4206240"/>
            <a:ext cx="6675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C2C5A"/>
                </a:solidFill>
                <a:latin typeface="Pretendard"/>
              </a:rPr>
              <a:t>Execution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4498848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7C8AAE"/>
                </a:solidFill>
                <a:latin typeface="Pretendard"/>
              </a:rPr>
              <a:t>Team, schedule, and cost.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4937760"/>
            <a:ext cx="384048" cy="38404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54880" y="49377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retendard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4919472"/>
            <a:ext cx="6675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C2C5A"/>
                </a:solidFill>
                <a:latin typeface="Pretendard"/>
              </a:rPr>
              <a:t>Expected Outcomes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5212080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7C8AAE"/>
                </a:solidFill>
                <a:latin typeface="Pretendard"/>
              </a:rPr>
              <a:t>User impact and a five-phase roadmap.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1C2C5A"/>
                </a:solidFill>
                <a:latin typeface="Pretendard"/>
              </a:rPr>
              <a:t>02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137392" y="6519672"/>
            <a:ext cx="64008" cy="6400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C2C5A"/>
                </a:solidFill>
                <a:latin typeface="Pretendard"/>
              </a:rPr>
              <a:t>Problem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 spc="200">
                <a:solidFill>
                  <a:srgbClr val="1C2C5A"/>
                </a:solidFill>
                <a:latin typeface="Pretendard"/>
              </a:rPr>
              <a:t>PROBLEM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8686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Youth career-entry information is fragmented,</a:t>
            </a:r>
          </a:p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and qualification matching, real-time data, and alerts are missing.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0" b="1" i="0">
                <a:solidFill>
                  <a:srgbClr val="1C2C5A"/>
                </a:solidFill>
                <a:latin typeface="Pretendard"/>
              </a:rPr>
              <a:t>~12M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49039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7C8AAE"/>
                </a:solidFill>
                <a:latin typeface="Pretendard"/>
              </a:rPr>
              <a:t>KOREAN YOUTH AGED 19–34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605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C2C5A"/>
                </a:solidFill>
                <a:latin typeface="Pretendard"/>
              </a:rPr>
              <a:t>Average information-search cost: 2 hours.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828800"/>
            <a:ext cx="27889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80760" y="2029968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C2C5A"/>
                </a:solidFill>
                <a:latin typeface="Pretendard"/>
              </a:rPr>
              <a:t>Youth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468880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7C8AAE"/>
                </a:solidFill>
                <a:latin typeface="Pretendard"/>
              </a:rPr>
              <a:t>Government24, Ontongchungnyeon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880360"/>
            <a:ext cx="2331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C2C5A"/>
                </a:solidFill>
                <a:latin typeface="Pretendard"/>
              </a:rPr>
              <a:t>List-only search; no eligibility match.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960" y="1828800"/>
            <a:ext cx="27889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60" y="2029968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C2C5A"/>
                </a:solidFill>
                <a:latin typeface="Pretendard"/>
              </a:rPr>
              <a:t>Job Postings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468880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7C8AAE"/>
                </a:solidFill>
                <a:latin typeface="Pretendard"/>
              </a:rPr>
              <a:t>WorkNet, JobKorea, Saramin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880360"/>
            <a:ext cx="2331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C2C5A"/>
                </a:solidFill>
                <a:latin typeface="Pretendard"/>
              </a:rPr>
              <a:t>Per-employer fragmentation; no resume linkage.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4023360"/>
            <a:ext cx="27889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80760" y="4224528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C2C5A"/>
                </a:solidFill>
                <a:latin typeface="Pretendard"/>
              </a:rPr>
              <a:t>Resume &amp; Interview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4663440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7C8AAE"/>
                </a:solidFill>
                <a:latin typeface="Pretendard"/>
              </a:rPr>
              <a:t>Standalone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5074920"/>
            <a:ext cx="2331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C2C5A"/>
                </a:solidFill>
                <a:latin typeface="Pretendard"/>
              </a:rPr>
              <a:t>No company-specific reference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23960" y="4023360"/>
            <a:ext cx="27889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560" y="4224528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C2C5A"/>
                </a:solidFill>
                <a:latin typeface="Pretendard"/>
              </a:rPr>
              <a:t>Schedule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4663440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7C8AAE"/>
                </a:solidFill>
                <a:latin typeface="Pretendard"/>
              </a:rPr>
              <a:t>Personal calendar apps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5074920"/>
            <a:ext cx="2331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C2C5A"/>
                </a:solidFill>
                <a:latin typeface="Pretendard"/>
              </a:rPr>
              <a:t>No automatic deadline sync.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1C2C5A"/>
                </a:solidFill>
                <a:latin typeface="Pretendard"/>
              </a:rPr>
              <a:t>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137392" y="6519672"/>
            <a:ext cx="64008" cy="6400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C2C5A"/>
                </a:solidFill>
                <a:latin typeface="Pretendard"/>
              </a:rPr>
              <a:t>Pain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 spc="200">
                <a:solidFill>
                  <a:srgbClr val="1C2C5A"/>
                </a:solidFill>
                <a:latin typeface="Pretendard"/>
              </a:rPr>
              <a:t>PAIN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8686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Four structural problems compound on each other,</a:t>
            </a:r>
          </a:p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so no single existing tool can resolve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51663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502920" cy="50292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21408"/>
            <a:ext cx="4526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C2C5A"/>
                </a:solidFill>
                <a:latin typeface="Pretendard"/>
              </a:rPr>
              <a:t>Information Fragmentation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697480"/>
            <a:ext cx="4526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C2C5A"/>
                </a:solidFill>
                <a:latin typeface="Pretendard"/>
              </a:rPr>
              <a:t>Information lives across 5–6 separate platforms.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56432"/>
            <a:ext cx="4526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7C8AAE"/>
                </a:solidFill>
                <a:latin typeface="Pretendard"/>
              </a:rPr>
              <a:t>~2 HOURS PER TASK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1663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691640"/>
            <a:ext cx="502920" cy="50292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16916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121408"/>
            <a:ext cx="4526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C2C5A"/>
                </a:solidFill>
                <a:latin typeface="Pretendard"/>
              </a:rPr>
              <a:t>No Qualification Matching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697480"/>
            <a:ext cx="4526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C2C5A"/>
                </a:solidFill>
                <a:latin typeface="Pretendard"/>
              </a:rPr>
              <a:t>Policy sites list policies but never decide whether you qualify.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456432"/>
            <a:ext cx="4526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7C8AAE"/>
                </a:solidFill>
                <a:latin typeface="Pretendard"/>
              </a:rPr>
              <a:t>MANUAL ELIGIBILITY CHECK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160520"/>
            <a:ext cx="51663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4023360"/>
            <a:ext cx="502920" cy="50292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4023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453128"/>
            <a:ext cx="4526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C2C5A"/>
                </a:solidFill>
                <a:latin typeface="Pretendard"/>
              </a:rPr>
              <a:t>LLM Knowledge Cutoff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029200"/>
            <a:ext cx="4526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C2C5A"/>
                </a:solidFill>
                <a:latin typeface="Pretendard"/>
              </a:rPr>
              <a:t>General-purpose LLMs cannot see new policies, filings, or postings.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788152"/>
            <a:ext cx="4526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7C8AAE"/>
                </a:solidFill>
                <a:latin typeface="Pretendard"/>
              </a:rPr>
              <a:t>STALE ANSWERS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160520"/>
            <a:ext cx="51663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26480" y="4023360"/>
            <a:ext cx="502920" cy="50292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0" y="4023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453128"/>
            <a:ext cx="4526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C2C5A"/>
                </a:solidFill>
                <a:latin typeface="Pretendard"/>
              </a:rPr>
              <a:t>Missed Application Deadlines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029200"/>
            <a:ext cx="4526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C2C5A"/>
                </a:solidFill>
                <a:latin typeface="Pretendard"/>
              </a:rPr>
              <a:t>Deadlines are scattered; users miss eligible policies.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5788152"/>
            <a:ext cx="4526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7C8AAE"/>
                </a:solidFill>
                <a:latin typeface="Pretendard"/>
              </a:rPr>
              <a:t>NO UNIFIED ALERTS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1C2C5A"/>
                </a:solidFill>
                <a:latin typeface="Pretendard"/>
              </a:rPr>
              <a:t>04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37392" y="6519672"/>
            <a:ext cx="64008" cy="6400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C2C5A"/>
                </a:solidFill>
                <a:latin typeface="Pretendard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 spc="200">
                <a:solidFill>
                  <a:srgbClr val="1C2C5A"/>
                </a:solidFill>
                <a:latin typeface="Pretendard"/>
              </a:rPr>
              <a:t>SOLUTION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8686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One profile entry, four domains.</a:t>
            </a:r>
          </a:p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A single interface replaces five to six platform visits.</a:t>
            </a:r>
          </a:p>
        </p:txBody>
      </p:sp>
      <p:sp>
        <p:nvSpPr>
          <p:cNvPr id="7" name="Oval 6"/>
          <p:cNvSpPr/>
          <p:nvPr/>
        </p:nvSpPr>
        <p:spPr>
          <a:xfrm>
            <a:off x="4861864" y="2788920"/>
            <a:ext cx="2468880" cy="2468880"/>
          </a:xfrm>
          <a:prstGeom prst="ellipse">
            <a:avLst/>
          </a:prstGeom>
          <a:solidFill>
            <a:srgbClr val="C9D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999024" y="2926080"/>
            <a:ext cx="2194560" cy="2194560"/>
          </a:xfrm>
          <a:prstGeom prst="ellipse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99024" y="385876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spc="300">
                <a:solidFill>
                  <a:srgbClr val="FFFFFF"/>
                </a:solidFill>
                <a:latin typeface="Pretendard"/>
              </a:rPr>
              <a:t>YOUTHPATH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0" y="0"/>
            <a:ext cx="0" cy="0"/>
          </a:xfrm>
          <a:prstGeom prst="line">
            <a:avLst/>
          </a:prstGeom>
          <a:ln w="12700">
            <a:solidFill>
              <a:srgbClr val="1C2C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575864" y="1828800"/>
            <a:ext cx="24688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13024" y="1965960"/>
            <a:ext cx="329184" cy="329184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13024" y="19659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8784" y="19933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C2C5A"/>
                </a:solidFill>
                <a:latin typeface="Pretendard"/>
              </a:rPr>
              <a:t>Policy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3024" y="242316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2C5A"/>
                </a:solidFill>
                <a:latin typeface="Pretendard"/>
              </a:rPr>
              <a:t>Eligibility match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2C5A"/>
                </a:solidFill>
                <a:latin typeface="Pretendard"/>
              </a:rPr>
              <a:t>and application guide.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7147864" y="0"/>
            <a:ext cx="0" cy="0"/>
          </a:xfrm>
          <a:prstGeom prst="line">
            <a:avLst/>
          </a:prstGeom>
          <a:ln w="12700">
            <a:solidFill>
              <a:srgbClr val="1C2C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147864" y="1828800"/>
            <a:ext cx="24688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285024" y="1965960"/>
            <a:ext cx="329184" cy="329184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85024" y="19659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784" y="19933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C2C5A"/>
                </a:solidFill>
                <a:latin typeface="Pretendard"/>
              </a:rPr>
              <a:t>Job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5024" y="242316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2C5A"/>
                </a:solidFill>
                <a:latin typeface="Pretendard"/>
              </a:rPr>
              <a:t>GitHub-aware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2C5A"/>
                </a:solidFill>
                <a:latin typeface="Pretendard"/>
              </a:rPr>
              <a:t>posting matching.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0" y="5074920"/>
            <a:ext cx="0" cy="0"/>
          </a:xfrm>
          <a:prstGeom prst="line">
            <a:avLst/>
          </a:prstGeom>
          <a:ln w="12700">
            <a:solidFill>
              <a:srgbClr val="1C2C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575864" y="4937760"/>
            <a:ext cx="24688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13024" y="5074920"/>
            <a:ext cx="329184" cy="329184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13024" y="507492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78784" y="51023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C2C5A"/>
                </a:solidFill>
                <a:latin typeface="Pretendard"/>
              </a:rPr>
              <a:t>Resume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3024" y="553212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2C5A"/>
                </a:solidFill>
                <a:latin typeface="Pretendard"/>
              </a:rPr>
              <a:t>Company-specific coaching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2C5A"/>
                </a:solidFill>
                <a:latin typeface="Pretendard"/>
              </a:rPr>
              <a:t>from DART filings.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47864" y="5074920"/>
            <a:ext cx="0" cy="0"/>
          </a:xfrm>
          <a:prstGeom prst="line">
            <a:avLst/>
          </a:prstGeom>
          <a:ln w="12700">
            <a:solidFill>
              <a:srgbClr val="1C2C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147864" y="4937760"/>
            <a:ext cx="24688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285024" y="5074920"/>
            <a:ext cx="329184" cy="329184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85024" y="507492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50784" y="51023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C2C5A"/>
                </a:solidFill>
                <a:latin typeface="Pretendard"/>
              </a:rPr>
              <a:t>Calendar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85024" y="553212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2C5A"/>
                </a:solidFill>
                <a:latin typeface="Pretendard"/>
              </a:rPr>
              <a:t>Unified deadline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2C5A"/>
                </a:solidFill>
                <a:latin typeface="Pretendard"/>
              </a:rPr>
              <a:t>alerts.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1C2C5A"/>
                </a:solidFill>
                <a:latin typeface="Pretendard"/>
              </a:rPr>
              <a:t>05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137392" y="6519672"/>
            <a:ext cx="64008" cy="6400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C2C5A"/>
                </a:solidFill>
                <a:latin typeface="Pretendard"/>
              </a:rPr>
              <a:t>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 spc="200">
                <a:solidFill>
                  <a:srgbClr val="1C2C5A"/>
                </a:solidFill>
                <a:latin typeface="Pretendard"/>
              </a:rPr>
              <a:t>DIFFERENTIATION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8686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Existing tools cover only part of one domain.</a:t>
            </a:r>
          </a:p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YouthPath integrates all four through hybrid RAG, multi-agent, MCP, and matching.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7040880" cy="84124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874520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FFFFFF"/>
                </a:solidFill>
                <a:latin typeface="Pretendard"/>
              </a:rPr>
              <a:t>EXISTING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7712" y="1874520"/>
            <a:ext cx="23774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FFFFFF"/>
                </a:solidFill>
                <a:latin typeface="Pretendard"/>
              </a:rPr>
              <a:t>LIMITATION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8032" y="1874520"/>
            <a:ext cx="27432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FFFFFF"/>
                </a:solidFill>
                <a:latin typeface="Pretendard"/>
              </a:rPr>
              <a:t>YOUTHPATH DIFFERENTIATOR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34056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C2C5A"/>
                </a:solidFill>
                <a:latin typeface="Pretendard"/>
              </a:rPr>
              <a:t>Government24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7712" y="2734056"/>
            <a:ext cx="23774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C2C5A"/>
                </a:solidFill>
                <a:latin typeface="Pretendard"/>
              </a:rPr>
              <a:t>Keyword search; no eligibility decision.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2734056"/>
            <a:ext cx="27432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C2C5A"/>
                </a:solidFill>
                <a:latin typeface="Pretendard"/>
              </a:rPr>
              <a:t>Profile-based eligibility match.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21328"/>
            <a:ext cx="7040880" cy="6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3575304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C2C5A"/>
                </a:solidFill>
                <a:latin typeface="Pretendard"/>
              </a:rPr>
              <a:t>JobKorea AI 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7712" y="3575304"/>
            <a:ext cx="23774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C2C5A"/>
                </a:solidFill>
                <a:latin typeface="Pretendard"/>
              </a:rPr>
              <a:t>Postings only; no resume linkage.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3575304"/>
            <a:ext cx="27432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C2C5A"/>
                </a:solidFill>
                <a:latin typeface="Pretendard"/>
              </a:rPr>
              <a:t>Postings + resume + interview unified.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62576"/>
            <a:ext cx="7040880" cy="6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4416552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C2C5A"/>
                </a:solidFill>
                <a:latin typeface="Pretendard"/>
              </a:rPr>
              <a:t>ChatGPT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7712" y="4416552"/>
            <a:ext cx="23774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C2C5A"/>
                </a:solidFill>
                <a:latin typeface="Pretendard"/>
              </a:rPr>
              <a:t>Knowledge cutoff; cannot see new filings.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2" y="4416552"/>
            <a:ext cx="27432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C2C5A"/>
                </a:solidFill>
                <a:latin typeface="Pretendard"/>
              </a:rPr>
              <a:t>RAG and MCP for live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303824"/>
            <a:ext cx="7040880" cy="6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5257800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C2C5A"/>
                </a:solidFill>
                <a:latin typeface="Pretendard"/>
              </a:rPr>
              <a:t>Personal Calendar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67712" y="5257800"/>
            <a:ext cx="23774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C2C5A"/>
                </a:solidFill>
                <a:latin typeface="Pretendard"/>
              </a:rPr>
              <a:t>Manual entry required.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8032" y="5257800"/>
            <a:ext cx="27432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C2C5A"/>
                </a:solidFill>
                <a:latin typeface="Pretendard"/>
              </a:rPr>
              <a:t>Automatic deadline sync from agents.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145072"/>
            <a:ext cx="7040880" cy="6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55279" y="1783080"/>
            <a:ext cx="3657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92439" y="1920240"/>
            <a:ext cx="329184" cy="329184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92439" y="192024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19" y="1947672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C2C5A"/>
                </a:solidFill>
                <a:latin typeface="Pretendard"/>
              </a:rPr>
              <a:t>Hybrid RAG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22860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7C8AAE"/>
                </a:solidFill>
                <a:latin typeface="Pretendard"/>
              </a:rPr>
              <a:t>Static + Dynamic indexing.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2807208"/>
            <a:ext cx="3657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92439" y="2944368"/>
            <a:ext cx="329184" cy="329184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92439" y="294436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19" y="2971800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C2C5A"/>
                </a:solidFill>
                <a:latin typeface="Pretendard"/>
              </a:rPr>
              <a:t>Multi-Agent Orchestration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19" y="331012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7C8AAE"/>
                </a:solidFill>
                <a:latin typeface="Pretendard"/>
              </a:rPr>
              <a:t>Router + four domain experts.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79" y="3831336"/>
            <a:ext cx="3657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92439" y="3968496"/>
            <a:ext cx="329184" cy="329184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92439" y="396849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19" y="3995928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C2C5A"/>
                </a:solidFill>
                <a:latin typeface="Pretendard"/>
              </a:rPr>
              <a:t>MCP Integration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19" y="433425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7C8AAE"/>
                </a:solidFill>
                <a:latin typeface="Pretendard"/>
              </a:rPr>
              <a:t>Five external APIs unified.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4855464"/>
            <a:ext cx="3657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092439" y="4992624"/>
            <a:ext cx="329184" cy="329184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92439" y="499262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19" y="5020056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C2C5A"/>
                </a:solidFill>
                <a:latin typeface="Pretendard"/>
              </a:rPr>
              <a:t>Personalized Matching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19" y="535838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7C8AAE"/>
                </a:solidFill>
                <a:latin typeface="Pretendard"/>
              </a:rPr>
              <a:t>Profile-to-eligibility automation.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1C2C5A"/>
                </a:solidFill>
                <a:latin typeface="Pretendard"/>
              </a:rPr>
              <a:t>06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137392" y="6519672"/>
            <a:ext cx="64008" cy="6400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직사각형 535">
            <a:extLst>
              <a:ext uri="{FF2B5EF4-FFF2-40B4-BE49-F238E27FC236}">
                <a16:creationId xmlns:a16="http://schemas.microsoft.com/office/drawing/2014/main" id="{E91CD8E8-DDCB-4B06-99F3-7C1B7572011A}"/>
              </a:ext>
            </a:extLst>
          </p:cNvPr>
          <p:cNvSpPr/>
          <p:nvPr/>
        </p:nvSpPr>
        <p:spPr>
          <a:xfrm>
            <a:off x="0" y="190500"/>
            <a:ext cx="12192000" cy="6858000"/>
          </a:xfrm>
          <a:prstGeom prst="rect">
            <a:avLst/>
          </a:prstGeom>
          <a:solidFill>
            <a:srgbClr val="E9ED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1C2C5A"/>
                </a:solidFill>
                <a:latin typeface="Pretendard"/>
              </a:rPr>
              <a:t>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137392" y="6519672"/>
            <a:ext cx="64008" cy="6400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7" name="직사각형 536">
            <a:extLst>
              <a:ext uri="{FF2B5EF4-FFF2-40B4-BE49-F238E27FC236}">
                <a16:creationId xmlns:a16="http://schemas.microsoft.com/office/drawing/2014/main" id="{77D44280-7DFA-4938-8828-AE3691F783D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C2C5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38" name="TextBox 537">
            <a:extLst>
              <a:ext uri="{FF2B5EF4-FFF2-40B4-BE49-F238E27FC236}">
                <a16:creationId xmlns:a16="http://schemas.microsoft.com/office/drawing/2014/main" id="{359FDC47-3A66-4BF1-9E1D-AE532E929570}"/>
              </a:ext>
            </a:extLst>
          </p:cNvPr>
          <p:cNvSpPr txBox="1"/>
          <p:nvPr/>
        </p:nvSpPr>
        <p:spPr>
          <a:xfrm>
            <a:off x="546100" y="508000"/>
            <a:ext cx="77724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600" b="1">
                <a:solidFill>
                  <a:srgbClr val="1C2C5A"/>
                </a:solidFill>
                <a:latin typeface="Pretendard"/>
                <a:ea typeface="Pretendard"/>
                <a:cs typeface="Pretendard"/>
              </a:rPr>
              <a:t>System Architecture</a:t>
            </a:r>
            <a:endParaRPr lang="ko-KR" altLang="en-US" sz="3600" b="1">
              <a:solidFill>
                <a:srgbClr val="1C2C5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39" name="TextBox 538">
            <a:extLst>
              <a:ext uri="{FF2B5EF4-FFF2-40B4-BE49-F238E27FC236}">
                <a16:creationId xmlns:a16="http://schemas.microsoft.com/office/drawing/2014/main" id="{C5A24BB9-D70E-442F-83C3-FBB4F3EFED3B}"/>
              </a:ext>
            </a:extLst>
          </p:cNvPr>
          <p:cNvSpPr txBox="1"/>
          <p:nvPr/>
        </p:nvSpPr>
        <p:spPr>
          <a:xfrm>
            <a:off x="8509000" y="508000"/>
            <a:ext cx="3200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b="1">
                <a:solidFill>
                  <a:srgbClr val="1C2C5A"/>
                </a:solidFill>
                <a:latin typeface="Pretendard"/>
                <a:ea typeface="Pretendard"/>
                <a:cs typeface="Pretendard"/>
              </a:rPr>
              <a:t>SYSTEM ARCHITECTURE</a:t>
            </a:r>
            <a:endParaRPr lang="ko-KR" altLang="en-US" sz="1100" b="1">
              <a:solidFill>
                <a:srgbClr val="1C2C5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40" name="TextBox 539">
            <a:extLst>
              <a:ext uri="{FF2B5EF4-FFF2-40B4-BE49-F238E27FC236}">
                <a16:creationId xmlns:a16="http://schemas.microsoft.com/office/drawing/2014/main" id="{E658A0E2-4817-42C2-B8B9-F9A5DFDEBF8E}"/>
              </a:ext>
            </a:extLst>
          </p:cNvPr>
          <p:cNvSpPr txBox="1"/>
          <p:nvPr/>
        </p:nvSpPr>
        <p:spPr>
          <a:xfrm>
            <a:off x="6858000" y="863600"/>
            <a:ext cx="4851400" cy="546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7C8AAE"/>
                </a:solidFill>
                <a:latin typeface="Pretendard"/>
                <a:ea typeface="Pretendard"/>
                <a:cs typeface="Pretendard"/>
              </a:rPr>
              <a:t>A four-layer design where each layer
is joined by standard protocols (MCP, HTTP).</a:t>
            </a:r>
            <a:endParaRPr lang="ko-KR" altLang="en-US" sz="1000">
              <a:solidFill>
                <a:srgbClr val="7C8AA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41" name="직사각형 540">
            <a:extLst>
              <a:ext uri="{FF2B5EF4-FFF2-40B4-BE49-F238E27FC236}">
                <a16:creationId xmlns:a16="http://schemas.microsoft.com/office/drawing/2014/main" id="{9250BDDE-2E56-46CB-AF7C-83C43C579452}"/>
              </a:ext>
            </a:extLst>
          </p:cNvPr>
          <p:cNvSpPr/>
          <p:nvPr/>
        </p:nvSpPr>
        <p:spPr>
          <a:xfrm>
            <a:off x="698500" y="2540000"/>
            <a:ext cx="5461000" cy="2095500"/>
          </a:xfrm>
          <a:prstGeom prst="rect">
            <a:avLst/>
          </a:prstGeom>
          <a:solidFill>
            <a:srgbClr val="EAF1FB"/>
          </a:solidFill>
          <a:ln w="9525" cap="flat" cmpd="sng" algn="ctr">
            <a:solidFill>
              <a:srgbClr val="4A6FB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42" name="TextBox 541">
            <a:extLst>
              <a:ext uri="{FF2B5EF4-FFF2-40B4-BE49-F238E27FC236}">
                <a16:creationId xmlns:a16="http://schemas.microsoft.com/office/drawing/2014/main" id="{2E2A38BE-BEE5-47E9-BFE0-E18D96295082}"/>
              </a:ext>
            </a:extLst>
          </p:cNvPr>
          <p:cNvSpPr txBox="1"/>
          <p:nvPr/>
        </p:nvSpPr>
        <p:spPr>
          <a:xfrm>
            <a:off x="762000" y="2578100"/>
            <a:ext cx="3810000" cy="1397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750" b="1">
                <a:solidFill>
                  <a:srgbClr val="1C2C5A"/>
                </a:solidFill>
                <a:latin typeface="Pretendard"/>
                <a:ea typeface="Pretendard"/>
                <a:cs typeface="Pretendard"/>
              </a:rPr>
              <a:t>AWS Cloud (AWS Academy)</a:t>
            </a:r>
            <a:endParaRPr lang="ko-KR" altLang="en-US" sz="750" b="1">
              <a:solidFill>
                <a:srgbClr val="1C2C5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43" name="직사각형 542">
            <a:extLst>
              <a:ext uri="{FF2B5EF4-FFF2-40B4-BE49-F238E27FC236}">
                <a16:creationId xmlns:a16="http://schemas.microsoft.com/office/drawing/2014/main" id="{B17E0C03-EDD6-4D89-8B7F-56ADAF5B2531}"/>
              </a:ext>
            </a:extLst>
          </p:cNvPr>
          <p:cNvSpPr/>
          <p:nvPr/>
        </p:nvSpPr>
        <p:spPr>
          <a:xfrm>
            <a:off x="800100" y="2819400"/>
            <a:ext cx="5270500" cy="1752600"/>
          </a:xfrm>
          <a:prstGeom prst="rect">
            <a:avLst/>
          </a:prstGeom>
          <a:solidFill>
            <a:srgbClr val="DCE6F5"/>
          </a:solidFill>
          <a:ln w="9525" cap="flat" cmpd="sng" algn="ctr">
            <a:solidFill>
              <a:srgbClr val="2E4A8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44" name="TextBox 543">
            <a:extLst>
              <a:ext uri="{FF2B5EF4-FFF2-40B4-BE49-F238E27FC236}">
                <a16:creationId xmlns:a16="http://schemas.microsoft.com/office/drawing/2014/main" id="{9A459360-2444-4905-9F8E-AF0B82A25F52}"/>
              </a:ext>
            </a:extLst>
          </p:cNvPr>
          <p:cNvSpPr txBox="1"/>
          <p:nvPr/>
        </p:nvSpPr>
        <p:spPr>
          <a:xfrm>
            <a:off x="863600" y="2857500"/>
            <a:ext cx="3810000" cy="1397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750" b="1">
                <a:solidFill>
                  <a:srgbClr val="1C2C5A"/>
                </a:solidFill>
                <a:latin typeface="Pretendard"/>
                <a:ea typeface="Pretendard"/>
                <a:cs typeface="Pretendard"/>
              </a:rPr>
              <a:t>VPC</a:t>
            </a:r>
            <a:endParaRPr lang="ko-KR" altLang="en-US" sz="750" b="1">
              <a:solidFill>
                <a:srgbClr val="1C2C5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45" name="직사각형 544">
            <a:extLst>
              <a:ext uri="{FF2B5EF4-FFF2-40B4-BE49-F238E27FC236}">
                <a16:creationId xmlns:a16="http://schemas.microsoft.com/office/drawing/2014/main" id="{1BF6816A-53D8-4FDF-A714-3B48596C4F89}"/>
              </a:ext>
            </a:extLst>
          </p:cNvPr>
          <p:cNvSpPr/>
          <p:nvPr/>
        </p:nvSpPr>
        <p:spPr>
          <a:xfrm>
            <a:off x="889000" y="3048000"/>
            <a:ext cx="2667000" cy="1397000"/>
          </a:xfrm>
          <a:prstGeom prst="rect">
            <a:avLst/>
          </a:prstGeom>
          <a:solidFill>
            <a:srgbClr val="FFF1E5"/>
          </a:solidFill>
          <a:ln w="9525" cap="flat" cmpd="sng" algn="ctr">
            <a:solidFill>
              <a:srgbClr val="D97A2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46" name="TextBox 545">
            <a:extLst>
              <a:ext uri="{FF2B5EF4-FFF2-40B4-BE49-F238E27FC236}">
                <a16:creationId xmlns:a16="http://schemas.microsoft.com/office/drawing/2014/main" id="{B219F12C-F4ED-4837-B83C-7B0A6BB34EA3}"/>
              </a:ext>
            </a:extLst>
          </p:cNvPr>
          <p:cNvSpPr txBox="1"/>
          <p:nvPr/>
        </p:nvSpPr>
        <p:spPr>
          <a:xfrm>
            <a:off x="952500" y="3086100"/>
            <a:ext cx="3810000" cy="1397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750" b="1">
                <a:solidFill>
                  <a:srgbClr val="8C4A1C"/>
                </a:solidFill>
                <a:latin typeface="Pretendard"/>
                <a:ea typeface="Pretendard"/>
                <a:cs typeface="Pretendard"/>
              </a:rPr>
              <a:t>EC2 — Application Layer</a:t>
            </a:r>
            <a:endParaRPr lang="ko-KR" altLang="en-US" sz="750" b="1">
              <a:solidFill>
                <a:srgbClr val="8C4A1C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47" name="직사각형 546">
            <a:extLst>
              <a:ext uri="{FF2B5EF4-FFF2-40B4-BE49-F238E27FC236}">
                <a16:creationId xmlns:a16="http://schemas.microsoft.com/office/drawing/2014/main" id="{844A90BA-A6EB-4E82-9B20-3CBCB9A46C8C}"/>
              </a:ext>
            </a:extLst>
          </p:cNvPr>
          <p:cNvSpPr/>
          <p:nvPr/>
        </p:nvSpPr>
        <p:spPr>
          <a:xfrm>
            <a:off x="3657600" y="3048000"/>
            <a:ext cx="2349500" cy="1397000"/>
          </a:xfrm>
          <a:prstGeom prst="rect">
            <a:avLst/>
          </a:prstGeom>
          <a:solidFill>
            <a:srgbClr val="FCE7F3"/>
          </a:solidFill>
          <a:ln w="9525" cap="flat" cmpd="sng" algn="ctr">
            <a:solidFill>
              <a:srgbClr val="C9508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42E75052-12D4-4B8A-AE02-E2D1A52A0CF3}"/>
              </a:ext>
            </a:extLst>
          </p:cNvPr>
          <p:cNvSpPr txBox="1"/>
          <p:nvPr/>
        </p:nvSpPr>
        <p:spPr>
          <a:xfrm>
            <a:off x="3721100" y="3086100"/>
            <a:ext cx="3810000" cy="1397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750" b="1">
                <a:solidFill>
                  <a:srgbClr val="7A2A5C"/>
                </a:solidFill>
                <a:latin typeface="Pretendard"/>
                <a:ea typeface="Pretendard"/>
                <a:cs typeface="Pretendard"/>
              </a:rPr>
              <a:t>Multi-Agent Orchestration (LangGraph)</a:t>
            </a:r>
            <a:endParaRPr lang="ko-KR" altLang="en-US" sz="750" b="1">
              <a:solidFill>
                <a:srgbClr val="7A2A5C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49" name="직사각형 548">
            <a:extLst>
              <a:ext uri="{FF2B5EF4-FFF2-40B4-BE49-F238E27FC236}">
                <a16:creationId xmlns:a16="http://schemas.microsoft.com/office/drawing/2014/main" id="{4BBF5A5A-CFDB-44CE-981E-68CB5642CBC4}"/>
              </a:ext>
            </a:extLst>
          </p:cNvPr>
          <p:cNvSpPr/>
          <p:nvPr/>
        </p:nvSpPr>
        <p:spPr>
          <a:xfrm>
            <a:off x="6286500" y="1651000"/>
            <a:ext cx="5778500" cy="1651000"/>
          </a:xfrm>
          <a:prstGeom prst="rect">
            <a:avLst/>
          </a:prstGeom>
          <a:solidFill>
            <a:srgbClr val="E8F2EC"/>
          </a:solidFill>
          <a:ln w="9525" cap="flat" cmpd="sng" algn="ctr">
            <a:solidFill>
              <a:srgbClr val="3D7A5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50" name="TextBox 549">
            <a:extLst>
              <a:ext uri="{FF2B5EF4-FFF2-40B4-BE49-F238E27FC236}">
                <a16:creationId xmlns:a16="http://schemas.microsoft.com/office/drawing/2014/main" id="{AE9C216E-BF33-4FEC-9B6E-53A0CB5167FF}"/>
              </a:ext>
            </a:extLst>
          </p:cNvPr>
          <p:cNvSpPr txBox="1"/>
          <p:nvPr/>
        </p:nvSpPr>
        <p:spPr>
          <a:xfrm>
            <a:off x="6350000" y="1689100"/>
            <a:ext cx="3810000" cy="1397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750" b="1">
                <a:solidFill>
                  <a:srgbClr val="1F5235"/>
                </a:solidFill>
                <a:latin typeface="Pretendard"/>
                <a:ea typeface="Pretendard"/>
                <a:cs typeface="Pretendard"/>
              </a:rPr>
              <a:t>Data Layer</a:t>
            </a:r>
            <a:endParaRPr lang="ko-KR" altLang="en-US" sz="750" b="1">
              <a:solidFill>
                <a:srgbClr val="1F5235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51" name="직사각형 550">
            <a:extLst>
              <a:ext uri="{FF2B5EF4-FFF2-40B4-BE49-F238E27FC236}">
                <a16:creationId xmlns:a16="http://schemas.microsoft.com/office/drawing/2014/main" id="{DAC369D0-B712-46A3-84E2-4DF07228158D}"/>
              </a:ext>
            </a:extLst>
          </p:cNvPr>
          <p:cNvSpPr/>
          <p:nvPr/>
        </p:nvSpPr>
        <p:spPr>
          <a:xfrm>
            <a:off x="6286500" y="3492500"/>
            <a:ext cx="5778500" cy="1333500"/>
          </a:xfrm>
          <a:prstGeom prst="rect">
            <a:avLst/>
          </a:prstGeom>
          <a:solidFill>
            <a:srgbClr val="F0EAFB"/>
          </a:solidFill>
          <a:ln w="9525" cap="flat" cmpd="sng" algn="ctr">
            <a:solidFill>
              <a:srgbClr val="7A5BB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52" name="TextBox 551">
            <a:extLst>
              <a:ext uri="{FF2B5EF4-FFF2-40B4-BE49-F238E27FC236}">
                <a16:creationId xmlns:a16="http://schemas.microsoft.com/office/drawing/2014/main" id="{8206EF8F-0B34-4EAC-8972-FCE6CC23C090}"/>
              </a:ext>
            </a:extLst>
          </p:cNvPr>
          <p:cNvSpPr txBox="1"/>
          <p:nvPr/>
        </p:nvSpPr>
        <p:spPr>
          <a:xfrm>
            <a:off x="6350000" y="3530600"/>
            <a:ext cx="3810000" cy="1397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750" b="1">
                <a:solidFill>
                  <a:srgbClr val="4A2D8A"/>
                </a:solidFill>
                <a:latin typeface="Pretendard"/>
                <a:ea typeface="Pretendard"/>
                <a:cs typeface="Pretendard"/>
              </a:rPr>
              <a:t>External APIs (via MCP Servers)</a:t>
            </a:r>
            <a:endParaRPr lang="ko-KR" altLang="en-US" sz="750" b="1">
              <a:solidFill>
                <a:srgbClr val="4A2D8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53" name="직사각형 552">
            <a:extLst>
              <a:ext uri="{FF2B5EF4-FFF2-40B4-BE49-F238E27FC236}">
                <a16:creationId xmlns:a16="http://schemas.microsoft.com/office/drawing/2014/main" id="{F665FA38-2CAB-4922-8D1F-028F2A8B8DBD}"/>
              </a:ext>
            </a:extLst>
          </p:cNvPr>
          <p:cNvSpPr/>
          <p:nvPr/>
        </p:nvSpPr>
        <p:spPr>
          <a:xfrm>
            <a:off x="6286500" y="5016500"/>
            <a:ext cx="5778500" cy="1397000"/>
          </a:xfrm>
          <a:prstGeom prst="rect">
            <a:avLst/>
          </a:prstGeom>
          <a:solidFill>
            <a:srgbClr val="FCEBEB"/>
          </a:solidFill>
          <a:ln w="9525" cap="flat" cmpd="sng" algn="ctr">
            <a:solidFill>
              <a:srgbClr val="C9515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54" name="TextBox 553">
            <a:extLst>
              <a:ext uri="{FF2B5EF4-FFF2-40B4-BE49-F238E27FC236}">
                <a16:creationId xmlns:a16="http://schemas.microsoft.com/office/drawing/2014/main" id="{314B0639-FE06-4E14-B6ED-FB97E3218F7E}"/>
              </a:ext>
            </a:extLst>
          </p:cNvPr>
          <p:cNvSpPr txBox="1"/>
          <p:nvPr/>
        </p:nvSpPr>
        <p:spPr>
          <a:xfrm>
            <a:off x="6350000" y="5054600"/>
            <a:ext cx="3810000" cy="1397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750" b="1">
                <a:solidFill>
                  <a:srgbClr val="8B2D2D"/>
                </a:solidFill>
                <a:latin typeface="Pretendard"/>
                <a:ea typeface="Pretendard"/>
                <a:cs typeface="Pretendard"/>
              </a:rPr>
              <a:t>LLM Providers</a:t>
            </a:r>
            <a:endParaRPr lang="ko-KR" altLang="en-US" sz="750" b="1">
              <a:solidFill>
                <a:srgbClr val="8B2D2D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55" name="사각형: 둥근 모서리 554">
            <a:extLst>
              <a:ext uri="{FF2B5EF4-FFF2-40B4-BE49-F238E27FC236}">
                <a16:creationId xmlns:a16="http://schemas.microsoft.com/office/drawing/2014/main" id="{BC311603-D6E7-4D1C-BDB8-794224831EB2}"/>
              </a:ext>
            </a:extLst>
          </p:cNvPr>
          <p:cNvSpPr/>
          <p:nvPr/>
        </p:nvSpPr>
        <p:spPr>
          <a:xfrm>
            <a:off x="101600" y="3517900"/>
            <a:ext cx="533400" cy="482600"/>
          </a:xfrm>
          <a:prstGeom prst="roundRect">
            <a:avLst/>
          </a:prstGeom>
          <a:solidFill>
            <a:srgbClr val="1C2C5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User
Youth</a:t>
            </a:r>
            <a:endParaRPr lang="ko-KR" altLang="en-US" sz="7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56" name="TextBox 555">
            <a:extLst>
              <a:ext uri="{FF2B5EF4-FFF2-40B4-BE49-F238E27FC236}">
                <a16:creationId xmlns:a16="http://schemas.microsoft.com/office/drawing/2014/main" id="{C676A500-2C2A-40C5-AD51-9F103A2CC556}"/>
              </a:ext>
            </a:extLst>
          </p:cNvPr>
          <p:cNvSpPr txBox="1"/>
          <p:nvPr/>
        </p:nvSpPr>
        <p:spPr>
          <a:xfrm>
            <a:off x="101600" y="4025900"/>
            <a:ext cx="533400" cy="1397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700" i="1">
                <a:solidFill>
                  <a:srgbClr val="1C2C5A"/>
                </a:solidFill>
                <a:latin typeface="Pretendard"/>
                <a:ea typeface="Pretendard"/>
                <a:cs typeface="Pretendard"/>
              </a:rPr>
              <a:t>19~34</a:t>
            </a:r>
            <a:endParaRPr lang="ko-KR" altLang="en-US" sz="700" i="1">
              <a:solidFill>
                <a:srgbClr val="1C2C5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57" name="사각형: 둥근 모서리 556">
            <a:extLst>
              <a:ext uri="{FF2B5EF4-FFF2-40B4-BE49-F238E27FC236}">
                <a16:creationId xmlns:a16="http://schemas.microsoft.com/office/drawing/2014/main" id="{450362EF-C680-4D39-A35E-ACE715DA4F80}"/>
              </a:ext>
            </a:extLst>
          </p:cNvPr>
          <p:cNvSpPr/>
          <p:nvPr/>
        </p:nvSpPr>
        <p:spPr>
          <a:xfrm>
            <a:off x="952500" y="3340100"/>
            <a:ext cx="635000" cy="381000"/>
          </a:xfrm>
          <a:prstGeom prst="roundRect">
            <a:avLst/>
          </a:prstGeom>
          <a:solidFill>
            <a:srgbClr val="7B61B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Route 53</a:t>
            </a:r>
            <a:endParaRPr lang="ko-KR" altLang="en-US" sz="8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58" name="사각형: 둥근 모서리 557">
            <a:extLst>
              <a:ext uri="{FF2B5EF4-FFF2-40B4-BE49-F238E27FC236}">
                <a16:creationId xmlns:a16="http://schemas.microsoft.com/office/drawing/2014/main" id="{4891ECE0-A0F6-4E83-965B-9E8A15118D1B}"/>
              </a:ext>
            </a:extLst>
          </p:cNvPr>
          <p:cNvSpPr/>
          <p:nvPr/>
        </p:nvSpPr>
        <p:spPr>
          <a:xfrm>
            <a:off x="952500" y="3873500"/>
            <a:ext cx="635000" cy="381000"/>
          </a:xfrm>
          <a:prstGeom prst="roundRect">
            <a:avLst/>
          </a:prstGeom>
          <a:solidFill>
            <a:srgbClr val="7B61B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8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ALB</a:t>
            </a:r>
            <a:endParaRPr lang="ko-KR" altLang="en-US" sz="85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59" name="사각형: 둥근 모서리 558">
            <a:extLst>
              <a:ext uri="{FF2B5EF4-FFF2-40B4-BE49-F238E27FC236}">
                <a16:creationId xmlns:a16="http://schemas.microsoft.com/office/drawing/2014/main" id="{A6068888-C745-4C63-A99F-3E7EE7DE1C47}"/>
              </a:ext>
            </a:extLst>
          </p:cNvPr>
          <p:cNvSpPr/>
          <p:nvPr/>
        </p:nvSpPr>
        <p:spPr>
          <a:xfrm>
            <a:off x="1778000" y="3340100"/>
            <a:ext cx="1651000" cy="381000"/>
          </a:xfrm>
          <a:prstGeom prst="roundRect">
            <a:avLst/>
          </a:prstGeom>
          <a:solidFill>
            <a:srgbClr val="2E4A8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8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Streamlit</a:t>
            </a:r>
            <a:r>
              <a:rPr lang="en-US" altLang="ko-KR" sz="8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(Frontend)</a:t>
            </a:r>
            <a:endParaRPr lang="ko-KR" altLang="en-US" sz="80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60" name="사각형: 둥근 모서리 559">
            <a:extLst>
              <a:ext uri="{FF2B5EF4-FFF2-40B4-BE49-F238E27FC236}">
                <a16:creationId xmlns:a16="http://schemas.microsoft.com/office/drawing/2014/main" id="{59FE49B5-5EDD-4E14-A779-4CBB67449974}"/>
              </a:ext>
            </a:extLst>
          </p:cNvPr>
          <p:cNvSpPr/>
          <p:nvPr/>
        </p:nvSpPr>
        <p:spPr>
          <a:xfrm>
            <a:off x="1778000" y="3873500"/>
            <a:ext cx="1651000" cy="381000"/>
          </a:xfrm>
          <a:prstGeom prst="roundRect">
            <a:avLst/>
          </a:prstGeom>
          <a:solidFill>
            <a:srgbClr val="2E4A8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FastAPI (Backend)</a:t>
            </a:r>
            <a:endParaRPr lang="ko-KR" altLang="en-US" sz="8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61" name="사각형: 둥근 모서리 560">
            <a:extLst>
              <a:ext uri="{FF2B5EF4-FFF2-40B4-BE49-F238E27FC236}">
                <a16:creationId xmlns:a16="http://schemas.microsoft.com/office/drawing/2014/main" id="{57BB82CF-2A98-4CE9-9448-082061B60716}"/>
              </a:ext>
            </a:extLst>
          </p:cNvPr>
          <p:cNvSpPr/>
          <p:nvPr/>
        </p:nvSpPr>
        <p:spPr>
          <a:xfrm>
            <a:off x="3746500" y="3556000"/>
            <a:ext cx="952500" cy="635000"/>
          </a:xfrm>
          <a:prstGeom prst="roundRect">
            <a:avLst/>
          </a:prstGeom>
          <a:solidFill>
            <a:srgbClr val="C9508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8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Router Agent
[LLM ①]</a:t>
            </a:r>
            <a:endParaRPr lang="ko-KR" altLang="en-US" sz="80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62" name="사각형: 둥근 모서리 561">
            <a:extLst>
              <a:ext uri="{FF2B5EF4-FFF2-40B4-BE49-F238E27FC236}">
                <a16:creationId xmlns:a16="http://schemas.microsoft.com/office/drawing/2014/main" id="{FDC39169-4A61-47AF-8B6B-6B9E5DC57818}"/>
              </a:ext>
            </a:extLst>
          </p:cNvPr>
          <p:cNvSpPr/>
          <p:nvPr/>
        </p:nvSpPr>
        <p:spPr>
          <a:xfrm>
            <a:off x="4826000" y="3340100"/>
            <a:ext cx="1143000" cy="279400"/>
          </a:xfrm>
          <a:prstGeom prst="roundRect">
            <a:avLst/>
          </a:prstGeom>
          <a:solidFill>
            <a:srgbClr val="E07AB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Resume Agent</a:t>
            </a:r>
            <a:endParaRPr lang="ko-KR" altLang="en-US" sz="8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63" name="사각형: 둥근 모서리 562">
            <a:extLst>
              <a:ext uri="{FF2B5EF4-FFF2-40B4-BE49-F238E27FC236}">
                <a16:creationId xmlns:a16="http://schemas.microsoft.com/office/drawing/2014/main" id="{04254E71-25D7-449D-AEC5-FE642690D270}"/>
              </a:ext>
            </a:extLst>
          </p:cNvPr>
          <p:cNvSpPr/>
          <p:nvPr/>
        </p:nvSpPr>
        <p:spPr>
          <a:xfrm>
            <a:off x="4826000" y="3683000"/>
            <a:ext cx="1143000" cy="279400"/>
          </a:xfrm>
          <a:prstGeom prst="roundRect">
            <a:avLst/>
          </a:prstGeom>
          <a:solidFill>
            <a:srgbClr val="E07AB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Policy Agent</a:t>
            </a:r>
            <a:endParaRPr lang="ko-KR" altLang="en-US" sz="8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64" name="사각형: 둥근 모서리 563">
            <a:extLst>
              <a:ext uri="{FF2B5EF4-FFF2-40B4-BE49-F238E27FC236}">
                <a16:creationId xmlns:a16="http://schemas.microsoft.com/office/drawing/2014/main" id="{546DFD74-BDB7-40B8-B443-2AEA283EB74E}"/>
              </a:ext>
            </a:extLst>
          </p:cNvPr>
          <p:cNvSpPr/>
          <p:nvPr/>
        </p:nvSpPr>
        <p:spPr>
          <a:xfrm>
            <a:off x="4826000" y="4025900"/>
            <a:ext cx="1143000" cy="279400"/>
          </a:xfrm>
          <a:prstGeom prst="roundRect">
            <a:avLst/>
          </a:prstGeom>
          <a:solidFill>
            <a:srgbClr val="E07AB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Job Agent</a:t>
            </a:r>
            <a:endParaRPr lang="ko-KR" altLang="en-US" sz="8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65" name="사각형: 둥근 모서리 564">
            <a:extLst>
              <a:ext uri="{FF2B5EF4-FFF2-40B4-BE49-F238E27FC236}">
                <a16:creationId xmlns:a16="http://schemas.microsoft.com/office/drawing/2014/main" id="{63B4D4DF-3DC2-4022-BA55-F5910600B588}"/>
              </a:ext>
            </a:extLst>
          </p:cNvPr>
          <p:cNvSpPr/>
          <p:nvPr/>
        </p:nvSpPr>
        <p:spPr>
          <a:xfrm>
            <a:off x="6413500" y="2133600"/>
            <a:ext cx="1270000" cy="990600"/>
          </a:xfrm>
          <a:prstGeom prst="roundRect">
            <a:avLst/>
          </a:prstGeom>
          <a:solidFill>
            <a:srgbClr val="3D7A5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Chroma
Static RAG</a:t>
            </a:r>
            <a:endParaRPr lang="ko-KR" altLang="en-US" sz="8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66" name="사각형: 둥근 모서리 565">
            <a:extLst>
              <a:ext uri="{FF2B5EF4-FFF2-40B4-BE49-F238E27FC236}">
                <a16:creationId xmlns:a16="http://schemas.microsoft.com/office/drawing/2014/main" id="{F7CF5FB3-349D-4868-929C-2D35E90FBC53}"/>
              </a:ext>
            </a:extLst>
          </p:cNvPr>
          <p:cNvSpPr/>
          <p:nvPr/>
        </p:nvSpPr>
        <p:spPr>
          <a:xfrm>
            <a:off x="7810500" y="2133600"/>
            <a:ext cx="1270000" cy="990600"/>
          </a:xfrm>
          <a:prstGeom prst="roundRect">
            <a:avLst/>
          </a:prstGeom>
          <a:solidFill>
            <a:srgbClr val="3D7A5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Chroma
Dynamic RAG</a:t>
            </a:r>
            <a:endParaRPr lang="ko-KR" altLang="en-US" sz="8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67" name="사각형: 둥근 모서리 566">
            <a:extLst>
              <a:ext uri="{FF2B5EF4-FFF2-40B4-BE49-F238E27FC236}">
                <a16:creationId xmlns:a16="http://schemas.microsoft.com/office/drawing/2014/main" id="{C5F96C7D-B55B-45EA-A335-F1CBF59108E2}"/>
              </a:ext>
            </a:extLst>
          </p:cNvPr>
          <p:cNvSpPr/>
          <p:nvPr/>
        </p:nvSpPr>
        <p:spPr>
          <a:xfrm>
            <a:off x="9207500" y="2133600"/>
            <a:ext cx="1270000" cy="990600"/>
          </a:xfrm>
          <a:prstGeom prst="roundRect">
            <a:avLst/>
          </a:prstGeom>
          <a:solidFill>
            <a:srgbClr val="5A8C6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RDS
User Data</a:t>
            </a:r>
            <a:endParaRPr lang="ko-KR" altLang="en-US" sz="8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68" name="사각형: 둥근 모서리 567">
            <a:extLst>
              <a:ext uri="{FF2B5EF4-FFF2-40B4-BE49-F238E27FC236}">
                <a16:creationId xmlns:a16="http://schemas.microsoft.com/office/drawing/2014/main" id="{8A841D28-F4DC-40E3-AC8D-F80ECE2C2FBF}"/>
              </a:ext>
            </a:extLst>
          </p:cNvPr>
          <p:cNvSpPr/>
          <p:nvPr/>
        </p:nvSpPr>
        <p:spPr>
          <a:xfrm>
            <a:off x="10604500" y="2133600"/>
            <a:ext cx="1270000" cy="990600"/>
          </a:xfrm>
          <a:prstGeom prst="roundRect">
            <a:avLst/>
          </a:prstGeom>
          <a:solidFill>
            <a:srgbClr val="5A8C6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S3
Backup</a:t>
            </a:r>
            <a:endParaRPr lang="ko-KR" altLang="en-US" sz="8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69" name="사각형: 둥근 모서리 568">
            <a:extLst>
              <a:ext uri="{FF2B5EF4-FFF2-40B4-BE49-F238E27FC236}">
                <a16:creationId xmlns:a16="http://schemas.microsoft.com/office/drawing/2014/main" id="{11A09943-8BE9-4E70-B900-501623D553A5}"/>
              </a:ext>
            </a:extLst>
          </p:cNvPr>
          <p:cNvSpPr/>
          <p:nvPr/>
        </p:nvSpPr>
        <p:spPr>
          <a:xfrm>
            <a:off x="6413500" y="3873500"/>
            <a:ext cx="1270000" cy="762000"/>
          </a:xfrm>
          <a:prstGeom prst="roundRect">
            <a:avLst/>
          </a:prstGeom>
          <a:solidFill>
            <a:srgbClr val="7A5BB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7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Youth Center
policies</a:t>
            </a:r>
            <a:endParaRPr lang="ko-KR" altLang="en-US" sz="75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70" name="사각형: 둥근 모서리 569">
            <a:extLst>
              <a:ext uri="{FF2B5EF4-FFF2-40B4-BE49-F238E27FC236}">
                <a16:creationId xmlns:a16="http://schemas.microsoft.com/office/drawing/2014/main" id="{936E4C26-EAF3-4C82-84BE-1D9AF740A8F6}"/>
              </a:ext>
            </a:extLst>
          </p:cNvPr>
          <p:cNvSpPr/>
          <p:nvPr/>
        </p:nvSpPr>
        <p:spPr>
          <a:xfrm>
            <a:off x="7810500" y="3873500"/>
            <a:ext cx="1270000" cy="762000"/>
          </a:xfrm>
          <a:prstGeom prst="roundRect">
            <a:avLst/>
          </a:prstGeom>
          <a:solidFill>
            <a:srgbClr val="7A5BB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7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DART
filings</a:t>
            </a:r>
            <a:endParaRPr lang="ko-KR" altLang="en-US" sz="75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71" name="사각형: 둥근 모서리 570">
            <a:extLst>
              <a:ext uri="{FF2B5EF4-FFF2-40B4-BE49-F238E27FC236}">
                <a16:creationId xmlns:a16="http://schemas.microsoft.com/office/drawing/2014/main" id="{EEDBAF2B-46AB-47EA-B132-42F5BAC8BB6B}"/>
              </a:ext>
            </a:extLst>
          </p:cNvPr>
          <p:cNvSpPr/>
          <p:nvPr/>
        </p:nvSpPr>
        <p:spPr>
          <a:xfrm>
            <a:off x="9207500" y="3873500"/>
            <a:ext cx="1270000" cy="762000"/>
          </a:xfrm>
          <a:prstGeom prst="roundRect">
            <a:avLst/>
          </a:prstGeom>
          <a:solidFill>
            <a:srgbClr val="7A5BB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7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Worknet
jobs</a:t>
            </a:r>
            <a:endParaRPr lang="ko-KR" altLang="en-US" sz="75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72" name="사각형: 둥근 모서리 571">
            <a:extLst>
              <a:ext uri="{FF2B5EF4-FFF2-40B4-BE49-F238E27FC236}">
                <a16:creationId xmlns:a16="http://schemas.microsoft.com/office/drawing/2014/main" id="{5C82475A-B9FE-4B11-936B-350A807BE19B}"/>
              </a:ext>
            </a:extLst>
          </p:cNvPr>
          <p:cNvSpPr/>
          <p:nvPr/>
        </p:nvSpPr>
        <p:spPr>
          <a:xfrm>
            <a:off x="10604500" y="3873500"/>
            <a:ext cx="1270000" cy="762000"/>
          </a:xfrm>
          <a:prstGeom prst="roundRect">
            <a:avLst/>
          </a:prstGeom>
          <a:solidFill>
            <a:srgbClr val="7A5BB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7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Naver News
news</a:t>
            </a:r>
            <a:endParaRPr lang="ko-KR" altLang="en-US" sz="75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73" name="사각형: 둥근 모서리 572">
            <a:extLst>
              <a:ext uri="{FF2B5EF4-FFF2-40B4-BE49-F238E27FC236}">
                <a16:creationId xmlns:a16="http://schemas.microsoft.com/office/drawing/2014/main" id="{286E170D-0F10-4259-A038-80F20B4FCCBE}"/>
              </a:ext>
            </a:extLst>
          </p:cNvPr>
          <p:cNvSpPr/>
          <p:nvPr/>
        </p:nvSpPr>
        <p:spPr>
          <a:xfrm>
            <a:off x="6413500" y="5397500"/>
            <a:ext cx="1651000" cy="889000"/>
          </a:xfrm>
          <a:prstGeom prst="roundRect">
            <a:avLst/>
          </a:prstGeom>
          <a:solidFill>
            <a:srgbClr val="C9515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LUXIA
Korean Main</a:t>
            </a:r>
            <a:endParaRPr lang="ko-KR" altLang="en-US" sz="8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74" name="사각형: 둥근 모서리 573">
            <a:extLst>
              <a:ext uri="{FF2B5EF4-FFF2-40B4-BE49-F238E27FC236}">
                <a16:creationId xmlns:a16="http://schemas.microsoft.com/office/drawing/2014/main" id="{15BAE22D-4CFF-4570-AEFF-36CAD83142EA}"/>
              </a:ext>
            </a:extLst>
          </p:cNvPr>
          <p:cNvSpPr/>
          <p:nvPr/>
        </p:nvSpPr>
        <p:spPr>
          <a:xfrm>
            <a:off x="8191500" y="5397500"/>
            <a:ext cx="1841500" cy="889000"/>
          </a:xfrm>
          <a:prstGeom prst="roundRect">
            <a:avLst/>
          </a:prstGeom>
          <a:solidFill>
            <a:srgbClr val="D9707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Gemini Flash
Long Context</a:t>
            </a:r>
            <a:endParaRPr lang="ko-KR" altLang="en-US" sz="8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75" name="사각형: 둥근 모서리 574">
            <a:extLst>
              <a:ext uri="{FF2B5EF4-FFF2-40B4-BE49-F238E27FC236}">
                <a16:creationId xmlns:a16="http://schemas.microsoft.com/office/drawing/2014/main" id="{396CA9FC-6A8B-401F-8E5F-BE98FF4623AB}"/>
              </a:ext>
            </a:extLst>
          </p:cNvPr>
          <p:cNvSpPr/>
          <p:nvPr/>
        </p:nvSpPr>
        <p:spPr>
          <a:xfrm>
            <a:off x="10160000" y="5397500"/>
            <a:ext cx="1651000" cy="889000"/>
          </a:xfrm>
          <a:prstGeom prst="roundRect">
            <a:avLst/>
          </a:prstGeom>
          <a:solidFill>
            <a:srgbClr val="E8909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GPT-4o-mini
Eval / Routing</a:t>
            </a:r>
            <a:endParaRPr lang="ko-KR" altLang="en-US" sz="8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76" name="직사각형 575">
            <a:extLst>
              <a:ext uri="{FF2B5EF4-FFF2-40B4-BE49-F238E27FC236}">
                <a16:creationId xmlns:a16="http://schemas.microsoft.com/office/drawing/2014/main" id="{D8BD243C-1B63-4E83-9641-FCE625D11C05}"/>
              </a:ext>
            </a:extLst>
          </p:cNvPr>
          <p:cNvSpPr/>
          <p:nvPr/>
        </p:nvSpPr>
        <p:spPr>
          <a:xfrm>
            <a:off x="635000" y="3517900"/>
            <a:ext cx="317500" cy="25400"/>
          </a:xfrm>
          <a:prstGeom prst="rect">
            <a:avLst/>
          </a:prstGeom>
          <a:solidFill>
            <a:srgbClr val="1E73E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77" name="이등변 삼각형 576">
            <a:extLst>
              <a:ext uri="{FF2B5EF4-FFF2-40B4-BE49-F238E27FC236}">
                <a16:creationId xmlns:a16="http://schemas.microsoft.com/office/drawing/2014/main" id="{55EF6258-EE48-426D-94FD-AEAA4C857143}"/>
              </a:ext>
            </a:extLst>
          </p:cNvPr>
          <p:cNvSpPr/>
          <p:nvPr/>
        </p:nvSpPr>
        <p:spPr>
          <a:xfrm rot="5400000">
            <a:off x="876300" y="3492500"/>
            <a:ext cx="76200" cy="76200"/>
          </a:xfrm>
          <a:prstGeom prst="triangle">
            <a:avLst/>
          </a:prstGeom>
          <a:solidFill>
            <a:srgbClr val="1E73E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E0844BF3-E58E-4C08-B50E-C789E46748F2}"/>
              </a:ext>
            </a:extLst>
          </p:cNvPr>
          <p:cNvSpPr txBox="1"/>
          <p:nvPr/>
        </p:nvSpPr>
        <p:spPr>
          <a:xfrm>
            <a:off x="635000" y="3175000"/>
            <a:ext cx="762000" cy="152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700">
                <a:solidFill>
                  <a:srgbClr val="1E73E8"/>
                </a:solidFill>
                <a:latin typeface="Pretendard"/>
                <a:ea typeface="Pretendard"/>
                <a:cs typeface="Pretendard"/>
              </a:rPr>
              <a:t>HTTPS</a:t>
            </a:r>
            <a:endParaRPr lang="ko-KR" altLang="en-US" sz="700">
              <a:solidFill>
                <a:srgbClr val="1E73E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79" name="직사각형 578">
            <a:extLst>
              <a:ext uri="{FF2B5EF4-FFF2-40B4-BE49-F238E27FC236}">
                <a16:creationId xmlns:a16="http://schemas.microsoft.com/office/drawing/2014/main" id="{770E260C-9836-4E0C-B8F9-F82AED90B584}"/>
              </a:ext>
            </a:extLst>
          </p:cNvPr>
          <p:cNvSpPr/>
          <p:nvPr/>
        </p:nvSpPr>
        <p:spPr>
          <a:xfrm>
            <a:off x="635000" y="4051300"/>
            <a:ext cx="317500" cy="25400"/>
          </a:xfrm>
          <a:prstGeom prst="rect">
            <a:avLst/>
          </a:prstGeom>
          <a:solidFill>
            <a:srgbClr val="1E73E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80" name="이등변 삼각형 579">
            <a:extLst>
              <a:ext uri="{FF2B5EF4-FFF2-40B4-BE49-F238E27FC236}">
                <a16:creationId xmlns:a16="http://schemas.microsoft.com/office/drawing/2014/main" id="{CE9BDB4E-9AE0-4B23-BBAD-AACD12A14F5F}"/>
              </a:ext>
            </a:extLst>
          </p:cNvPr>
          <p:cNvSpPr/>
          <p:nvPr/>
        </p:nvSpPr>
        <p:spPr>
          <a:xfrm rot="5400000">
            <a:off x="876300" y="4025900"/>
            <a:ext cx="76200" cy="76200"/>
          </a:xfrm>
          <a:prstGeom prst="triangle">
            <a:avLst/>
          </a:prstGeom>
          <a:solidFill>
            <a:srgbClr val="1E73E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81" name="직사각형 580">
            <a:extLst>
              <a:ext uri="{FF2B5EF4-FFF2-40B4-BE49-F238E27FC236}">
                <a16:creationId xmlns:a16="http://schemas.microsoft.com/office/drawing/2014/main" id="{A76238E6-C898-41FE-AA57-44DF2701BA10}"/>
              </a:ext>
            </a:extLst>
          </p:cNvPr>
          <p:cNvSpPr/>
          <p:nvPr/>
        </p:nvSpPr>
        <p:spPr>
          <a:xfrm>
            <a:off x="1587500" y="3522662"/>
            <a:ext cx="190500" cy="15875"/>
          </a:xfrm>
          <a:prstGeom prst="rect">
            <a:avLst/>
          </a:prstGeom>
          <a:solidFill>
            <a:srgbClr val="1C2C5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82" name="이등변 삼각형 581">
            <a:extLst>
              <a:ext uri="{FF2B5EF4-FFF2-40B4-BE49-F238E27FC236}">
                <a16:creationId xmlns:a16="http://schemas.microsoft.com/office/drawing/2014/main" id="{D09B764B-6471-4132-B0E6-0EBB532145AD}"/>
              </a:ext>
            </a:extLst>
          </p:cNvPr>
          <p:cNvSpPr/>
          <p:nvPr/>
        </p:nvSpPr>
        <p:spPr>
          <a:xfrm rot="5400000">
            <a:off x="1714500" y="3498850"/>
            <a:ext cx="63500" cy="63500"/>
          </a:xfrm>
          <a:prstGeom prst="triangle">
            <a:avLst/>
          </a:prstGeom>
          <a:solidFill>
            <a:srgbClr val="1C2C5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83" name="직사각형 582">
            <a:extLst>
              <a:ext uri="{FF2B5EF4-FFF2-40B4-BE49-F238E27FC236}">
                <a16:creationId xmlns:a16="http://schemas.microsoft.com/office/drawing/2014/main" id="{996A757B-299C-47F8-B81F-E6F0177C6B21}"/>
              </a:ext>
            </a:extLst>
          </p:cNvPr>
          <p:cNvSpPr/>
          <p:nvPr/>
        </p:nvSpPr>
        <p:spPr>
          <a:xfrm>
            <a:off x="1587500" y="4056062"/>
            <a:ext cx="190500" cy="15875"/>
          </a:xfrm>
          <a:prstGeom prst="rect">
            <a:avLst/>
          </a:prstGeom>
          <a:solidFill>
            <a:srgbClr val="1C2C5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84" name="이등변 삼각형 583">
            <a:extLst>
              <a:ext uri="{FF2B5EF4-FFF2-40B4-BE49-F238E27FC236}">
                <a16:creationId xmlns:a16="http://schemas.microsoft.com/office/drawing/2014/main" id="{3E5056F6-DA42-447B-B154-68AC666212F2}"/>
              </a:ext>
            </a:extLst>
          </p:cNvPr>
          <p:cNvSpPr/>
          <p:nvPr/>
        </p:nvSpPr>
        <p:spPr>
          <a:xfrm rot="5400000">
            <a:off x="1714500" y="4032250"/>
            <a:ext cx="63500" cy="63500"/>
          </a:xfrm>
          <a:prstGeom prst="triangle">
            <a:avLst/>
          </a:prstGeom>
          <a:solidFill>
            <a:srgbClr val="1C2C5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85" name="직사각형 584">
            <a:extLst>
              <a:ext uri="{FF2B5EF4-FFF2-40B4-BE49-F238E27FC236}">
                <a16:creationId xmlns:a16="http://schemas.microsoft.com/office/drawing/2014/main" id="{B44321DA-FABB-422C-98BC-9C2EBD832167}"/>
              </a:ext>
            </a:extLst>
          </p:cNvPr>
          <p:cNvSpPr/>
          <p:nvPr/>
        </p:nvSpPr>
        <p:spPr>
          <a:xfrm>
            <a:off x="2595562" y="3721100"/>
            <a:ext cx="15875" cy="152400"/>
          </a:xfrm>
          <a:prstGeom prst="rect">
            <a:avLst/>
          </a:prstGeom>
          <a:solidFill>
            <a:srgbClr val="1C2C5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86" name="이등변 삼각형 585">
            <a:extLst>
              <a:ext uri="{FF2B5EF4-FFF2-40B4-BE49-F238E27FC236}">
                <a16:creationId xmlns:a16="http://schemas.microsoft.com/office/drawing/2014/main" id="{B986FE50-D8E2-4A3D-8125-FDBC1DDC65F7}"/>
              </a:ext>
            </a:extLst>
          </p:cNvPr>
          <p:cNvSpPr/>
          <p:nvPr/>
        </p:nvSpPr>
        <p:spPr>
          <a:xfrm rot="10800000">
            <a:off x="2571750" y="3810000"/>
            <a:ext cx="63500" cy="63500"/>
          </a:xfrm>
          <a:prstGeom prst="triangle">
            <a:avLst/>
          </a:prstGeom>
          <a:solidFill>
            <a:srgbClr val="1C2C5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87" name="직사각형 586">
            <a:extLst>
              <a:ext uri="{FF2B5EF4-FFF2-40B4-BE49-F238E27FC236}">
                <a16:creationId xmlns:a16="http://schemas.microsoft.com/office/drawing/2014/main" id="{05D5411A-E3F3-4DFF-9CD6-6893B9491AA1}"/>
              </a:ext>
            </a:extLst>
          </p:cNvPr>
          <p:cNvSpPr/>
          <p:nvPr/>
        </p:nvSpPr>
        <p:spPr>
          <a:xfrm>
            <a:off x="3429000" y="4056062"/>
            <a:ext cx="317500" cy="15875"/>
          </a:xfrm>
          <a:prstGeom prst="rect">
            <a:avLst/>
          </a:prstGeom>
          <a:solidFill>
            <a:srgbClr val="1C2C5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88" name="이등변 삼각형 587">
            <a:extLst>
              <a:ext uri="{FF2B5EF4-FFF2-40B4-BE49-F238E27FC236}">
                <a16:creationId xmlns:a16="http://schemas.microsoft.com/office/drawing/2014/main" id="{A283A13D-1BC1-4C9B-B8AD-73A0F5B0F25F}"/>
              </a:ext>
            </a:extLst>
          </p:cNvPr>
          <p:cNvSpPr/>
          <p:nvPr/>
        </p:nvSpPr>
        <p:spPr>
          <a:xfrm rot="5400000">
            <a:off x="3683000" y="4032250"/>
            <a:ext cx="63500" cy="63500"/>
          </a:xfrm>
          <a:prstGeom prst="triangle">
            <a:avLst/>
          </a:prstGeom>
          <a:solidFill>
            <a:srgbClr val="1C2C5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89" name="직사각형 588">
            <a:extLst>
              <a:ext uri="{FF2B5EF4-FFF2-40B4-BE49-F238E27FC236}">
                <a16:creationId xmlns:a16="http://schemas.microsoft.com/office/drawing/2014/main" id="{8D4C19EF-8097-4EC2-A77C-AA2682CC2B26}"/>
              </a:ext>
            </a:extLst>
          </p:cNvPr>
          <p:cNvSpPr/>
          <p:nvPr/>
        </p:nvSpPr>
        <p:spPr>
          <a:xfrm>
            <a:off x="4699000" y="3865562"/>
            <a:ext cx="76200" cy="15875"/>
          </a:xfrm>
          <a:prstGeom prst="rect">
            <a:avLst/>
          </a:prstGeom>
          <a:solidFill>
            <a:srgbClr val="C9508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90" name="직사각형 589">
            <a:extLst>
              <a:ext uri="{FF2B5EF4-FFF2-40B4-BE49-F238E27FC236}">
                <a16:creationId xmlns:a16="http://schemas.microsoft.com/office/drawing/2014/main" id="{4CD2B27D-554E-4A1D-8697-6DFD0E042BED}"/>
              </a:ext>
            </a:extLst>
          </p:cNvPr>
          <p:cNvSpPr/>
          <p:nvPr/>
        </p:nvSpPr>
        <p:spPr>
          <a:xfrm>
            <a:off x="4767262" y="3479800"/>
            <a:ext cx="15875" cy="685800"/>
          </a:xfrm>
          <a:prstGeom prst="rect">
            <a:avLst/>
          </a:prstGeom>
          <a:solidFill>
            <a:srgbClr val="C9508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91" name="직사각형 590">
            <a:extLst>
              <a:ext uri="{FF2B5EF4-FFF2-40B4-BE49-F238E27FC236}">
                <a16:creationId xmlns:a16="http://schemas.microsoft.com/office/drawing/2014/main" id="{70D2FF49-8713-4CFB-898A-01693FCA55FB}"/>
              </a:ext>
            </a:extLst>
          </p:cNvPr>
          <p:cNvSpPr/>
          <p:nvPr/>
        </p:nvSpPr>
        <p:spPr>
          <a:xfrm>
            <a:off x="4775200" y="3471862"/>
            <a:ext cx="50800" cy="15875"/>
          </a:xfrm>
          <a:prstGeom prst="rect">
            <a:avLst/>
          </a:prstGeom>
          <a:solidFill>
            <a:srgbClr val="C9508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92" name="이등변 삼각형 591">
            <a:extLst>
              <a:ext uri="{FF2B5EF4-FFF2-40B4-BE49-F238E27FC236}">
                <a16:creationId xmlns:a16="http://schemas.microsoft.com/office/drawing/2014/main" id="{8C2096DE-891F-4119-906B-C920C980ED00}"/>
              </a:ext>
            </a:extLst>
          </p:cNvPr>
          <p:cNvSpPr/>
          <p:nvPr/>
        </p:nvSpPr>
        <p:spPr>
          <a:xfrm rot="5400000">
            <a:off x="4775200" y="3454400"/>
            <a:ext cx="50800" cy="50800"/>
          </a:xfrm>
          <a:prstGeom prst="triangle">
            <a:avLst/>
          </a:prstGeom>
          <a:solidFill>
            <a:srgbClr val="C9508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93" name="직사각형 592">
            <a:extLst>
              <a:ext uri="{FF2B5EF4-FFF2-40B4-BE49-F238E27FC236}">
                <a16:creationId xmlns:a16="http://schemas.microsoft.com/office/drawing/2014/main" id="{A5E42272-28A4-420F-BF0E-778DC9055816}"/>
              </a:ext>
            </a:extLst>
          </p:cNvPr>
          <p:cNvSpPr/>
          <p:nvPr/>
        </p:nvSpPr>
        <p:spPr>
          <a:xfrm>
            <a:off x="4775200" y="3814762"/>
            <a:ext cx="50800" cy="15875"/>
          </a:xfrm>
          <a:prstGeom prst="rect">
            <a:avLst/>
          </a:prstGeom>
          <a:solidFill>
            <a:srgbClr val="C9508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94" name="이등변 삼각형 593">
            <a:extLst>
              <a:ext uri="{FF2B5EF4-FFF2-40B4-BE49-F238E27FC236}">
                <a16:creationId xmlns:a16="http://schemas.microsoft.com/office/drawing/2014/main" id="{015F9A42-E8E8-4C93-A66C-59E46FF3BAC0}"/>
              </a:ext>
            </a:extLst>
          </p:cNvPr>
          <p:cNvSpPr/>
          <p:nvPr/>
        </p:nvSpPr>
        <p:spPr>
          <a:xfrm rot="5400000">
            <a:off x="4775200" y="3797300"/>
            <a:ext cx="50800" cy="50800"/>
          </a:xfrm>
          <a:prstGeom prst="triangle">
            <a:avLst/>
          </a:prstGeom>
          <a:solidFill>
            <a:srgbClr val="C9508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95" name="직사각형 594">
            <a:extLst>
              <a:ext uri="{FF2B5EF4-FFF2-40B4-BE49-F238E27FC236}">
                <a16:creationId xmlns:a16="http://schemas.microsoft.com/office/drawing/2014/main" id="{5771CB02-C5D3-45B8-A5FE-8DC1D4140BA9}"/>
              </a:ext>
            </a:extLst>
          </p:cNvPr>
          <p:cNvSpPr/>
          <p:nvPr/>
        </p:nvSpPr>
        <p:spPr>
          <a:xfrm>
            <a:off x="4775200" y="4157662"/>
            <a:ext cx="50800" cy="15875"/>
          </a:xfrm>
          <a:prstGeom prst="rect">
            <a:avLst/>
          </a:prstGeom>
          <a:solidFill>
            <a:srgbClr val="C9508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96" name="이등변 삼각형 595">
            <a:extLst>
              <a:ext uri="{FF2B5EF4-FFF2-40B4-BE49-F238E27FC236}">
                <a16:creationId xmlns:a16="http://schemas.microsoft.com/office/drawing/2014/main" id="{C8122084-4E17-4241-99D3-56F24D8C9963}"/>
              </a:ext>
            </a:extLst>
          </p:cNvPr>
          <p:cNvSpPr/>
          <p:nvPr/>
        </p:nvSpPr>
        <p:spPr>
          <a:xfrm rot="5400000">
            <a:off x="4775200" y="4140200"/>
            <a:ext cx="50800" cy="50800"/>
          </a:xfrm>
          <a:prstGeom prst="triangle">
            <a:avLst/>
          </a:prstGeom>
          <a:solidFill>
            <a:srgbClr val="C9508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0E369F08-0FA2-4A90-8EAE-078DD329D50C}"/>
              </a:ext>
            </a:extLst>
          </p:cNvPr>
          <p:cNvSpPr txBox="1"/>
          <p:nvPr/>
        </p:nvSpPr>
        <p:spPr>
          <a:xfrm>
            <a:off x="4572000" y="3213100"/>
            <a:ext cx="381000" cy="1397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700" i="1">
                <a:solidFill>
                  <a:srgbClr val="C9508F"/>
                </a:solidFill>
                <a:latin typeface="Pretendard"/>
                <a:ea typeface="Pretendard"/>
                <a:cs typeface="Pretendard"/>
              </a:rPr>
              <a:t>route</a:t>
            </a:r>
            <a:endParaRPr lang="ko-KR" altLang="en-US" sz="700" i="1">
              <a:solidFill>
                <a:srgbClr val="C9508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98" name="직사각형 597">
            <a:extLst>
              <a:ext uri="{FF2B5EF4-FFF2-40B4-BE49-F238E27FC236}">
                <a16:creationId xmlns:a16="http://schemas.microsoft.com/office/drawing/2014/main" id="{E0C1F456-B0C3-433C-9523-9C0760ABC87E}"/>
              </a:ext>
            </a:extLst>
          </p:cNvPr>
          <p:cNvSpPr/>
          <p:nvPr/>
        </p:nvSpPr>
        <p:spPr>
          <a:xfrm>
            <a:off x="5969000" y="3244850"/>
            <a:ext cx="1079500" cy="12700"/>
          </a:xfrm>
          <a:prstGeom prst="rect">
            <a:avLst/>
          </a:prstGeom>
          <a:solidFill>
            <a:srgbClr val="3D7A5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99" name="직사각형 598">
            <a:extLst>
              <a:ext uri="{FF2B5EF4-FFF2-40B4-BE49-F238E27FC236}">
                <a16:creationId xmlns:a16="http://schemas.microsoft.com/office/drawing/2014/main" id="{F63ADF4E-6AD8-4726-BC33-B43312AB2218}"/>
              </a:ext>
            </a:extLst>
          </p:cNvPr>
          <p:cNvSpPr/>
          <p:nvPr/>
        </p:nvSpPr>
        <p:spPr>
          <a:xfrm>
            <a:off x="5962650" y="3251200"/>
            <a:ext cx="12700" cy="228600"/>
          </a:xfrm>
          <a:prstGeom prst="rect">
            <a:avLst/>
          </a:prstGeom>
          <a:solidFill>
            <a:srgbClr val="3D7A5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00" name="직사각형 599">
            <a:extLst>
              <a:ext uri="{FF2B5EF4-FFF2-40B4-BE49-F238E27FC236}">
                <a16:creationId xmlns:a16="http://schemas.microsoft.com/office/drawing/2014/main" id="{38C30F36-4430-4F3E-8E9F-BDF277E5E4ED}"/>
              </a:ext>
            </a:extLst>
          </p:cNvPr>
          <p:cNvSpPr/>
          <p:nvPr/>
        </p:nvSpPr>
        <p:spPr>
          <a:xfrm>
            <a:off x="7042150" y="3124200"/>
            <a:ext cx="12700" cy="127000"/>
          </a:xfrm>
          <a:prstGeom prst="rect">
            <a:avLst/>
          </a:prstGeom>
          <a:solidFill>
            <a:srgbClr val="3D7A5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01" name="이등변 삼각형 600">
            <a:extLst>
              <a:ext uri="{FF2B5EF4-FFF2-40B4-BE49-F238E27FC236}">
                <a16:creationId xmlns:a16="http://schemas.microsoft.com/office/drawing/2014/main" id="{9CB46673-94D6-4E90-9CB8-CCEF69DC4BFE}"/>
              </a:ext>
            </a:extLst>
          </p:cNvPr>
          <p:cNvSpPr/>
          <p:nvPr/>
        </p:nvSpPr>
        <p:spPr>
          <a:xfrm>
            <a:off x="7016750" y="3124200"/>
            <a:ext cx="63500" cy="63500"/>
          </a:xfrm>
          <a:prstGeom prst="triangle">
            <a:avLst/>
          </a:prstGeom>
          <a:solidFill>
            <a:srgbClr val="3D7A5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02" name="TextBox 601">
            <a:extLst>
              <a:ext uri="{FF2B5EF4-FFF2-40B4-BE49-F238E27FC236}">
                <a16:creationId xmlns:a16="http://schemas.microsoft.com/office/drawing/2014/main" id="{4EC86BE8-580E-4252-A3C3-48F87F35AB7E}"/>
              </a:ext>
            </a:extLst>
          </p:cNvPr>
          <p:cNvSpPr txBox="1"/>
          <p:nvPr/>
        </p:nvSpPr>
        <p:spPr>
          <a:xfrm>
            <a:off x="6070600" y="3048000"/>
            <a:ext cx="444500" cy="1397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700" dirty="0">
                <a:solidFill>
                  <a:srgbClr val="3D7A52"/>
                </a:solidFill>
                <a:latin typeface="Pretendard"/>
                <a:ea typeface="Pretendard"/>
                <a:cs typeface="Pretendard"/>
              </a:rPr>
              <a:t>search</a:t>
            </a:r>
            <a:endParaRPr lang="ko-KR" altLang="en-US" sz="700" dirty="0">
              <a:solidFill>
                <a:srgbClr val="3D7A5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03" name="직사각형 602">
            <a:extLst>
              <a:ext uri="{FF2B5EF4-FFF2-40B4-BE49-F238E27FC236}">
                <a16:creationId xmlns:a16="http://schemas.microsoft.com/office/drawing/2014/main" id="{2C0E6410-EF13-4667-8B51-193DB6C5F5BB}"/>
              </a:ext>
            </a:extLst>
          </p:cNvPr>
          <p:cNvSpPr/>
          <p:nvPr/>
        </p:nvSpPr>
        <p:spPr>
          <a:xfrm>
            <a:off x="5969000" y="3333750"/>
            <a:ext cx="1079500" cy="12700"/>
          </a:xfrm>
          <a:prstGeom prst="rect">
            <a:avLst/>
          </a:prstGeom>
          <a:solidFill>
            <a:srgbClr val="3D7A5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04" name="직사각형 603">
            <a:extLst>
              <a:ext uri="{FF2B5EF4-FFF2-40B4-BE49-F238E27FC236}">
                <a16:creationId xmlns:a16="http://schemas.microsoft.com/office/drawing/2014/main" id="{66E7111F-2ACA-4109-AF37-742EDF231BFA}"/>
              </a:ext>
            </a:extLst>
          </p:cNvPr>
          <p:cNvSpPr/>
          <p:nvPr/>
        </p:nvSpPr>
        <p:spPr>
          <a:xfrm>
            <a:off x="5962650" y="3340100"/>
            <a:ext cx="12700" cy="482600"/>
          </a:xfrm>
          <a:prstGeom prst="rect">
            <a:avLst/>
          </a:prstGeom>
          <a:solidFill>
            <a:srgbClr val="3D7A5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05" name="직사각형 604">
            <a:extLst>
              <a:ext uri="{FF2B5EF4-FFF2-40B4-BE49-F238E27FC236}">
                <a16:creationId xmlns:a16="http://schemas.microsoft.com/office/drawing/2014/main" id="{10D3A8D6-933F-40DD-8B65-5EEAFB05F9F2}"/>
              </a:ext>
            </a:extLst>
          </p:cNvPr>
          <p:cNvSpPr/>
          <p:nvPr/>
        </p:nvSpPr>
        <p:spPr>
          <a:xfrm>
            <a:off x="5969000" y="4349750"/>
            <a:ext cx="2476500" cy="12700"/>
          </a:xfrm>
          <a:prstGeom prst="rect">
            <a:avLst/>
          </a:prstGeom>
          <a:solidFill>
            <a:srgbClr val="3D7A5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06" name="직사각형 605">
            <a:extLst>
              <a:ext uri="{FF2B5EF4-FFF2-40B4-BE49-F238E27FC236}">
                <a16:creationId xmlns:a16="http://schemas.microsoft.com/office/drawing/2014/main" id="{30F9A31E-5530-4B2D-9F3C-DDAD0AB1F063}"/>
              </a:ext>
            </a:extLst>
          </p:cNvPr>
          <p:cNvSpPr/>
          <p:nvPr/>
        </p:nvSpPr>
        <p:spPr>
          <a:xfrm>
            <a:off x="5962650" y="4165600"/>
            <a:ext cx="12700" cy="190500"/>
          </a:xfrm>
          <a:prstGeom prst="rect">
            <a:avLst/>
          </a:prstGeom>
          <a:solidFill>
            <a:srgbClr val="3D7A5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07" name="직사각형 606">
            <a:extLst>
              <a:ext uri="{FF2B5EF4-FFF2-40B4-BE49-F238E27FC236}">
                <a16:creationId xmlns:a16="http://schemas.microsoft.com/office/drawing/2014/main" id="{788F5B94-58A4-4D7A-9349-52572BAACD48}"/>
              </a:ext>
            </a:extLst>
          </p:cNvPr>
          <p:cNvSpPr/>
          <p:nvPr/>
        </p:nvSpPr>
        <p:spPr>
          <a:xfrm>
            <a:off x="8439150" y="3124200"/>
            <a:ext cx="12700" cy="1231900"/>
          </a:xfrm>
          <a:prstGeom prst="rect">
            <a:avLst/>
          </a:prstGeom>
          <a:solidFill>
            <a:srgbClr val="3D7A5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08" name="이등변 삼각형 607">
            <a:extLst>
              <a:ext uri="{FF2B5EF4-FFF2-40B4-BE49-F238E27FC236}">
                <a16:creationId xmlns:a16="http://schemas.microsoft.com/office/drawing/2014/main" id="{21CE023C-9322-4D5B-8911-980B61A522D8}"/>
              </a:ext>
            </a:extLst>
          </p:cNvPr>
          <p:cNvSpPr/>
          <p:nvPr/>
        </p:nvSpPr>
        <p:spPr>
          <a:xfrm>
            <a:off x="8413750" y="3124200"/>
            <a:ext cx="63500" cy="63500"/>
          </a:xfrm>
          <a:prstGeom prst="triangle">
            <a:avLst/>
          </a:prstGeom>
          <a:solidFill>
            <a:srgbClr val="3D7A5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09" name="TextBox 608">
            <a:extLst>
              <a:ext uri="{FF2B5EF4-FFF2-40B4-BE49-F238E27FC236}">
                <a16:creationId xmlns:a16="http://schemas.microsoft.com/office/drawing/2014/main" id="{6014EBAE-8473-4EB5-B47B-A7752910F4D4}"/>
              </a:ext>
            </a:extLst>
          </p:cNvPr>
          <p:cNvSpPr txBox="1"/>
          <p:nvPr/>
        </p:nvSpPr>
        <p:spPr>
          <a:xfrm>
            <a:off x="6070600" y="4064000"/>
            <a:ext cx="444500" cy="1397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700">
                <a:solidFill>
                  <a:srgbClr val="3D7A52"/>
                </a:solidFill>
                <a:latin typeface="Pretendard"/>
                <a:ea typeface="Pretendard"/>
                <a:cs typeface="Pretendard"/>
              </a:rPr>
              <a:t>index</a:t>
            </a:r>
            <a:endParaRPr lang="ko-KR" altLang="en-US" sz="700">
              <a:solidFill>
                <a:srgbClr val="3D7A5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10" name="직사각형 609">
            <a:extLst>
              <a:ext uri="{FF2B5EF4-FFF2-40B4-BE49-F238E27FC236}">
                <a16:creationId xmlns:a16="http://schemas.microsoft.com/office/drawing/2014/main" id="{16D9A6D7-83B1-495F-B623-F0C1D6E8FB96}"/>
              </a:ext>
            </a:extLst>
          </p:cNvPr>
          <p:cNvSpPr/>
          <p:nvPr/>
        </p:nvSpPr>
        <p:spPr>
          <a:xfrm>
            <a:off x="5969000" y="3168650"/>
            <a:ext cx="3873500" cy="12700"/>
          </a:xfrm>
          <a:prstGeom prst="rect">
            <a:avLst/>
          </a:prstGeom>
          <a:solidFill>
            <a:srgbClr val="5A8C6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11" name="직사각형 610">
            <a:extLst>
              <a:ext uri="{FF2B5EF4-FFF2-40B4-BE49-F238E27FC236}">
                <a16:creationId xmlns:a16="http://schemas.microsoft.com/office/drawing/2014/main" id="{866CC74E-1501-49F6-ADA9-1C76DDE73E71}"/>
              </a:ext>
            </a:extLst>
          </p:cNvPr>
          <p:cNvSpPr/>
          <p:nvPr/>
        </p:nvSpPr>
        <p:spPr>
          <a:xfrm>
            <a:off x="5962650" y="3175000"/>
            <a:ext cx="12700" cy="647700"/>
          </a:xfrm>
          <a:prstGeom prst="rect">
            <a:avLst/>
          </a:prstGeom>
          <a:solidFill>
            <a:srgbClr val="5A8C6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12" name="직사각형 611">
            <a:extLst>
              <a:ext uri="{FF2B5EF4-FFF2-40B4-BE49-F238E27FC236}">
                <a16:creationId xmlns:a16="http://schemas.microsoft.com/office/drawing/2014/main" id="{01C66651-D6DB-4965-86A2-E0DCB006391C}"/>
              </a:ext>
            </a:extLst>
          </p:cNvPr>
          <p:cNvSpPr/>
          <p:nvPr/>
        </p:nvSpPr>
        <p:spPr>
          <a:xfrm>
            <a:off x="9836150" y="3124200"/>
            <a:ext cx="12700" cy="50800"/>
          </a:xfrm>
          <a:prstGeom prst="rect">
            <a:avLst/>
          </a:prstGeom>
          <a:solidFill>
            <a:srgbClr val="5A8C6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13" name="이등변 삼각형 612">
            <a:extLst>
              <a:ext uri="{FF2B5EF4-FFF2-40B4-BE49-F238E27FC236}">
                <a16:creationId xmlns:a16="http://schemas.microsoft.com/office/drawing/2014/main" id="{E6BF89D5-220D-4982-B148-C4579A2C401F}"/>
              </a:ext>
            </a:extLst>
          </p:cNvPr>
          <p:cNvSpPr/>
          <p:nvPr/>
        </p:nvSpPr>
        <p:spPr>
          <a:xfrm>
            <a:off x="9810750" y="3124200"/>
            <a:ext cx="63500" cy="63500"/>
          </a:xfrm>
          <a:prstGeom prst="triangle">
            <a:avLst/>
          </a:prstGeom>
          <a:solidFill>
            <a:srgbClr val="5A8C6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14" name="TextBox 613">
            <a:extLst>
              <a:ext uri="{FF2B5EF4-FFF2-40B4-BE49-F238E27FC236}">
                <a16:creationId xmlns:a16="http://schemas.microsoft.com/office/drawing/2014/main" id="{9FAD7793-585A-4716-9B3E-91D959BD34B2}"/>
              </a:ext>
            </a:extLst>
          </p:cNvPr>
          <p:cNvSpPr txBox="1"/>
          <p:nvPr/>
        </p:nvSpPr>
        <p:spPr>
          <a:xfrm>
            <a:off x="8890000" y="3111500"/>
            <a:ext cx="508000" cy="1397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700">
                <a:solidFill>
                  <a:srgbClr val="5A8C6E"/>
                </a:solidFill>
                <a:latin typeface="Pretendard"/>
                <a:ea typeface="Pretendard"/>
                <a:cs typeface="Pretendard"/>
              </a:rPr>
              <a:t>profile</a:t>
            </a:r>
            <a:endParaRPr lang="ko-KR" altLang="en-US" sz="700">
              <a:solidFill>
                <a:srgbClr val="5A8C6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15" name="직사각형 614">
            <a:extLst>
              <a:ext uri="{FF2B5EF4-FFF2-40B4-BE49-F238E27FC236}">
                <a16:creationId xmlns:a16="http://schemas.microsoft.com/office/drawing/2014/main" id="{00447F9E-A2EE-4487-AC72-A7A96B06B66F}"/>
              </a:ext>
            </a:extLst>
          </p:cNvPr>
          <p:cNvSpPr/>
          <p:nvPr/>
        </p:nvSpPr>
        <p:spPr>
          <a:xfrm>
            <a:off x="10414000" y="2533650"/>
            <a:ext cx="38100" cy="12700"/>
          </a:xfrm>
          <a:prstGeom prst="rect">
            <a:avLst/>
          </a:prstGeom>
          <a:solidFill>
            <a:srgbClr val="5A6B7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16" name="직사각형 615">
            <a:extLst>
              <a:ext uri="{FF2B5EF4-FFF2-40B4-BE49-F238E27FC236}">
                <a16:creationId xmlns:a16="http://schemas.microsoft.com/office/drawing/2014/main" id="{08F70F67-4B7F-4542-A6A5-D5A8774C1368}"/>
              </a:ext>
            </a:extLst>
          </p:cNvPr>
          <p:cNvSpPr/>
          <p:nvPr/>
        </p:nvSpPr>
        <p:spPr>
          <a:xfrm>
            <a:off x="10477500" y="2533650"/>
            <a:ext cx="38100" cy="12700"/>
          </a:xfrm>
          <a:prstGeom prst="rect">
            <a:avLst/>
          </a:prstGeom>
          <a:solidFill>
            <a:srgbClr val="5A6B7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17" name="직사각형 616">
            <a:extLst>
              <a:ext uri="{FF2B5EF4-FFF2-40B4-BE49-F238E27FC236}">
                <a16:creationId xmlns:a16="http://schemas.microsoft.com/office/drawing/2014/main" id="{26829365-EF1D-4758-BAEC-A7B3B7B73A68}"/>
              </a:ext>
            </a:extLst>
          </p:cNvPr>
          <p:cNvSpPr/>
          <p:nvPr/>
        </p:nvSpPr>
        <p:spPr>
          <a:xfrm>
            <a:off x="10541000" y="2533650"/>
            <a:ext cx="38100" cy="12700"/>
          </a:xfrm>
          <a:prstGeom prst="rect">
            <a:avLst/>
          </a:prstGeom>
          <a:solidFill>
            <a:srgbClr val="5A6B7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18" name="직사각형 617">
            <a:extLst>
              <a:ext uri="{FF2B5EF4-FFF2-40B4-BE49-F238E27FC236}">
                <a16:creationId xmlns:a16="http://schemas.microsoft.com/office/drawing/2014/main" id="{F0D0348F-DD0F-42E6-BC63-A46BDDAA3210}"/>
              </a:ext>
            </a:extLst>
          </p:cNvPr>
          <p:cNvSpPr/>
          <p:nvPr/>
        </p:nvSpPr>
        <p:spPr>
          <a:xfrm>
            <a:off x="10414000" y="2787650"/>
            <a:ext cx="38100" cy="12700"/>
          </a:xfrm>
          <a:prstGeom prst="rect">
            <a:avLst/>
          </a:prstGeom>
          <a:solidFill>
            <a:srgbClr val="5A6B7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19" name="직사각형 618">
            <a:extLst>
              <a:ext uri="{FF2B5EF4-FFF2-40B4-BE49-F238E27FC236}">
                <a16:creationId xmlns:a16="http://schemas.microsoft.com/office/drawing/2014/main" id="{99875D90-B7D5-4A5F-ACE2-EC576EB8BA18}"/>
              </a:ext>
            </a:extLst>
          </p:cNvPr>
          <p:cNvSpPr/>
          <p:nvPr/>
        </p:nvSpPr>
        <p:spPr>
          <a:xfrm>
            <a:off x="10477500" y="2787650"/>
            <a:ext cx="38100" cy="12700"/>
          </a:xfrm>
          <a:prstGeom prst="rect">
            <a:avLst/>
          </a:prstGeom>
          <a:solidFill>
            <a:srgbClr val="5A6B7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20" name="직사각형 619">
            <a:extLst>
              <a:ext uri="{FF2B5EF4-FFF2-40B4-BE49-F238E27FC236}">
                <a16:creationId xmlns:a16="http://schemas.microsoft.com/office/drawing/2014/main" id="{9FF2CB55-535D-4D38-97DB-D790030254BF}"/>
              </a:ext>
            </a:extLst>
          </p:cNvPr>
          <p:cNvSpPr/>
          <p:nvPr/>
        </p:nvSpPr>
        <p:spPr>
          <a:xfrm>
            <a:off x="10541000" y="2787650"/>
            <a:ext cx="38100" cy="12700"/>
          </a:xfrm>
          <a:prstGeom prst="rect">
            <a:avLst/>
          </a:prstGeom>
          <a:solidFill>
            <a:srgbClr val="5A6B7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21" name="TextBox 620">
            <a:extLst>
              <a:ext uri="{FF2B5EF4-FFF2-40B4-BE49-F238E27FC236}">
                <a16:creationId xmlns:a16="http://schemas.microsoft.com/office/drawing/2014/main" id="{60DA8485-5D4A-455C-9BF0-BEFC35B96E27}"/>
              </a:ext>
            </a:extLst>
          </p:cNvPr>
          <p:cNvSpPr txBox="1"/>
          <p:nvPr/>
        </p:nvSpPr>
        <p:spPr>
          <a:xfrm>
            <a:off x="10414000" y="2514600"/>
            <a:ext cx="508000" cy="1397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700" i="1">
                <a:solidFill>
                  <a:srgbClr val="5A6B7A"/>
                </a:solidFill>
                <a:latin typeface="Pretendard"/>
                <a:ea typeface="Pretendard"/>
                <a:cs typeface="Pretendard"/>
              </a:rPr>
              <a:t>backup</a:t>
            </a:r>
            <a:endParaRPr lang="ko-KR" altLang="en-US" sz="700" i="1">
              <a:solidFill>
                <a:srgbClr val="5A6B7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22" name="직사각형 621">
            <a:extLst>
              <a:ext uri="{FF2B5EF4-FFF2-40B4-BE49-F238E27FC236}">
                <a16:creationId xmlns:a16="http://schemas.microsoft.com/office/drawing/2014/main" id="{E65E6AA7-1A62-499D-BCC9-68F665218966}"/>
              </a:ext>
            </a:extLst>
          </p:cNvPr>
          <p:cNvSpPr/>
          <p:nvPr/>
        </p:nvSpPr>
        <p:spPr>
          <a:xfrm>
            <a:off x="5969000" y="3475037"/>
            <a:ext cx="63500" cy="9525"/>
          </a:xfrm>
          <a:prstGeom prst="rect">
            <a:avLst/>
          </a:prstGeom>
          <a:solidFill>
            <a:srgbClr val="7A5BB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23" name="직사각형 622">
            <a:extLst>
              <a:ext uri="{FF2B5EF4-FFF2-40B4-BE49-F238E27FC236}">
                <a16:creationId xmlns:a16="http://schemas.microsoft.com/office/drawing/2014/main" id="{90786827-8232-48EA-AD3A-B951F7880EA0}"/>
              </a:ext>
            </a:extLst>
          </p:cNvPr>
          <p:cNvSpPr/>
          <p:nvPr/>
        </p:nvSpPr>
        <p:spPr>
          <a:xfrm>
            <a:off x="5969000" y="3817937"/>
            <a:ext cx="101600" cy="9525"/>
          </a:xfrm>
          <a:prstGeom prst="rect">
            <a:avLst/>
          </a:prstGeom>
          <a:solidFill>
            <a:srgbClr val="7A5BB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24" name="직사각형 623">
            <a:extLst>
              <a:ext uri="{FF2B5EF4-FFF2-40B4-BE49-F238E27FC236}">
                <a16:creationId xmlns:a16="http://schemas.microsoft.com/office/drawing/2014/main" id="{55E25002-C302-4EB9-9EE1-079953E3AE40}"/>
              </a:ext>
            </a:extLst>
          </p:cNvPr>
          <p:cNvSpPr/>
          <p:nvPr/>
        </p:nvSpPr>
        <p:spPr>
          <a:xfrm>
            <a:off x="5969000" y="4160837"/>
            <a:ext cx="139700" cy="9525"/>
          </a:xfrm>
          <a:prstGeom prst="rect">
            <a:avLst/>
          </a:prstGeom>
          <a:solidFill>
            <a:srgbClr val="7A5BB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25" name="직사각형 624">
            <a:extLst>
              <a:ext uri="{FF2B5EF4-FFF2-40B4-BE49-F238E27FC236}">
                <a16:creationId xmlns:a16="http://schemas.microsoft.com/office/drawing/2014/main" id="{388EC218-107D-4459-82E6-893E25C9FEF8}"/>
              </a:ext>
            </a:extLst>
          </p:cNvPr>
          <p:cNvSpPr/>
          <p:nvPr/>
        </p:nvSpPr>
        <p:spPr>
          <a:xfrm>
            <a:off x="6027737" y="3479800"/>
            <a:ext cx="9525" cy="1435100"/>
          </a:xfrm>
          <a:prstGeom prst="rect">
            <a:avLst/>
          </a:prstGeom>
          <a:solidFill>
            <a:srgbClr val="7A5BB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26" name="직사각형 625">
            <a:extLst>
              <a:ext uri="{FF2B5EF4-FFF2-40B4-BE49-F238E27FC236}">
                <a16:creationId xmlns:a16="http://schemas.microsoft.com/office/drawing/2014/main" id="{9CB24342-EFD5-4D29-8B80-C2CF474E25D3}"/>
              </a:ext>
            </a:extLst>
          </p:cNvPr>
          <p:cNvSpPr/>
          <p:nvPr/>
        </p:nvSpPr>
        <p:spPr>
          <a:xfrm>
            <a:off x="6065837" y="3822700"/>
            <a:ext cx="9525" cy="1092200"/>
          </a:xfrm>
          <a:prstGeom prst="rect">
            <a:avLst/>
          </a:prstGeom>
          <a:solidFill>
            <a:srgbClr val="7A5BB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27" name="직사각형 626">
            <a:extLst>
              <a:ext uri="{FF2B5EF4-FFF2-40B4-BE49-F238E27FC236}">
                <a16:creationId xmlns:a16="http://schemas.microsoft.com/office/drawing/2014/main" id="{5734DB78-4C75-4384-877B-BEC06F3436F0}"/>
              </a:ext>
            </a:extLst>
          </p:cNvPr>
          <p:cNvSpPr/>
          <p:nvPr/>
        </p:nvSpPr>
        <p:spPr>
          <a:xfrm>
            <a:off x="6103937" y="4165600"/>
            <a:ext cx="9525" cy="749300"/>
          </a:xfrm>
          <a:prstGeom prst="rect">
            <a:avLst/>
          </a:prstGeom>
          <a:solidFill>
            <a:srgbClr val="7A5BB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28" name="직사각형 627">
            <a:extLst>
              <a:ext uri="{FF2B5EF4-FFF2-40B4-BE49-F238E27FC236}">
                <a16:creationId xmlns:a16="http://schemas.microsoft.com/office/drawing/2014/main" id="{0FA4BCB0-3751-4FD3-80D1-7C8DEB38925C}"/>
              </a:ext>
            </a:extLst>
          </p:cNvPr>
          <p:cNvSpPr/>
          <p:nvPr/>
        </p:nvSpPr>
        <p:spPr>
          <a:xfrm>
            <a:off x="6070600" y="4910137"/>
            <a:ext cx="977900" cy="9525"/>
          </a:xfrm>
          <a:prstGeom prst="rect">
            <a:avLst/>
          </a:prstGeom>
          <a:solidFill>
            <a:srgbClr val="7A5BB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29" name="직사각형 628">
            <a:extLst>
              <a:ext uri="{FF2B5EF4-FFF2-40B4-BE49-F238E27FC236}">
                <a16:creationId xmlns:a16="http://schemas.microsoft.com/office/drawing/2014/main" id="{C6D1435F-2A1C-45AE-9B72-D100F9D2B5ED}"/>
              </a:ext>
            </a:extLst>
          </p:cNvPr>
          <p:cNvSpPr/>
          <p:nvPr/>
        </p:nvSpPr>
        <p:spPr>
          <a:xfrm>
            <a:off x="7043737" y="4635500"/>
            <a:ext cx="9525" cy="279400"/>
          </a:xfrm>
          <a:prstGeom prst="rect">
            <a:avLst/>
          </a:prstGeom>
          <a:solidFill>
            <a:srgbClr val="7A5BB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30" name="이등변 삼각형 629">
            <a:extLst>
              <a:ext uri="{FF2B5EF4-FFF2-40B4-BE49-F238E27FC236}">
                <a16:creationId xmlns:a16="http://schemas.microsoft.com/office/drawing/2014/main" id="{FF0DCB94-86F2-4250-8E4A-F1A836F689B2}"/>
              </a:ext>
            </a:extLst>
          </p:cNvPr>
          <p:cNvSpPr/>
          <p:nvPr/>
        </p:nvSpPr>
        <p:spPr>
          <a:xfrm>
            <a:off x="7023100" y="4635500"/>
            <a:ext cx="50800" cy="50800"/>
          </a:xfrm>
          <a:prstGeom prst="triangle">
            <a:avLst/>
          </a:prstGeom>
          <a:solidFill>
            <a:srgbClr val="7A5BB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31" name="직사각형 630">
            <a:extLst>
              <a:ext uri="{FF2B5EF4-FFF2-40B4-BE49-F238E27FC236}">
                <a16:creationId xmlns:a16="http://schemas.microsoft.com/office/drawing/2014/main" id="{8EA6555E-7A95-4ECC-9DFD-A847E024F0D2}"/>
              </a:ext>
            </a:extLst>
          </p:cNvPr>
          <p:cNvSpPr/>
          <p:nvPr/>
        </p:nvSpPr>
        <p:spPr>
          <a:xfrm>
            <a:off x="6108700" y="4935537"/>
            <a:ext cx="5130800" cy="9525"/>
          </a:xfrm>
          <a:prstGeom prst="rect">
            <a:avLst/>
          </a:prstGeom>
          <a:solidFill>
            <a:srgbClr val="7A5BB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32" name="직사각형 631">
            <a:extLst>
              <a:ext uri="{FF2B5EF4-FFF2-40B4-BE49-F238E27FC236}">
                <a16:creationId xmlns:a16="http://schemas.microsoft.com/office/drawing/2014/main" id="{BE9CB036-9361-4659-B423-CD9815BDD3DC}"/>
              </a:ext>
            </a:extLst>
          </p:cNvPr>
          <p:cNvSpPr/>
          <p:nvPr/>
        </p:nvSpPr>
        <p:spPr>
          <a:xfrm>
            <a:off x="8440737" y="4635500"/>
            <a:ext cx="9525" cy="304800"/>
          </a:xfrm>
          <a:prstGeom prst="rect">
            <a:avLst/>
          </a:prstGeom>
          <a:solidFill>
            <a:srgbClr val="7A5BB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33" name="이등변 삼각형 632">
            <a:extLst>
              <a:ext uri="{FF2B5EF4-FFF2-40B4-BE49-F238E27FC236}">
                <a16:creationId xmlns:a16="http://schemas.microsoft.com/office/drawing/2014/main" id="{DFA23A3E-1E15-42C6-BB06-CE83BE03F03A}"/>
              </a:ext>
            </a:extLst>
          </p:cNvPr>
          <p:cNvSpPr/>
          <p:nvPr/>
        </p:nvSpPr>
        <p:spPr>
          <a:xfrm>
            <a:off x="8420100" y="4635500"/>
            <a:ext cx="50800" cy="50800"/>
          </a:xfrm>
          <a:prstGeom prst="triangle">
            <a:avLst/>
          </a:prstGeom>
          <a:solidFill>
            <a:srgbClr val="7A5BB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34" name="직사각형 633">
            <a:extLst>
              <a:ext uri="{FF2B5EF4-FFF2-40B4-BE49-F238E27FC236}">
                <a16:creationId xmlns:a16="http://schemas.microsoft.com/office/drawing/2014/main" id="{0BDB4C0B-A40B-4F81-BF88-57D295D8FCF7}"/>
              </a:ext>
            </a:extLst>
          </p:cNvPr>
          <p:cNvSpPr/>
          <p:nvPr/>
        </p:nvSpPr>
        <p:spPr>
          <a:xfrm>
            <a:off x="9837737" y="4635500"/>
            <a:ext cx="9525" cy="304800"/>
          </a:xfrm>
          <a:prstGeom prst="rect">
            <a:avLst/>
          </a:prstGeom>
          <a:solidFill>
            <a:srgbClr val="7A5BB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35" name="이등변 삼각형 634">
            <a:extLst>
              <a:ext uri="{FF2B5EF4-FFF2-40B4-BE49-F238E27FC236}">
                <a16:creationId xmlns:a16="http://schemas.microsoft.com/office/drawing/2014/main" id="{F257D33C-B039-479E-8029-FDA2E4033D6F}"/>
              </a:ext>
            </a:extLst>
          </p:cNvPr>
          <p:cNvSpPr/>
          <p:nvPr/>
        </p:nvSpPr>
        <p:spPr>
          <a:xfrm>
            <a:off x="9817100" y="4635500"/>
            <a:ext cx="50800" cy="50800"/>
          </a:xfrm>
          <a:prstGeom prst="triangle">
            <a:avLst/>
          </a:prstGeom>
          <a:solidFill>
            <a:srgbClr val="7A5BB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36" name="직사각형 635">
            <a:extLst>
              <a:ext uri="{FF2B5EF4-FFF2-40B4-BE49-F238E27FC236}">
                <a16:creationId xmlns:a16="http://schemas.microsoft.com/office/drawing/2014/main" id="{EAA0084F-5CBD-4BFF-A8C8-79309AA83FB8}"/>
              </a:ext>
            </a:extLst>
          </p:cNvPr>
          <p:cNvSpPr/>
          <p:nvPr/>
        </p:nvSpPr>
        <p:spPr>
          <a:xfrm>
            <a:off x="11234737" y="4635500"/>
            <a:ext cx="9525" cy="304800"/>
          </a:xfrm>
          <a:prstGeom prst="rect">
            <a:avLst/>
          </a:prstGeom>
          <a:solidFill>
            <a:srgbClr val="7A5BB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37" name="이등변 삼각형 636">
            <a:extLst>
              <a:ext uri="{FF2B5EF4-FFF2-40B4-BE49-F238E27FC236}">
                <a16:creationId xmlns:a16="http://schemas.microsoft.com/office/drawing/2014/main" id="{87778C1D-39B0-4D2E-AEFF-2FAFFB7E607C}"/>
              </a:ext>
            </a:extLst>
          </p:cNvPr>
          <p:cNvSpPr/>
          <p:nvPr/>
        </p:nvSpPr>
        <p:spPr>
          <a:xfrm>
            <a:off x="11214100" y="4635500"/>
            <a:ext cx="50800" cy="50800"/>
          </a:xfrm>
          <a:prstGeom prst="triangle">
            <a:avLst/>
          </a:prstGeom>
          <a:solidFill>
            <a:srgbClr val="7A5BB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38" name="직사각형 637">
            <a:extLst>
              <a:ext uri="{FF2B5EF4-FFF2-40B4-BE49-F238E27FC236}">
                <a16:creationId xmlns:a16="http://schemas.microsoft.com/office/drawing/2014/main" id="{411279D4-1E46-461F-8C02-CF0E85CB240E}"/>
              </a:ext>
            </a:extLst>
          </p:cNvPr>
          <p:cNvSpPr/>
          <p:nvPr/>
        </p:nvSpPr>
        <p:spPr>
          <a:xfrm>
            <a:off x="6032500" y="4910137"/>
            <a:ext cx="2413000" cy="9525"/>
          </a:xfrm>
          <a:prstGeom prst="rect">
            <a:avLst/>
          </a:prstGeom>
          <a:solidFill>
            <a:srgbClr val="7A5BB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39" name="직사각형 638">
            <a:extLst>
              <a:ext uri="{FF2B5EF4-FFF2-40B4-BE49-F238E27FC236}">
                <a16:creationId xmlns:a16="http://schemas.microsoft.com/office/drawing/2014/main" id="{272534E1-7318-4C48-80B7-735817CB399D}"/>
              </a:ext>
            </a:extLst>
          </p:cNvPr>
          <p:cNvSpPr/>
          <p:nvPr/>
        </p:nvSpPr>
        <p:spPr>
          <a:xfrm>
            <a:off x="4208462" y="4191000"/>
            <a:ext cx="15875" cy="508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40" name="직사각형 639">
            <a:extLst>
              <a:ext uri="{FF2B5EF4-FFF2-40B4-BE49-F238E27FC236}">
                <a16:creationId xmlns:a16="http://schemas.microsoft.com/office/drawing/2014/main" id="{4B8BF75E-A3C7-4E11-8990-775CB02EF1E4}"/>
              </a:ext>
            </a:extLst>
          </p:cNvPr>
          <p:cNvSpPr/>
          <p:nvPr/>
        </p:nvSpPr>
        <p:spPr>
          <a:xfrm>
            <a:off x="4208462" y="4279900"/>
            <a:ext cx="15875" cy="508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41" name="직사각형 640">
            <a:extLst>
              <a:ext uri="{FF2B5EF4-FFF2-40B4-BE49-F238E27FC236}">
                <a16:creationId xmlns:a16="http://schemas.microsoft.com/office/drawing/2014/main" id="{F30529FF-E30A-4E0C-A2FA-5D04B24C547E}"/>
              </a:ext>
            </a:extLst>
          </p:cNvPr>
          <p:cNvSpPr/>
          <p:nvPr/>
        </p:nvSpPr>
        <p:spPr>
          <a:xfrm>
            <a:off x="4208462" y="4368800"/>
            <a:ext cx="15875" cy="508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42" name="직사각형 641">
            <a:extLst>
              <a:ext uri="{FF2B5EF4-FFF2-40B4-BE49-F238E27FC236}">
                <a16:creationId xmlns:a16="http://schemas.microsoft.com/office/drawing/2014/main" id="{360049A5-BCBC-4D3D-9E59-2852904BFBA4}"/>
              </a:ext>
            </a:extLst>
          </p:cNvPr>
          <p:cNvSpPr/>
          <p:nvPr/>
        </p:nvSpPr>
        <p:spPr>
          <a:xfrm>
            <a:off x="4208462" y="4457700"/>
            <a:ext cx="15875" cy="508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43" name="직사각형 642">
            <a:extLst>
              <a:ext uri="{FF2B5EF4-FFF2-40B4-BE49-F238E27FC236}">
                <a16:creationId xmlns:a16="http://schemas.microsoft.com/office/drawing/2014/main" id="{5F0C8D58-A8A3-44DD-8496-CE0D66B9970A}"/>
              </a:ext>
            </a:extLst>
          </p:cNvPr>
          <p:cNvSpPr/>
          <p:nvPr/>
        </p:nvSpPr>
        <p:spPr>
          <a:xfrm>
            <a:off x="4208462" y="4546600"/>
            <a:ext cx="15875" cy="508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44" name="직사각형 643">
            <a:extLst>
              <a:ext uri="{FF2B5EF4-FFF2-40B4-BE49-F238E27FC236}">
                <a16:creationId xmlns:a16="http://schemas.microsoft.com/office/drawing/2014/main" id="{1705C3AA-EA77-4A32-9849-E2A2DF91FB87}"/>
              </a:ext>
            </a:extLst>
          </p:cNvPr>
          <p:cNvSpPr/>
          <p:nvPr/>
        </p:nvSpPr>
        <p:spPr>
          <a:xfrm>
            <a:off x="4208462" y="4635500"/>
            <a:ext cx="15875" cy="508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45" name="직사각형 644">
            <a:extLst>
              <a:ext uri="{FF2B5EF4-FFF2-40B4-BE49-F238E27FC236}">
                <a16:creationId xmlns:a16="http://schemas.microsoft.com/office/drawing/2014/main" id="{5F8785B5-7A76-46F8-9FDA-2C4ED2EB57FA}"/>
              </a:ext>
            </a:extLst>
          </p:cNvPr>
          <p:cNvSpPr/>
          <p:nvPr/>
        </p:nvSpPr>
        <p:spPr>
          <a:xfrm>
            <a:off x="4208462" y="4724400"/>
            <a:ext cx="15875" cy="508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46" name="직사각형 645">
            <a:extLst>
              <a:ext uri="{FF2B5EF4-FFF2-40B4-BE49-F238E27FC236}">
                <a16:creationId xmlns:a16="http://schemas.microsoft.com/office/drawing/2014/main" id="{107046B6-36D0-4649-8644-91CAF5A57AA4}"/>
              </a:ext>
            </a:extLst>
          </p:cNvPr>
          <p:cNvSpPr/>
          <p:nvPr/>
        </p:nvSpPr>
        <p:spPr>
          <a:xfrm>
            <a:off x="4208462" y="4813300"/>
            <a:ext cx="15875" cy="508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47" name="직사각형 646">
            <a:extLst>
              <a:ext uri="{FF2B5EF4-FFF2-40B4-BE49-F238E27FC236}">
                <a16:creationId xmlns:a16="http://schemas.microsoft.com/office/drawing/2014/main" id="{1ABB2713-9DF0-439A-921F-772E6FDD350B}"/>
              </a:ext>
            </a:extLst>
          </p:cNvPr>
          <p:cNvSpPr/>
          <p:nvPr/>
        </p:nvSpPr>
        <p:spPr>
          <a:xfrm>
            <a:off x="4208462" y="4902200"/>
            <a:ext cx="15875" cy="508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48" name="직사각형 647">
            <a:extLst>
              <a:ext uri="{FF2B5EF4-FFF2-40B4-BE49-F238E27FC236}">
                <a16:creationId xmlns:a16="http://schemas.microsoft.com/office/drawing/2014/main" id="{FE4319D8-8331-4B60-A066-E3B1A6231536}"/>
              </a:ext>
            </a:extLst>
          </p:cNvPr>
          <p:cNvSpPr/>
          <p:nvPr/>
        </p:nvSpPr>
        <p:spPr>
          <a:xfrm>
            <a:off x="4208462" y="4991100"/>
            <a:ext cx="15875" cy="508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49" name="직사각형 648">
            <a:extLst>
              <a:ext uri="{FF2B5EF4-FFF2-40B4-BE49-F238E27FC236}">
                <a16:creationId xmlns:a16="http://schemas.microsoft.com/office/drawing/2014/main" id="{52E486C2-4FA5-4C41-B590-ECE0FBD51F29}"/>
              </a:ext>
            </a:extLst>
          </p:cNvPr>
          <p:cNvSpPr/>
          <p:nvPr/>
        </p:nvSpPr>
        <p:spPr>
          <a:xfrm>
            <a:off x="4208462" y="5080000"/>
            <a:ext cx="15875" cy="508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50" name="직사각형 649">
            <a:extLst>
              <a:ext uri="{FF2B5EF4-FFF2-40B4-BE49-F238E27FC236}">
                <a16:creationId xmlns:a16="http://schemas.microsoft.com/office/drawing/2014/main" id="{FDF055E0-7E75-412A-B7C3-F368BF461CA0}"/>
              </a:ext>
            </a:extLst>
          </p:cNvPr>
          <p:cNvSpPr/>
          <p:nvPr/>
        </p:nvSpPr>
        <p:spPr>
          <a:xfrm>
            <a:off x="4208462" y="5168900"/>
            <a:ext cx="15875" cy="381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51" name="직사각형 650">
            <a:extLst>
              <a:ext uri="{FF2B5EF4-FFF2-40B4-BE49-F238E27FC236}">
                <a16:creationId xmlns:a16="http://schemas.microsoft.com/office/drawing/2014/main" id="{FE1D3BBF-4286-4FE9-9516-578D1DBE0AEE}"/>
              </a:ext>
            </a:extLst>
          </p:cNvPr>
          <p:cNvSpPr/>
          <p:nvPr/>
        </p:nvSpPr>
        <p:spPr>
          <a:xfrm>
            <a:off x="42164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52" name="직사각형 651">
            <a:extLst>
              <a:ext uri="{FF2B5EF4-FFF2-40B4-BE49-F238E27FC236}">
                <a16:creationId xmlns:a16="http://schemas.microsoft.com/office/drawing/2014/main" id="{E0A38AFD-BDFF-41D1-8ADB-8E3959D0E250}"/>
              </a:ext>
            </a:extLst>
          </p:cNvPr>
          <p:cNvSpPr/>
          <p:nvPr/>
        </p:nvSpPr>
        <p:spPr>
          <a:xfrm>
            <a:off x="43053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53" name="직사각형 652">
            <a:extLst>
              <a:ext uri="{FF2B5EF4-FFF2-40B4-BE49-F238E27FC236}">
                <a16:creationId xmlns:a16="http://schemas.microsoft.com/office/drawing/2014/main" id="{56AE5562-1C46-4025-8E37-B197F899BE97}"/>
              </a:ext>
            </a:extLst>
          </p:cNvPr>
          <p:cNvSpPr/>
          <p:nvPr/>
        </p:nvSpPr>
        <p:spPr>
          <a:xfrm>
            <a:off x="43942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54" name="직사각형 653">
            <a:extLst>
              <a:ext uri="{FF2B5EF4-FFF2-40B4-BE49-F238E27FC236}">
                <a16:creationId xmlns:a16="http://schemas.microsoft.com/office/drawing/2014/main" id="{38E92716-C65C-499B-9A1C-DC5E97809193}"/>
              </a:ext>
            </a:extLst>
          </p:cNvPr>
          <p:cNvSpPr/>
          <p:nvPr/>
        </p:nvSpPr>
        <p:spPr>
          <a:xfrm>
            <a:off x="44831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55" name="직사각형 654">
            <a:extLst>
              <a:ext uri="{FF2B5EF4-FFF2-40B4-BE49-F238E27FC236}">
                <a16:creationId xmlns:a16="http://schemas.microsoft.com/office/drawing/2014/main" id="{585E7A74-B103-4CE2-A30E-DDAC94307B38}"/>
              </a:ext>
            </a:extLst>
          </p:cNvPr>
          <p:cNvSpPr/>
          <p:nvPr/>
        </p:nvSpPr>
        <p:spPr>
          <a:xfrm>
            <a:off x="45720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56" name="직사각형 655">
            <a:extLst>
              <a:ext uri="{FF2B5EF4-FFF2-40B4-BE49-F238E27FC236}">
                <a16:creationId xmlns:a16="http://schemas.microsoft.com/office/drawing/2014/main" id="{141CA6C0-B090-4580-8DC6-8D934E9C9D5F}"/>
              </a:ext>
            </a:extLst>
          </p:cNvPr>
          <p:cNvSpPr/>
          <p:nvPr/>
        </p:nvSpPr>
        <p:spPr>
          <a:xfrm>
            <a:off x="46609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57" name="직사각형 656">
            <a:extLst>
              <a:ext uri="{FF2B5EF4-FFF2-40B4-BE49-F238E27FC236}">
                <a16:creationId xmlns:a16="http://schemas.microsoft.com/office/drawing/2014/main" id="{161A2E35-2D42-4D52-95A8-719130E05965}"/>
              </a:ext>
            </a:extLst>
          </p:cNvPr>
          <p:cNvSpPr/>
          <p:nvPr/>
        </p:nvSpPr>
        <p:spPr>
          <a:xfrm>
            <a:off x="47498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58" name="직사각형 657">
            <a:extLst>
              <a:ext uri="{FF2B5EF4-FFF2-40B4-BE49-F238E27FC236}">
                <a16:creationId xmlns:a16="http://schemas.microsoft.com/office/drawing/2014/main" id="{99B8ECA0-F19E-4945-8266-31BBD27C0DD5}"/>
              </a:ext>
            </a:extLst>
          </p:cNvPr>
          <p:cNvSpPr/>
          <p:nvPr/>
        </p:nvSpPr>
        <p:spPr>
          <a:xfrm>
            <a:off x="48387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59" name="직사각형 658">
            <a:extLst>
              <a:ext uri="{FF2B5EF4-FFF2-40B4-BE49-F238E27FC236}">
                <a16:creationId xmlns:a16="http://schemas.microsoft.com/office/drawing/2014/main" id="{223AC63A-4A47-4BF0-804E-31930F9694CE}"/>
              </a:ext>
            </a:extLst>
          </p:cNvPr>
          <p:cNvSpPr/>
          <p:nvPr/>
        </p:nvSpPr>
        <p:spPr>
          <a:xfrm>
            <a:off x="49276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60" name="직사각형 659">
            <a:extLst>
              <a:ext uri="{FF2B5EF4-FFF2-40B4-BE49-F238E27FC236}">
                <a16:creationId xmlns:a16="http://schemas.microsoft.com/office/drawing/2014/main" id="{F4F24A00-DAA2-4F85-B4DC-6ACD8B61537B}"/>
              </a:ext>
            </a:extLst>
          </p:cNvPr>
          <p:cNvSpPr/>
          <p:nvPr/>
        </p:nvSpPr>
        <p:spPr>
          <a:xfrm>
            <a:off x="50165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61" name="직사각형 660">
            <a:extLst>
              <a:ext uri="{FF2B5EF4-FFF2-40B4-BE49-F238E27FC236}">
                <a16:creationId xmlns:a16="http://schemas.microsoft.com/office/drawing/2014/main" id="{3120910C-47BC-4250-B781-C81487B6471F}"/>
              </a:ext>
            </a:extLst>
          </p:cNvPr>
          <p:cNvSpPr/>
          <p:nvPr/>
        </p:nvSpPr>
        <p:spPr>
          <a:xfrm>
            <a:off x="51054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62" name="직사각형 661">
            <a:extLst>
              <a:ext uri="{FF2B5EF4-FFF2-40B4-BE49-F238E27FC236}">
                <a16:creationId xmlns:a16="http://schemas.microsoft.com/office/drawing/2014/main" id="{0F749A22-B988-444C-974A-A36943AC048C}"/>
              </a:ext>
            </a:extLst>
          </p:cNvPr>
          <p:cNvSpPr/>
          <p:nvPr/>
        </p:nvSpPr>
        <p:spPr>
          <a:xfrm>
            <a:off x="51943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63" name="직사각형 662">
            <a:extLst>
              <a:ext uri="{FF2B5EF4-FFF2-40B4-BE49-F238E27FC236}">
                <a16:creationId xmlns:a16="http://schemas.microsoft.com/office/drawing/2014/main" id="{E500E803-4674-46A4-A0B9-C8A33FF3FC05}"/>
              </a:ext>
            </a:extLst>
          </p:cNvPr>
          <p:cNvSpPr/>
          <p:nvPr/>
        </p:nvSpPr>
        <p:spPr>
          <a:xfrm>
            <a:off x="52832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64" name="직사각형 663">
            <a:extLst>
              <a:ext uri="{FF2B5EF4-FFF2-40B4-BE49-F238E27FC236}">
                <a16:creationId xmlns:a16="http://schemas.microsoft.com/office/drawing/2014/main" id="{C133CA04-8937-4057-AB05-05A96145B2CB}"/>
              </a:ext>
            </a:extLst>
          </p:cNvPr>
          <p:cNvSpPr/>
          <p:nvPr/>
        </p:nvSpPr>
        <p:spPr>
          <a:xfrm>
            <a:off x="53721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65" name="직사각형 664">
            <a:extLst>
              <a:ext uri="{FF2B5EF4-FFF2-40B4-BE49-F238E27FC236}">
                <a16:creationId xmlns:a16="http://schemas.microsoft.com/office/drawing/2014/main" id="{2B2A2008-986A-4158-BFD9-F6E864C15A58}"/>
              </a:ext>
            </a:extLst>
          </p:cNvPr>
          <p:cNvSpPr/>
          <p:nvPr/>
        </p:nvSpPr>
        <p:spPr>
          <a:xfrm>
            <a:off x="54610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66" name="직사각형 665">
            <a:extLst>
              <a:ext uri="{FF2B5EF4-FFF2-40B4-BE49-F238E27FC236}">
                <a16:creationId xmlns:a16="http://schemas.microsoft.com/office/drawing/2014/main" id="{77A8CD49-AD00-471A-A615-A6FB556FBC0B}"/>
              </a:ext>
            </a:extLst>
          </p:cNvPr>
          <p:cNvSpPr/>
          <p:nvPr/>
        </p:nvSpPr>
        <p:spPr>
          <a:xfrm>
            <a:off x="55499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67" name="직사각형 666">
            <a:extLst>
              <a:ext uri="{FF2B5EF4-FFF2-40B4-BE49-F238E27FC236}">
                <a16:creationId xmlns:a16="http://schemas.microsoft.com/office/drawing/2014/main" id="{D6F7BE54-6F4B-4F45-9175-526BF442B0DD}"/>
              </a:ext>
            </a:extLst>
          </p:cNvPr>
          <p:cNvSpPr/>
          <p:nvPr/>
        </p:nvSpPr>
        <p:spPr>
          <a:xfrm>
            <a:off x="56388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68" name="직사각형 667">
            <a:extLst>
              <a:ext uri="{FF2B5EF4-FFF2-40B4-BE49-F238E27FC236}">
                <a16:creationId xmlns:a16="http://schemas.microsoft.com/office/drawing/2014/main" id="{E89EE3F4-1440-45D5-A227-7E3E0C493AB9}"/>
              </a:ext>
            </a:extLst>
          </p:cNvPr>
          <p:cNvSpPr/>
          <p:nvPr/>
        </p:nvSpPr>
        <p:spPr>
          <a:xfrm>
            <a:off x="57277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69" name="직사각형 668">
            <a:extLst>
              <a:ext uri="{FF2B5EF4-FFF2-40B4-BE49-F238E27FC236}">
                <a16:creationId xmlns:a16="http://schemas.microsoft.com/office/drawing/2014/main" id="{1698C47E-53F9-4F01-918A-2007490E7E29}"/>
              </a:ext>
            </a:extLst>
          </p:cNvPr>
          <p:cNvSpPr/>
          <p:nvPr/>
        </p:nvSpPr>
        <p:spPr>
          <a:xfrm>
            <a:off x="58166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70" name="직사각형 669">
            <a:extLst>
              <a:ext uri="{FF2B5EF4-FFF2-40B4-BE49-F238E27FC236}">
                <a16:creationId xmlns:a16="http://schemas.microsoft.com/office/drawing/2014/main" id="{4A708627-8E17-4D92-A66C-5082C69FD894}"/>
              </a:ext>
            </a:extLst>
          </p:cNvPr>
          <p:cNvSpPr/>
          <p:nvPr/>
        </p:nvSpPr>
        <p:spPr>
          <a:xfrm>
            <a:off x="59055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71" name="직사각형 670">
            <a:extLst>
              <a:ext uri="{FF2B5EF4-FFF2-40B4-BE49-F238E27FC236}">
                <a16:creationId xmlns:a16="http://schemas.microsoft.com/office/drawing/2014/main" id="{3052B631-30A6-4B79-8813-AC72E1B86E99}"/>
              </a:ext>
            </a:extLst>
          </p:cNvPr>
          <p:cNvSpPr/>
          <p:nvPr/>
        </p:nvSpPr>
        <p:spPr>
          <a:xfrm>
            <a:off x="59944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72" name="직사각형 671">
            <a:extLst>
              <a:ext uri="{FF2B5EF4-FFF2-40B4-BE49-F238E27FC236}">
                <a16:creationId xmlns:a16="http://schemas.microsoft.com/office/drawing/2014/main" id="{4D676D80-FE48-4102-BE5C-F16B0853057B}"/>
              </a:ext>
            </a:extLst>
          </p:cNvPr>
          <p:cNvSpPr/>
          <p:nvPr/>
        </p:nvSpPr>
        <p:spPr>
          <a:xfrm>
            <a:off x="60833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73" name="직사각형 672">
            <a:extLst>
              <a:ext uri="{FF2B5EF4-FFF2-40B4-BE49-F238E27FC236}">
                <a16:creationId xmlns:a16="http://schemas.microsoft.com/office/drawing/2014/main" id="{85DA92EE-06C8-4B7F-A1FE-F4E9656F83F0}"/>
              </a:ext>
            </a:extLst>
          </p:cNvPr>
          <p:cNvSpPr/>
          <p:nvPr/>
        </p:nvSpPr>
        <p:spPr>
          <a:xfrm>
            <a:off x="61722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74" name="직사각형 673">
            <a:extLst>
              <a:ext uri="{FF2B5EF4-FFF2-40B4-BE49-F238E27FC236}">
                <a16:creationId xmlns:a16="http://schemas.microsoft.com/office/drawing/2014/main" id="{A6296ED0-8C0A-4F29-92B3-DA597F5A4780}"/>
              </a:ext>
            </a:extLst>
          </p:cNvPr>
          <p:cNvSpPr/>
          <p:nvPr/>
        </p:nvSpPr>
        <p:spPr>
          <a:xfrm>
            <a:off x="62611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75" name="직사각형 674">
            <a:extLst>
              <a:ext uri="{FF2B5EF4-FFF2-40B4-BE49-F238E27FC236}">
                <a16:creationId xmlns:a16="http://schemas.microsoft.com/office/drawing/2014/main" id="{7ACA9AE9-F012-4C39-92FF-518BCDEB781D}"/>
              </a:ext>
            </a:extLst>
          </p:cNvPr>
          <p:cNvSpPr/>
          <p:nvPr/>
        </p:nvSpPr>
        <p:spPr>
          <a:xfrm>
            <a:off x="63500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76" name="직사각형 675">
            <a:extLst>
              <a:ext uri="{FF2B5EF4-FFF2-40B4-BE49-F238E27FC236}">
                <a16:creationId xmlns:a16="http://schemas.microsoft.com/office/drawing/2014/main" id="{7F6F4AEB-FBBB-494B-9BA2-188BB695ADC8}"/>
              </a:ext>
            </a:extLst>
          </p:cNvPr>
          <p:cNvSpPr/>
          <p:nvPr/>
        </p:nvSpPr>
        <p:spPr>
          <a:xfrm>
            <a:off x="64389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77" name="직사각형 676">
            <a:extLst>
              <a:ext uri="{FF2B5EF4-FFF2-40B4-BE49-F238E27FC236}">
                <a16:creationId xmlns:a16="http://schemas.microsoft.com/office/drawing/2014/main" id="{E35BF8A2-74B2-47B2-B251-CE5AB7798864}"/>
              </a:ext>
            </a:extLst>
          </p:cNvPr>
          <p:cNvSpPr/>
          <p:nvPr/>
        </p:nvSpPr>
        <p:spPr>
          <a:xfrm>
            <a:off x="65278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78" name="직사각형 677">
            <a:extLst>
              <a:ext uri="{FF2B5EF4-FFF2-40B4-BE49-F238E27FC236}">
                <a16:creationId xmlns:a16="http://schemas.microsoft.com/office/drawing/2014/main" id="{A604FECF-FB0B-4A36-8B1B-53B7C4B936A1}"/>
              </a:ext>
            </a:extLst>
          </p:cNvPr>
          <p:cNvSpPr/>
          <p:nvPr/>
        </p:nvSpPr>
        <p:spPr>
          <a:xfrm>
            <a:off x="66167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79" name="직사각형 678">
            <a:extLst>
              <a:ext uri="{FF2B5EF4-FFF2-40B4-BE49-F238E27FC236}">
                <a16:creationId xmlns:a16="http://schemas.microsoft.com/office/drawing/2014/main" id="{C41F8156-E2A3-4D63-8D6F-F695AE2CFA67}"/>
              </a:ext>
            </a:extLst>
          </p:cNvPr>
          <p:cNvSpPr/>
          <p:nvPr/>
        </p:nvSpPr>
        <p:spPr>
          <a:xfrm>
            <a:off x="67056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80" name="직사각형 679">
            <a:extLst>
              <a:ext uri="{FF2B5EF4-FFF2-40B4-BE49-F238E27FC236}">
                <a16:creationId xmlns:a16="http://schemas.microsoft.com/office/drawing/2014/main" id="{187FFB2B-FF59-49CF-9C7F-9BC1C22AA8BF}"/>
              </a:ext>
            </a:extLst>
          </p:cNvPr>
          <p:cNvSpPr/>
          <p:nvPr/>
        </p:nvSpPr>
        <p:spPr>
          <a:xfrm>
            <a:off x="67945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81" name="직사각형 680">
            <a:extLst>
              <a:ext uri="{FF2B5EF4-FFF2-40B4-BE49-F238E27FC236}">
                <a16:creationId xmlns:a16="http://schemas.microsoft.com/office/drawing/2014/main" id="{7E79ADBD-CB2D-4025-8F86-EDDDF48CA9C9}"/>
              </a:ext>
            </a:extLst>
          </p:cNvPr>
          <p:cNvSpPr/>
          <p:nvPr/>
        </p:nvSpPr>
        <p:spPr>
          <a:xfrm>
            <a:off x="68834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82" name="직사각형 681">
            <a:extLst>
              <a:ext uri="{FF2B5EF4-FFF2-40B4-BE49-F238E27FC236}">
                <a16:creationId xmlns:a16="http://schemas.microsoft.com/office/drawing/2014/main" id="{25FA8C88-1EA3-4D58-8A35-B11FAEBE11FF}"/>
              </a:ext>
            </a:extLst>
          </p:cNvPr>
          <p:cNvSpPr/>
          <p:nvPr/>
        </p:nvSpPr>
        <p:spPr>
          <a:xfrm>
            <a:off x="69723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83" name="직사각형 682">
            <a:extLst>
              <a:ext uri="{FF2B5EF4-FFF2-40B4-BE49-F238E27FC236}">
                <a16:creationId xmlns:a16="http://schemas.microsoft.com/office/drawing/2014/main" id="{27B736F1-736D-47CA-B5FE-94F5984E94F7}"/>
              </a:ext>
            </a:extLst>
          </p:cNvPr>
          <p:cNvSpPr/>
          <p:nvPr/>
        </p:nvSpPr>
        <p:spPr>
          <a:xfrm>
            <a:off x="70612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84" name="직사각형 683">
            <a:extLst>
              <a:ext uri="{FF2B5EF4-FFF2-40B4-BE49-F238E27FC236}">
                <a16:creationId xmlns:a16="http://schemas.microsoft.com/office/drawing/2014/main" id="{A500B7BF-A90D-4DEA-A9CE-177C7E635AF2}"/>
              </a:ext>
            </a:extLst>
          </p:cNvPr>
          <p:cNvSpPr/>
          <p:nvPr/>
        </p:nvSpPr>
        <p:spPr>
          <a:xfrm>
            <a:off x="71501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85" name="직사각형 684">
            <a:extLst>
              <a:ext uri="{FF2B5EF4-FFF2-40B4-BE49-F238E27FC236}">
                <a16:creationId xmlns:a16="http://schemas.microsoft.com/office/drawing/2014/main" id="{71C6A907-004B-458F-8B4B-73819E84DC47}"/>
              </a:ext>
            </a:extLst>
          </p:cNvPr>
          <p:cNvSpPr/>
          <p:nvPr/>
        </p:nvSpPr>
        <p:spPr>
          <a:xfrm>
            <a:off x="72390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86" name="직사각형 685">
            <a:extLst>
              <a:ext uri="{FF2B5EF4-FFF2-40B4-BE49-F238E27FC236}">
                <a16:creationId xmlns:a16="http://schemas.microsoft.com/office/drawing/2014/main" id="{25365AF5-BCA0-4A3C-8609-EF18A5FD5F3E}"/>
              </a:ext>
            </a:extLst>
          </p:cNvPr>
          <p:cNvSpPr/>
          <p:nvPr/>
        </p:nvSpPr>
        <p:spPr>
          <a:xfrm>
            <a:off x="73279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87" name="직사각형 686">
            <a:extLst>
              <a:ext uri="{FF2B5EF4-FFF2-40B4-BE49-F238E27FC236}">
                <a16:creationId xmlns:a16="http://schemas.microsoft.com/office/drawing/2014/main" id="{7B1486ED-01E2-4057-B3CF-8C042459AAA5}"/>
              </a:ext>
            </a:extLst>
          </p:cNvPr>
          <p:cNvSpPr/>
          <p:nvPr/>
        </p:nvSpPr>
        <p:spPr>
          <a:xfrm>
            <a:off x="74168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88" name="직사각형 687">
            <a:extLst>
              <a:ext uri="{FF2B5EF4-FFF2-40B4-BE49-F238E27FC236}">
                <a16:creationId xmlns:a16="http://schemas.microsoft.com/office/drawing/2014/main" id="{7B27ECEE-A104-476C-B9E5-AC3DBF66F480}"/>
              </a:ext>
            </a:extLst>
          </p:cNvPr>
          <p:cNvSpPr/>
          <p:nvPr/>
        </p:nvSpPr>
        <p:spPr>
          <a:xfrm>
            <a:off x="75057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89" name="직사각형 688">
            <a:extLst>
              <a:ext uri="{FF2B5EF4-FFF2-40B4-BE49-F238E27FC236}">
                <a16:creationId xmlns:a16="http://schemas.microsoft.com/office/drawing/2014/main" id="{3DF37E1E-D138-44FB-B85E-C71C9AB0575F}"/>
              </a:ext>
            </a:extLst>
          </p:cNvPr>
          <p:cNvSpPr/>
          <p:nvPr/>
        </p:nvSpPr>
        <p:spPr>
          <a:xfrm>
            <a:off x="75946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90" name="직사각형 689">
            <a:extLst>
              <a:ext uri="{FF2B5EF4-FFF2-40B4-BE49-F238E27FC236}">
                <a16:creationId xmlns:a16="http://schemas.microsoft.com/office/drawing/2014/main" id="{10701E88-9739-4764-B28A-6124FE332CD0}"/>
              </a:ext>
            </a:extLst>
          </p:cNvPr>
          <p:cNvSpPr/>
          <p:nvPr/>
        </p:nvSpPr>
        <p:spPr>
          <a:xfrm>
            <a:off x="76835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91" name="직사각형 690">
            <a:extLst>
              <a:ext uri="{FF2B5EF4-FFF2-40B4-BE49-F238E27FC236}">
                <a16:creationId xmlns:a16="http://schemas.microsoft.com/office/drawing/2014/main" id="{CC0DA7E7-4483-4A0D-820F-C9F6F5BEC5A0}"/>
              </a:ext>
            </a:extLst>
          </p:cNvPr>
          <p:cNvSpPr/>
          <p:nvPr/>
        </p:nvSpPr>
        <p:spPr>
          <a:xfrm>
            <a:off x="77724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92" name="직사각형 691">
            <a:extLst>
              <a:ext uri="{FF2B5EF4-FFF2-40B4-BE49-F238E27FC236}">
                <a16:creationId xmlns:a16="http://schemas.microsoft.com/office/drawing/2014/main" id="{80F956F6-42A0-44A6-80D6-07D3CEEC8A2A}"/>
              </a:ext>
            </a:extLst>
          </p:cNvPr>
          <p:cNvSpPr/>
          <p:nvPr/>
        </p:nvSpPr>
        <p:spPr>
          <a:xfrm>
            <a:off x="78613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93" name="직사각형 692">
            <a:extLst>
              <a:ext uri="{FF2B5EF4-FFF2-40B4-BE49-F238E27FC236}">
                <a16:creationId xmlns:a16="http://schemas.microsoft.com/office/drawing/2014/main" id="{1B388B66-0B31-4C76-8108-05DAD55C1E25}"/>
              </a:ext>
            </a:extLst>
          </p:cNvPr>
          <p:cNvSpPr/>
          <p:nvPr/>
        </p:nvSpPr>
        <p:spPr>
          <a:xfrm>
            <a:off x="79502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94" name="직사각형 693">
            <a:extLst>
              <a:ext uri="{FF2B5EF4-FFF2-40B4-BE49-F238E27FC236}">
                <a16:creationId xmlns:a16="http://schemas.microsoft.com/office/drawing/2014/main" id="{29337B04-723C-48FF-9C11-5AE32363F41A}"/>
              </a:ext>
            </a:extLst>
          </p:cNvPr>
          <p:cNvSpPr/>
          <p:nvPr/>
        </p:nvSpPr>
        <p:spPr>
          <a:xfrm>
            <a:off x="80391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95" name="직사각형 694">
            <a:extLst>
              <a:ext uri="{FF2B5EF4-FFF2-40B4-BE49-F238E27FC236}">
                <a16:creationId xmlns:a16="http://schemas.microsoft.com/office/drawing/2014/main" id="{9CE76336-3336-4ADB-88B2-DB0B44830466}"/>
              </a:ext>
            </a:extLst>
          </p:cNvPr>
          <p:cNvSpPr/>
          <p:nvPr/>
        </p:nvSpPr>
        <p:spPr>
          <a:xfrm>
            <a:off x="81280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96" name="직사각형 695">
            <a:extLst>
              <a:ext uri="{FF2B5EF4-FFF2-40B4-BE49-F238E27FC236}">
                <a16:creationId xmlns:a16="http://schemas.microsoft.com/office/drawing/2014/main" id="{4E9018E0-AF8C-41ED-A609-2C02E7E15073}"/>
              </a:ext>
            </a:extLst>
          </p:cNvPr>
          <p:cNvSpPr/>
          <p:nvPr/>
        </p:nvSpPr>
        <p:spPr>
          <a:xfrm>
            <a:off x="82169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97" name="직사각형 696">
            <a:extLst>
              <a:ext uri="{FF2B5EF4-FFF2-40B4-BE49-F238E27FC236}">
                <a16:creationId xmlns:a16="http://schemas.microsoft.com/office/drawing/2014/main" id="{AB72D828-5775-42EE-8F07-4C51B61C6B00}"/>
              </a:ext>
            </a:extLst>
          </p:cNvPr>
          <p:cNvSpPr/>
          <p:nvPr/>
        </p:nvSpPr>
        <p:spPr>
          <a:xfrm>
            <a:off x="83058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98" name="직사각형 697">
            <a:extLst>
              <a:ext uri="{FF2B5EF4-FFF2-40B4-BE49-F238E27FC236}">
                <a16:creationId xmlns:a16="http://schemas.microsoft.com/office/drawing/2014/main" id="{D963C976-1523-4C8C-AF61-0CDBDFB0EBA4}"/>
              </a:ext>
            </a:extLst>
          </p:cNvPr>
          <p:cNvSpPr/>
          <p:nvPr/>
        </p:nvSpPr>
        <p:spPr>
          <a:xfrm>
            <a:off x="83947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99" name="직사각형 698">
            <a:extLst>
              <a:ext uri="{FF2B5EF4-FFF2-40B4-BE49-F238E27FC236}">
                <a16:creationId xmlns:a16="http://schemas.microsoft.com/office/drawing/2014/main" id="{EB2B616A-1C5E-4C3C-9EA0-7E46D56D910C}"/>
              </a:ext>
            </a:extLst>
          </p:cNvPr>
          <p:cNvSpPr/>
          <p:nvPr/>
        </p:nvSpPr>
        <p:spPr>
          <a:xfrm>
            <a:off x="84836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00" name="직사각형 699">
            <a:extLst>
              <a:ext uri="{FF2B5EF4-FFF2-40B4-BE49-F238E27FC236}">
                <a16:creationId xmlns:a16="http://schemas.microsoft.com/office/drawing/2014/main" id="{D7A18048-D9BF-496B-B1D6-26DB845CBD60}"/>
              </a:ext>
            </a:extLst>
          </p:cNvPr>
          <p:cNvSpPr/>
          <p:nvPr/>
        </p:nvSpPr>
        <p:spPr>
          <a:xfrm>
            <a:off x="85725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01" name="직사각형 700">
            <a:extLst>
              <a:ext uri="{FF2B5EF4-FFF2-40B4-BE49-F238E27FC236}">
                <a16:creationId xmlns:a16="http://schemas.microsoft.com/office/drawing/2014/main" id="{A3F0E471-9B99-4F92-A37F-17DE3F0AFD25}"/>
              </a:ext>
            </a:extLst>
          </p:cNvPr>
          <p:cNvSpPr/>
          <p:nvPr/>
        </p:nvSpPr>
        <p:spPr>
          <a:xfrm>
            <a:off x="86614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02" name="직사각형 701">
            <a:extLst>
              <a:ext uri="{FF2B5EF4-FFF2-40B4-BE49-F238E27FC236}">
                <a16:creationId xmlns:a16="http://schemas.microsoft.com/office/drawing/2014/main" id="{4CAA04CA-0C6C-44EB-BFF1-E62127DA30EC}"/>
              </a:ext>
            </a:extLst>
          </p:cNvPr>
          <p:cNvSpPr/>
          <p:nvPr/>
        </p:nvSpPr>
        <p:spPr>
          <a:xfrm>
            <a:off x="87503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03" name="직사각형 702">
            <a:extLst>
              <a:ext uri="{FF2B5EF4-FFF2-40B4-BE49-F238E27FC236}">
                <a16:creationId xmlns:a16="http://schemas.microsoft.com/office/drawing/2014/main" id="{FEF0F5FA-18A6-4706-9CE2-B928C7726B51}"/>
              </a:ext>
            </a:extLst>
          </p:cNvPr>
          <p:cNvSpPr/>
          <p:nvPr/>
        </p:nvSpPr>
        <p:spPr>
          <a:xfrm>
            <a:off x="88392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04" name="직사각형 703">
            <a:extLst>
              <a:ext uri="{FF2B5EF4-FFF2-40B4-BE49-F238E27FC236}">
                <a16:creationId xmlns:a16="http://schemas.microsoft.com/office/drawing/2014/main" id="{800D825E-F349-4586-8E25-95438E448EB9}"/>
              </a:ext>
            </a:extLst>
          </p:cNvPr>
          <p:cNvSpPr/>
          <p:nvPr/>
        </p:nvSpPr>
        <p:spPr>
          <a:xfrm>
            <a:off x="89281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05" name="직사각형 704">
            <a:extLst>
              <a:ext uri="{FF2B5EF4-FFF2-40B4-BE49-F238E27FC236}">
                <a16:creationId xmlns:a16="http://schemas.microsoft.com/office/drawing/2014/main" id="{EA8EB788-B52F-4DA5-B291-F759F97FC30A}"/>
              </a:ext>
            </a:extLst>
          </p:cNvPr>
          <p:cNvSpPr/>
          <p:nvPr/>
        </p:nvSpPr>
        <p:spPr>
          <a:xfrm>
            <a:off x="90170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06" name="직사각형 705">
            <a:extLst>
              <a:ext uri="{FF2B5EF4-FFF2-40B4-BE49-F238E27FC236}">
                <a16:creationId xmlns:a16="http://schemas.microsoft.com/office/drawing/2014/main" id="{FDB56DD6-AEFA-42CF-977E-DA966C36FB4D}"/>
              </a:ext>
            </a:extLst>
          </p:cNvPr>
          <p:cNvSpPr/>
          <p:nvPr/>
        </p:nvSpPr>
        <p:spPr>
          <a:xfrm>
            <a:off x="91059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07" name="직사각형 706">
            <a:extLst>
              <a:ext uri="{FF2B5EF4-FFF2-40B4-BE49-F238E27FC236}">
                <a16:creationId xmlns:a16="http://schemas.microsoft.com/office/drawing/2014/main" id="{2E229412-9F95-41FC-85A8-7BA27022BED6}"/>
              </a:ext>
            </a:extLst>
          </p:cNvPr>
          <p:cNvSpPr/>
          <p:nvPr/>
        </p:nvSpPr>
        <p:spPr>
          <a:xfrm>
            <a:off x="91948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08" name="직사각형 707">
            <a:extLst>
              <a:ext uri="{FF2B5EF4-FFF2-40B4-BE49-F238E27FC236}">
                <a16:creationId xmlns:a16="http://schemas.microsoft.com/office/drawing/2014/main" id="{196DA8C5-A363-465D-8095-3A1C643BF83A}"/>
              </a:ext>
            </a:extLst>
          </p:cNvPr>
          <p:cNvSpPr/>
          <p:nvPr/>
        </p:nvSpPr>
        <p:spPr>
          <a:xfrm>
            <a:off x="92837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09" name="직사각형 708">
            <a:extLst>
              <a:ext uri="{FF2B5EF4-FFF2-40B4-BE49-F238E27FC236}">
                <a16:creationId xmlns:a16="http://schemas.microsoft.com/office/drawing/2014/main" id="{86274A03-A337-4220-A447-0C9498C8DDFD}"/>
              </a:ext>
            </a:extLst>
          </p:cNvPr>
          <p:cNvSpPr/>
          <p:nvPr/>
        </p:nvSpPr>
        <p:spPr>
          <a:xfrm>
            <a:off x="93726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10" name="직사각형 709">
            <a:extLst>
              <a:ext uri="{FF2B5EF4-FFF2-40B4-BE49-F238E27FC236}">
                <a16:creationId xmlns:a16="http://schemas.microsoft.com/office/drawing/2014/main" id="{1D0C34FC-D2DF-40A5-9382-005680C38B83}"/>
              </a:ext>
            </a:extLst>
          </p:cNvPr>
          <p:cNvSpPr/>
          <p:nvPr/>
        </p:nvSpPr>
        <p:spPr>
          <a:xfrm>
            <a:off x="94615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11" name="직사각형 710">
            <a:extLst>
              <a:ext uri="{FF2B5EF4-FFF2-40B4-BE49-F238E27FC236}">
                <a16:creationId xmlns:a16="http://schemas.microsoft.com/office/drawing/2014/main" id="{D36B3843-CC40-458D-8C3E-E95BD1F1A377}"/>
              </a:ext>
            </a:extLst>
          </p:cNvPr>
          <p:cNvSpPr/>
          <p:nvPr/>
        </p:nvSpPr>
        <p:spPr>
          <a:xfrm>
            <a:off x="95504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12" name="직사각형 711">
            <a:extLst>
              <a:ext uri="{FF2B5EF4-FFF2-40B4-BE49-F238E27FC236}">
                <a16:creationId xmlns:a16="http://schemas.microsoft.com/office/drawing/2014/main" id="{D3BA1A41-4927-489A-9C4D-73DE00EC1935}"/>
              </a:ext>
            </a:extLst>
          </p:cNvPr>
          <p:cNvSpPr/>
          <p:nvPr/>
        </p:nvSpPr>
        <p:spPr>
          <a:xfrm>
            <a:off x="96393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13" name="직사각형 712">
            <a:extLst>
              <a:ext uri="{FF2B5EF4-FFF2-40B4-BE49-F238E27FC236}">
                <a16:creationId xmlns:a16="http://schemas.microsoft.com/office/drawing/2014/main" id="{52A5A18F-709E-40F2-AA64-D8E5C183D01B}"/>
              </a:ext>
            </a:extLst>
          </p:cNvPr>
          <p:cNvSpPr/>
          <p:nvPr/>
        </p:nvSpPr>
        <p:spPr>
          <a:xfrm>
            <a:off x="97282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14" name="직사각형 713">
            <a:extLst>
              <a:ext uri="{FF2B5EF4-FFF2-40B4-BE49-F238E27FC236}">
                <a16:creationId xmlns:a16="http://schemas.microsoft.com/office/drawing/2014/main" id="{C0D15006-5B1B-4563-97F8-33BC26A473E2}"/>
              </a:ext>
            </a:extLst>
          </p:cNvPr>
          <p:cNvSpPr/>
          <p:nvPr/>
        </p:nvSpPr>
        <p:spPr>
          <a:xfrm>
            <a:off x="98171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15" name="직사각형 714">
            <a:extLst>
              <a:ext uri="{FF2B5EF4-FFF2-40B4-BE49-F238E27FC236}">
                <a16:creationId xmlns:a16="http://schemas.microsoft.com/office/drawing/2014/main" id="{AA7E3148-0241-45F7-9BE6-AD657107E9DC}"/>
              </a:ext>
            </a:extLst>
          </p:cNvPr>
          <p:cNvSpPr/>
          <p:nvPr/>
        </p:nvSpPr>
        <p:spPr>
          <a:xfrm>
            <a:off x="99060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16" name="직사각형 715">
            <a:extLst>
              <a:ext uri="{FF2B5EF4-FFF2-40B4-BE49-F238E27FC236}">
                <a16:creationId xmlns:a16="http://schemas.microsoft.com/office/drawing/2014/main" id="{3C1C469F-5FA2-4A1C-AA3A-15034F53F087}"/>
              </a:ext>
            </a:extLst>
          </p:cNvPr>
          <p:cNvSpPr/>
          <p:nvPr/>
        </p:nvSpPr>
        <p:spPr>
          <a:xfrm>
            <a:off x="99949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17" name="직사각형 716">
            <a:extLst>
              <a:ext uri="{FF2B5EF4-FFF2-40B4-BE49-F238E27FC236}">
                <a16:creationId xmlns:a16="http://schemas.microsoft.com/office/drawing/2014/main" id="{2F83ADBC-9734-4ABD-878D-41976800E4B8}"/>
              </a:ext>
            </a:extLst>
          </p:cNvPr>
          <p:cNvSpPr/>
          <p:nvPr/>
        </p:nvSpPr>
        <p:spPr>
          <a:xfrm>
            <a:off x="100838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18" name="직사각형 717">
            <a:extLst>
              <a:ext uri="{FF2B5EF4-FFF2-40B4-BE49-F238E27FC236}">
                <a16:creationId xmlns:a16="http://schemas.microsoft.com/office/drawing/2014/main" id="{2063FBD1-5C7F-42C9-9E39-55B7B694A7BB}"/>
              </a:ext>
            </a:extLst>
          </p:cNvPr>
          <p:cNvSpPr/>
          <p:nvPr/>
        </p:nvSpPr>
        <p:spPr>
          <a:xfrm>
            <a:off x="101727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19" name="직사각형 718">
            <a:extLst>
              <a:ext uri="{FF2B5EF4-FFF2-40B4-BE49-F238E27FC236}">
                <a16:creationId xmlns:a16="http://schemas.microsoft.com/office/drawing/2014/main" id="{052D77D7-1578-4AA3-9AFE-7414C7A94312}"/>
              </a:ext>
            </a:extLst>
          </p:cNvPr>
          <p:cNvSpPr/>
          <p:nvPr/>
        </p:nvSpPr>
        <p:spPr>
          <a:xfrm>
            <a:off x="102616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20" name="직사각형 719">
            <a:extLst>
              <a:ext uri="{FF2B5EF4-FFF2-40B4-BE49-F238E27FC236}">
                <a16:creationId xmlns:a16="http://schemas.microsoft.com/office/drawing/2014/main" id="{E048F464-2C6A-4C43-B760-852E3B19BE6B}"/>
              </a:ext>
            </a:extLst>
          </p:cNvPr>
          <p:cNvSpPr/>
          <p:nvPr/>
        </p:nvSpPr>
        <p:spPr>
          <a:xfrm>
            <a:off x="103505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21" name="직사각형 720">
            <a:extLst>
              <a:ext uri="{FF2B5EF4-FFF2-40B4-BE49-F238E27FC236}">
                <a16:creationId xmlns:a16="http://schemas.microsoft.com/office/drawing/2014/main" id="{B550B325-F0DF-4AC3-AB5B-15BFE4BB8B34}"/>
              </a:ext>
            </a:extLst>
          </p:cNvPr>
          <p:cNvSpPr/>
          <p:nvPr/>
        </p:nvSpPr>
        <p:spPr>
          <a:xfrm>
            <a:off x="104394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22" name="직사각형 721">
            <a:extLst>
              <a:ext uri="{FF2B5EF4-FFF2-40B4-BE49-F238E27FC236}">
                <a16:creationId xmlns:a16="http://schemas.microsoft.com/office/drawing/2014/main" id="{D63C41DA-7339-4061-B04E-76BEBED4775F}"/>
              </a:ext>
            </a:extLst>
          </p:cNvPr>
          <p:cNvSpPr/>
          <p:nvPr/>
        </p:nvSpPr>
        <p:spPr>
          <a:xfrm>
            <a:off x="105283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23" name="직사각형 722">
            <a:extLst>
              <a:ext uri="{FF2B5EF4-FFF2-40B4-BE49-F238E27FC236}">
                <a16:creationId xmlns:a16="http://schemas.microsoft.com/office/drawing/2014/main" id="{3D81E10E-85DE-4D8D-A16E-4D1E305431F6}"/>
              </a:ext>
            </a:extLst>
          </p:cNvPr>
          <p:cNvSpPr/>
          <p:nvPr/>
        </p:nvSpPr>
        <p:spPr>
          <a:xfrm>
            <a:off x="106172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24" name="직사각형 723">
            <a:extLst>
              <a:ext uri="{FF2B5EF4-FFF2-40B4-BE49-F238E27FC236}">
                <a16:creationId xmlns:a16="http://schemas.microsoft.com/office/drawing/2014/main" id="{713D8816-BFE2-49DA-A844-7765E6E6F890}"/>
              </a:ext>
            </a:extLst>
          </p:cNvPr>
          <p:cNvSpPr/>
          <p:nvPr/>
        </p:nvSpPr>
        <p:spPr>
          <a:xfrm>
            <a:off x="107061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25" name="직사각형 724">
            <a:extLst>
              <a:ext uri="{FF2B5EF4-FFF2-40B4-BE49-F238E27FC236}">
                <a16:creationId xmlns:a16="http://schemas.microsoft.com/office/drawing/2014/main" id="{46E4F861-5514-4988-AE61-BB6E2412FE7B}"/>
              </a:ext>
            </a:extLst>
          </p:cNvPr>
          <p:cNvSpPr/>
          <p:nvPr/>
        </p:nvSpPr>
        <p:spPr>
          <a:xfrm>
            <a:off x="107950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26" name="직사각형 725">
            <a:extLst>
              <a:ext uri="{FF2B5EF4-FFF2-40B4-BE49-F238E27FC236}">
                <a16:creationId xmlns:a16="http://schemas.microsoft.com/office/drawing/2014/main" id="{1732B5D8-2C40-4603-8E61-8E3B0CFE2DEA}"/>
              </a:ext>
            </a:extLst>
          </p:cNvPr>
          <p:cNvSpPr/>
          <p:nvPr/>
        </p:nvSpPr>
        <p:spPr>
          <a:xfrm>
            <a:off x="10883900" y="51990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27" name="직사각형 726">
            <a:extLst>
              <a:ext uri="{FF2B5EF4-FFF2-40B4-BE49-F238E27FC236}">
                <a16:creationId xmlns:a16="http://schemas.microsoft.com/office/drawing/2014/main" id="{3682B8CD-EDA7-42B4-BAF6-1F0F561FD0E2}"/>
              </a:ext>
            </a:extLst>
          </p:cNvPr>
          <p:cNvSpPr/>
          <p:nvPr/>
        </p:nvSpPr>
        <p:spPr>
          <a:xfrm>
            <a:off x="10972800" y="5199062"/>
            <a:ext cx="127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28" name="직사각형 727">
            <a:extLst>
              <a:ext uri="{FF2B5EF4-FFF2-40B4-BE49-F238E27FC236}">
                <a16:creationId xmlns:a16="http://schemas.microsoft.com/office/drawing/2014/main" id="{65C5126B-D000-4290-B550-1B58E31E3A7A}"/>
              </a:ext>
            </a:extLst>
          </p:cNvPr>
          <p:cNvSpPr/>
          <p:nvPr/>
        </p:nvSpPr>
        <p:spPr>
          <a:xfrm>
            <a:off x="10977562" y="5207000"/>
            <a:ext cx="15875" cy="508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29" name="직사각형 728">
            <a:extLst>
              <a:ext uri="{FF2B5EF4-FFF2-40B4-BE49-F238E27FC236}">
                <a16:creationId xmlns:a16="http://schemas.microsoft.com/office/drawing/2014/main" id="{EEBBC4EC-76BA-454F-8D9F-0B0F90AA8917}"/>
              </a:ext>
            </a:extLst>
          </p:cNvPr>
          <p:cNvSpPr/>
          <p:nvPr/>
        </p:nvSpPr>
        <p:spPr>
          <a:xfrm>
            <a:off x="10977562" y="5295900"/>
            <a:ext cx="15875" cy="508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30" name="직사각형 729">
            <a:extLst>
              <a:ext uri="{FF2B5EF4-FFF2-40B4-BE49-F238E27FC236}">
                <a16:creationId xmlns:a16="http://schemas.microsoft.com/office/drawing/2014/main" id="{C4C1240A-5EBD-42A9-AC23-CFA8DEB2921F}"/>
              </a:ext>
            </a:extLst>
          </p:cNvPr>
          <p:cNvSpPr/>
          <p:nvPr/>
        </p:nvSpPr>
        <p:spPr>
          <a:xfrm>
            <a:off x="10977562" y="5384800"/>
            <a:ext cx="15875" cy="127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31" name="이등변 삼각형 730">
            <a:extLst>
              <a:ext uri="{FF2B5EF4-FFF2-40B4-BE49-F238E27FC236}">
                <a16:creationId xmlns:a16="http://schemas.microsoft.com/office/drawing/2014/main" id="{D1E55DD9-3D27-4C80-B582-BEC3CA48CCEF}"/>
              </a:ext>
            </a:extLst>
          </p:cNvPr>
          <p:cNvSpPr/>
          <p:nvPr/>
        </p:nvSpPr>
        <p:spPr>
          <a:xfrm rot="10800000">
            <a:off x="10953750" y="5334000"/>
            <a:ext cx="63500" cy="63500"/>
          </a:xfrm>
          <a:prstGeom prst="triangle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32" name="TextBox 731">
            <a:extLst>
              <a:ext uri="{FF2B5EF4-FFF2-40B4-BE49-F238E27FC236}">
                <a16:creationId xmlns:a16="http://schemas.microsoft.com/office/drawing/2014/main" id="{EB14AE84-A620-4792-BA0B-2B13999F09EC}"/>
              </a:ext>
            </a:extLst>
          </p:cNvPr>
          <p:cNvSpPr txBox="1"/>
          <p:nvPr/>
        </p:nvSpPr>
        <p:spPr>
          <a:xfrm>
            <a:off x="4064000" y="4572000"/>
            <a:ext cx="508000" cy="1397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700" i="1">
                <a:solidFill>
                  <a:srgbClr val="D97A2E"/>
                </a:solidFill>
                <a:latin typeface="Pretendard"/>
                <a:ea typeface="Pretendard"/>
                <a:cs typeface="Pretendard"/>
              </a:rPr>
              <a:t>LLM ①</a:t>
            </a:r>
            <a:endParaRPr lang="ko-KR" altLang="en-US" sz="700" i="1">
              <a:solidFill>
                <a:srgbClr val="D97A2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33" name="직사각형 732">
            <a:extLst>
              <a:ext uri="{FF2B5EF4-FFF2-40B4-BE49-F238E27FC236}">
                <a16:creationId xmlns:a16="http://schemas.microsoft.com/office/drawing/2014/main" id="{8E9360BA-D1A8-4014-AFFB-2DC40C3D1FBE}"/>
              </a:ext>
            </a:extLst>
          </p:cNvPr>
          <p:cNvSpPr/>
          <p:nvPr/>
        </p:nvSpPr>
        <p:spPr>
          <a:xfrm>
            <a:off x="6151562" y="4165600"/>
            <a:ext cx="15875" cy="508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34" name="직사각형 733">
            <a:extLst>
              <a:ext uri="{FF2B5EF4-FFF2-40B4-BE49-F238E27FC236}">
                <a16:creationId xmlns:a16="http://schemas.microsoft.com/office/drawing/2014/main" id="{70A21C6E-1BD5-47FD-9EE5-5E699F8F40BA}"/>
              </a:ext>
            </a:extLst>
          </p:cNvPr>
          <p:cNvSpPr/>
          <p:nvPr/>
        </p:nvSpPr>
        <p:spPr>
          <a:xfrm>
            <a:off x="6151562" y="4254500"/>
            <a:ext cx="15875" cy="508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35" name="직사각형 734">
            <a:extLst>
              <a:ext uri="{FF2B5EF4-FFF2-40B4-BE49-F238E27FC236}">
                <a16:creationId xmlns:a16="http://schemas.microsoft.com/office/drawing/2014/main" id="{B06F798A-376F-43D9-A839-4BFD8BCD5D65}"/>
              </a:ext>
            </a:extLst>
          </p:cNvPr>
          <p:cNvSpPr/>
          <p:nvPr/>
        </p:nvSpPr>
        <p:spPr>
          <a:xfrm>
            <a:off x="6151562" y="4343400"/>
            <a:ext cx="15875" cy="508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36" name="직사각형 735">
            <a:extLst>
              <a:ext uri="{FF2B5EF4-FFF2-40B4-BE49-F238E27FC236}">
                <a16:creationId xmlns:a16="http://schemas.microsoft.com/office/drawing/2014/main" id="{01F6BF41-0B16-44F9-984D-1E40318FA542}"/>
              </a:ext>
            </a:extLst>
          </p:cNvPr>
          <p:cNvSpPr/>
          <p:nvPr/>
        </p:nvSpPr>
        <p:spPr>
          <a:xfrm>
            <a:off x="6151562" y="4432300"/>
            <a:ext cx="15875" cy="508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37" name="직사각형 736">
            <a:extLst>
              <a:ext uri="{FF2B5EF4-FFF2-40B4-BE49-F238E27FC236}">
                <a16:creationId xmlns:a16="http://schemas.microsoft.com/office/drawing/2014/main" id="{F5077102-E5BC-4784-B8A2-BBCAF0239866}"/>
              </a:ext>
            </a:extLst>
          </p:cNvPr>
          <p:cNvSpPr/>
          <p:nvPr/>
        </p:nvSpPr>
        <p:spPr>
          <a:xfrm>
            <a:off x="6151562" y="4521200"/>
            <a:ext cx="15875" cy="508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38" name="직사각형 737">
            <a:extLst>
              <a:ext uri="{FF2B5EF4-FFF2-40B4-BE49-F238E27FC236}">
                <a16:creationId xmlns:a16="http://schemas.microsoft.com/office/drawing/2014/main" id="{011AF509-DDBE-4D95-B321-2EC62599140A}"/>
              </a:ext>
            </a:extLst>
          </p:cNvPr>
          <p:cNvSpPr/>
          <p:nvPr/>
        </p:nvSpPr>
        <p:spPr>
          <a:xfrm>
            <a:off x="6151562" y="4610100"/>
            <a:ext cx="15875" cy="508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39" name="직사각형 738">
            <a:extLst>
              <a:ext uri="{FF2B5EF4-FFF2-40B4-BE49-F238E27FC236}">
                <a16:creationId xmlns:a16="http://schemas.microsoft.com/office/drawing/2014/main" id="{24A51660-1B92-478F-84EA-7E9F7F018931}"/>
              </a:ext>
            </a:extLst>
          </p:cNvPr>
          <p:cNvSpPr/>
          <p:nvPr/>
        </p:nvSpPr>
        <p:spPr>
          <a:xfrm>
            <a:off x="6151562" y="4699000"/>
            <a:ext cx="15875" cy="508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40" name="직사각형 739">
            <a:extLst>
              <a:ext uri="{FF2B5EF4-FFF2-40B4-BE49-F238E27FC236}">
                <a16:creationId xmlns:a16="http://schemas.microsoft.com/office/drawing/2014/main" id="{881D2272-1C9C-4928-AA13-AB5658915A29}"/>
              </a:ext>
            </a:extLst>
          </p:cNvPr>
          <p:cNvSpPr/>
          <p:nvPr/>
        </p:nvSpPr>
        <p:spPr>
          <a:xfrm>
            <a:off x="6151562" y="4787900"/>
            <a:ext cx="15875" cy="508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41" name="직사각형 740">
            <a:extLst>
              <a:ext uri="{FF2B5EF4-FFF2-40B4-BE49-F238E27FC236}">
                <a16:creationId xmlns:a16="http://schemas.microsoft.com/office/drawing/2014/main" id="{530D97FC-4EB3-40AC-A492-772F654B38F7}"/>
              </a:ext>
            </a:extLst>
          </p:cNvPr>
          <p:cNvSpPr/>
          <p:nvPr/>
        </p:nvSpPr>
        <p:spPr>
          <a:xfrm>
            <a:off x="6151562" y="4876800"/>
            <a:ext cx="15875" cy="508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42" name="직사각형 741">
            <a:extLst>
              <a:ext uri="{FF2B5EF4-FFF2-40B4-BE49-F238E27FC236}">
                <a16:creationId xmlns:a16="http://schemas.microsoft.com/office/drawing/2014/main" id="{207034D4-317C-42B3-83E4-1A1D83BBC25B}"/>
              </a:ext>
            </a:extLst>
          </p:cNvPr>
          <p:cNvSpPr/>
          <p:nvPr/>
        </p:nvSpPr>
        <p:spPr>
          <a:xfrm>
            <a:off x="6151562" y="4965700"/>
            <a:ext cx="15875" cy="508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43" name="직사각형 742">
            <a:extLst>
              <a:ext uri="{FF2B5EF4-FFF2-40B4-BE49-F238E27FC236}">
                <a16:creationId xmlns:a16="http://schemas.microsoft.com/office/drawing/2014/main" id="{E32A07FB-CEA7-4E17-9500-41A8B26DDFD1}"/>
              </a:ext>
            </a:extLst>
          </p:cNvPr>
          <p:cNvSpPr/>
          <p:nvPr/>
        </p:nvSpPr>
        <p:spPr>
          <a:xfrm>
            <a:off x="6151562" y="5054600"/>
            <a:ext cx="15875" cy="508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44" name="직사각형 743">
            <a:extLst>
              <a:ext uri="{FF2B5EF4-FFF2-40B4-BE49-F238E27FC236}">
                <a16:creationId xmlns:a16="http://schemas.microsoft.com/office/drawing/2014/main" id="{7606D1D4-4A56-4EBF-BDE3-87C9A2B502BE}"/>
              </a:ext>
            </a:extLst>
          </p:cNvPr>
          <p:cNvSpPr/>
          <p:nvPr/>
        </p:nvSpPr>
        <p:spPr>
          <a:xfrm>
            <a:off x="6151562" y="5143500"/>
            <a:ext cx="15875" cy="508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45" name="직사각형 744">
            <a:extLst>
              <a:ext uri="{FF2B5EF4-FFF2-40B4-BE49-F238E27FC236}">
                <a16:creationId xmlns:a16="http://schemas.microsoft.com/office/drawing/2014/main" id="{4B9A307B-049C-4DF8-A255-AD25D40D2958}"/>
              </a:ext>
            </a:extLst>
          </p:cNvPr>
          <p:cNvSpPr/>
          <p:nvPr/>
        </p:nvSpPr>
        <p:spPr>
          <a:xfrm>
            <a:off x="6151562" y="5232400"/>
            <a:ext cx="15875" cy="127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46" name="직사각형 745">
            <a:extLst>
              <a:ext uri="{FF2B5EF4-FFF2-40B4-BE49-F238E27FC236}">
                <a16:creationId xmlns:a16="http://schemas.microsoft.com/office/drawing/2014/main" id="{D28F8910-D03F-4E78-939D-9229E20955BB}"/>
              </a:ext>
            </a:extLst>
          </p:cNvPr>
          <p:cNvSpPr/>
          <p:nvPr/>
        </p:nvSpPr>
        <p:spPr>
          <a:xfrm>
            <a:off x="61595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47" name="직사각형 746">
            <a:extLst>
              <a:ext uri="{FF2B5EF4-FFF2-40B4-BE49-F238E27FC236}">
                <a16:creationId xmlns:a16="http://schemas.microsoft.com/office/drawing/2014/main" id="{55203BC0-9D2C-44AD-BE71-748A573F9B17}"/>
              </a:ext>
            </a:extLst>
          </p:cNvPr>
          <p:cNvSpPr/>
          <p:nvPr/>
        </p:nvSpPr>
        <p:spPr>
          <a:xfrm>
            <a:off x="62484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48" name="직사각형 747">
            <a:extLst>
              <a:ext uri="{FF2B5EF4-FFF2-40B4-BE49-F238E27FC236}">
                <a16:creationId xmlns:a16="http://schemas.microsoft.com/office/drawing/2014/main" id="{32C17E2F-0BA6-4EF2-950D-CFDEF20A753B}"/>
              </a:ext>
            </a:extLst>
          </p:cNvPr>
          <p:cNvSpPr/>
          <p:nvPr/>
        </p:nvSpPr>
        <p:spPr>
          <a:xfrm>
            <a:off x="63373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49" name="직사각형 748">
            <a:extLst>
              <a:ext uri="{FF2B5EF4-FFF2-40B4-BE49-F238E27FC236}">
                <a16:creationId xmlns:a16="http://schemas.microsoft.com/office/drawing/2014/main" id="{FE26EE96-EA25-46E1-A668-71BF525EF59B}"/>
              </a:ext>
            </a:extLst>
          </p:cNvPr>
          <p:cNvSpPr/>
          <p:nvPr/>
        </p:nvSpPr>
        <p:spPr>
          <a:xfrm>
            <a:off x="64262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50" name="직사각형 749">
            <a:extLst>
              <a:ext uri="{FF2B5EF4-FFF2-40B4-BE49-F238E27FC236}">
                <a16:creationId xmlns:a16="http://schemas.microsoft.com/office/drawing/2014/main" id="{8EC52350-81A2-4FE0-A1F6-D115C56BB7E2}"/>
              </a:ext>
            </a:extLst>
          </p:cNvPr>
          <p:cNvSpPr/>
          <p:nvPr/>
        </p:nvSpPr>
        <p:spPr>
          <a:xfrm>
            <a:off x="65151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51" name="직사각형 750">
            <a:extLst>
              <a:ext uri="{FF2B5EF4-FFF2-40B4-BE49-F238E27FC236}">
                <a16:creationId xmlns:a16="http://schemas.microsoft.com/office/drawing/2014/main" id="{A84966F8-DEE1-4A2A-886C-832FB1B94EE7}"/>
              </a:ext>
            </a:extLst>
          </p:cNvPr>
          <p:cNvSpPr/>
          <p:nvPr/>
        </p:nvSpPr>
        <p:spPr>
          <a:xfrm>
            <a:off x="66040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52" name="직사각형 751">
            <a:extLst>
              <a:ext uri="{FF2B5EF4-FFF2-40B4-BE49-F238E27FC236}">
                <a16:creationId xmlns:a16="http://schemas.microsoft.com/office/drawing/2014/main" id="{1EEE97F9-4090-4136-A519-5013768D391B}"/>
              </a:ext>
            </a:extLst>
          </p:cNvPr>
          <p:cNvSpPr/>
          <p:nvPr/>
        </p:nvSpPr>
        <p:spPr>
          <a:xfrm>
            <a:off x="66929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53" name="직사각형 752">
            <a:extLst>
              <a:ext uri="{FF2B5EF4-FFF2-40B4-BE49-F238E27FC236}">
                <a16:creationId xmlns:a16="http://schemas.microsoft.com/office/drawing/2014/main" id="{9FF9B7F1-236E-45E3-9E86-1173D5526C5D}"/>
              </a:ext>
            </a:extLst>
          </p:cNvPr>
          <p:cNvSpPr/>
          <p:nvPr/>
        </p:nvSpPr>
        <p:spPr>
          <a:xfrm>
            <a:off x="67818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54" name="직사각형 753">
            <a:extLst>
              <a:ext uri="{FF2B5EF4-FFF2-40B4-BE49-F238E27FC236}">
                <a16:creationId xmlns:a16="http://schemas.microsoft.com/office/drawing/2014/main" id="{0A2709AF-559F-4019-B377-4E05EDA4F5A4}"/>
              </a:ext>
            </a:extLst>
          </p:cNvPr>
          <p:cNvSpPr/>
          <p:nvPr/>
        </p:nvSpPr>
        <p:spPr>
          <a:xfrm>
            <a:off x="68707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55" name="직사각형 754">
            <a:extLst>
              <a:ext uri="{FF2B5EF4-FFF2-40B4-BE49-F238E27FC236}">
                <a16:creationId xmlns:a16="http://schemas.microsoft.com/office/drawing/2014/main" id="{600DBB6F-B0E7-4162-9FD9-B8DF9CA19964}"/>
              </a:ext>
            </a:extLst>
          </p:cNvPr>
          <p:cNvSpPr/>
          <p:nvPr/>
        </p:nvSpPr>
        <p:spPr>
          <a:xfrm>
            <a:off x="69596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56" name="직사각형 755">
            <a:extLst>
              <a:ext uri="{FF2B5EF4-FFF2-40B4-BE49-F238E27FC236}">
                <a16:creationId xmlns:a16="http://schemas.microsoft.com/office/drawing/2014/main" id="{7FDE6E25-7788-40A1-95B9-DE0D725A9483}"/>
              </a:ext>
            </a:extLst>
          </p:cNvPr>
          <p:cNvSpPr/>
          <p:nvPr/>
        </p:nvSpPr>
        <p:spPr>
          <a:xfrm>
            <a:off x="70485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57" name="직사각형 756">
            <a:extLst>
              <a:ext uri="{FF2B5EF4-FFF2-40B4-BE49-F238E27FC236}">
                <a16:creationId xmlns:a16="http://schemas.microsoft.com/office/drawing/2014/main" id="{C90FCE90-EF02-4A72-AD93-227AFD4C8EE0}"/>
              </a:ext>
            </a:extLst>
          </p:cNvPr>
          <p:cNvSpPr/>
          <p:nvPr/>
        </p:nvSpPr>
        <p:spPr>
          <a:xfrm>
            <a:off x="71374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58" name="직사각형 757">
            <a:extLst>
              <a:ext uri="{FF2B5EF4-FFF2-40B4-BE49-F238E27FC236}">
                <a16:creationId xmlns:a16="http://schemas.microsoft.com/office/drawing/2014/main" id="{4BBCA1FC-A0A1-445D-B556-ECD4F5A305B0}"/>
              </a:ext>
            </a:extLst>
          </p:cNvPr>
          <p:cNvSpPr/>
          <p:nvPr/>
        </p:nvSpPr>
        <p:spPr>
          <a:xfrm>
            <a:off x="72263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59" name="직사각형 758">
            <a:extLst>
              <a:ext uri="{FF2B5EF4-FFF2-40B4-BE49-F238E27FC236}">
                <a16:creationId xmlns:a16="http://schemas.microsoft.com/office/drawing/2014/main" id="{6402597A-CC49-4DC2-968F-E8388B2AA414}"/>
              </a:ext>
            </a:extLst>
          </p:cNvPr>
          <p:cNvSpPr/>
          <p:nvPr/>
        </p:nvSpPr>
        <p:spPr>
          <a:xfrm>
            <a:off x="73152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60" name="직사각형 759">
            <a:extLst>
              <a:ext uri="{FF2B5EF4-FFF2-40B4-BE49-F238E27FC236}">
                <a16:creationId xmlns:a16="http://schemas.microsoft.com/office/drawing/2014/main" id="{5AF19DF0-CE84-4752-9AC5-0A865DB04BFD}"/>
              </a:ext>
            </a:extLst>
          </p:cNvPr>
          <p:cNvSpPr/>
          <p:nvPr/>
        </p:nvSpPr>
        <p:spPr>
          <a:xfrm>
            <a:off x="74041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61" name="직사각형 760">
            <a:extLst>
              <a:ext uri="{FF2B5EF4-FFF2-40B4-BE49-F238E27FC236}">
                <a16:creationId xmlns:a16="http://schemas.microsoft.com/office/drawing/2014/main" id="{6A346C6D-394F-4508-B01E-C06C84B126D4}"/>
              </a:ext>
            </a:extLst>
          </p:cNvPr>
          <p:cNvSpPr/>
          <p:nvPr/>
        </p:nvSpPr>
        <p:spPr>
          <a:xfrm>
            <a:off x="74930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62" name="직사각형 761">
            <a:extLst>
              <a:ext uri="{FF2B5EF4-FFF2-40B4-BE49-F238E27FC236}">
                <a16:creationId xmlns:a16="http://schemas.microsoft.com/office/drawing/2014/main" id="{DFC1158B-0524-440E-825F-D494CE7E69E9}"/>
              </a:ext>
            </a:extLst>
          </p:cNvPr>
          <p:cNvSpPr/>
          <p:nvPr/>
        </p:nvSpPr>
        <p:spPr>
          <a:xfrm>
            <a:off x="75819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63" name="직사각형 762">
            <a:extLst>
              <a:ext uri="{FF2B5EF4-FFF2-40B4-BE49-F238E27FC236}">
                <a16:creationId xmlns:a16="http://schemas.microsoft.com/office/drawing/2014/main" id="{DDDBE236-D902-44C5-8B8B-23F627AC0459}"/>
              </a:ext>
            </a:extLst>
          </p:cNvPr>
          <p:cNvSpPr/>
          <p:nvPr/>
        </p:nvSpPr>
        <p:spPr>
          <a:xfrm>
            <a:off x="76708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64" name="직사각형 763">
            <a:extLst>
              <a:ext uri="{FF2B5EF4-FFF2-40B4-BE49-F238E27FC236}">
                <a16:creationId xmlns:a16="http://schemas.microsoft.com/office/drawing/2014/main" id="{9AF6B240-8C31-4EAC-81C7-69B713FF4C2B}"/>
              </a:ext>
            </a:extLst>
          </p:cNvPr>
          <p:cNvSpPr/>
          <p:nvPr/>
        </p:nvSpPr>
        <p:spPr>
          <a:xfrm>
            <a:off x="77597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65" name="직사각형 764">
            <a:extLst>
              <a:ext uri="{FF2B5EF4-FFF2-40B4-BE49-F238E27FC236}">
                <a16:creationId xmlns:a16="http://schemas.microsoft.com/office/drawing/2014/main" id="{D23F047D-F781-4C5F-B24A-5745B28F861F}"/>
              </a:ext>
            </a:extLst>
          </p:cNvPr>
          <p:cNvSpPr/>
          <p:nvPr/>
        </p:nvSpPr>
        <p:spPr>
          <a:xfrm>
            <a:off x="78486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66" name="직사각형 765">
            <a:extLst>
              <a:ext uri="{FF2B5EF4-FFF2-40B4-BE49-F238E27FC236}">
                <a16:creationId xmlns:a16="http://schemas.microsoft.com/office/drawing/2014/main" id="{234E8FD4-0D4B-411C-9997-ADD99B941BC3}"/>
              </a:ext>
            </a:extLst>
          </p:cNvPr>
          <p:cNvSpPr/>
          <p:nvPr/>
        </p:nvSpPr>
        <p:spPr>
          <a:xfrm>
            <a:off x="79375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67" name="직사각형 766">
            <a:extLst>
              <a:ext uri="{FF2B5EF4-FFF2-40B4-BE49-F238E27FC236}">
                <a16:creationId xmlns:a16="http://schemas.microsoft.com/office/drawing/2014/main" id="{F71F7B35-83F1-4798-8222-AB9B266037B6}"/>
              </a:ext>
            </a:extLst>
          </p:cNvPr>
          <p:cNvSpPr/>
          <p:nvPr/>
        </p:nvSpPr>
        <p:spPr>
          <a:xfrm>
            <a:off x="80264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68" name="직사각형 767">
            <a:extLst>
              <a:ext uri="{FF2B5EF4-FFF2-40B4-BE49-F238E27FC236}">
                <a16:creationId xmlns:a16="http://schemas.microsoft.com/office/drawing/2014/main" id="{9EC42765-065A-467A-A704-E91AFF2463F7}"/>
              </a:ext>
            </a:extLst>
          </p:cNvPr>
          <p:cNvSpPr/>
          <p:nvPr/>
        </p:nvSpPr>
        <p:spPr>
          <a:xfrm>
            <a:off x="81153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69" name="직사각형 768">
            <a:extLst>
              <a:ext uri="{FF2B5EF4-FFF2-40B4-BE49-F238E27FC236}">
                <a16:creationId xmlns:a16="http://schemas.microsoft.com/office/drawing/2014/main" id="{EE53C5BF-F05D-4CB1-96C4-C979E136A19C}"/>
              </a:ext>
            </a:extLst>
          </p:cNvPr>
          <p:cNvSpPr/>
          <p:nvPr/>
        </p:nvSpPr>
        <p:spPr>
          <a:xfrm>
            <a:off x="82042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70" name="직사각형 769">
            <a:extLst>
              <a:ext uri="{FF2B5EF4-FFF2-40B4-BE49-F238E27FC236}">
                <a16:creationId xmlns:a16="http://schemas.microsoft.com/office/drawing/2014/main" id="{B68E5A87-4190-4DEF-A620-7B18F11A91A7}"/>
              </a:ext>
            </a:extLst>
          </p:cNvPr>
          <p:cNvSpPr/>
          <p:nvPr/>
        </p:nvSpPr>
        <p:spPr>
          <a:xfrm>
            <a:off x="82931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71" name="직사각형 770">
            <a:extLst>
              <a:ext uri="{FF2B5EF4-FFF2-40B4-BE49-F238E27FC236}">
                <a16:creationId xmlns:a16="http://schemas.microsoft.com/office/drawing/2014/main" id="{5367954A-DC94-43CA-8646-92FA8D5AE899}"/>
              </a:ext>
            </a:extLst>
          </p:cNvPr>
          <p:cNvSpPr/>
          <p:nvPr/>
        </p:nvSpPr>
        <p:spPr>
          <a:xfrm>
            <a:off x="83820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72" name="직사각형 771">
            <a:extLst>
              <a:ext uri="{FF2B5EF4-FFF2-40B4-BE49-F238E27FC236}">
                <a16:creationId xmlns:a16="http://schemas.microsoft.com/office/drawing/2014/main" id="{C52AF3DA-7F1F-41BD-969F-55B81FE87081}"/>
              </a:ext>
            </a:extLst>
          </p:cNvPr>
          <p:cNvSpPr/>
          <p:nvPr/>
        </p:nvSpPr>
        <p:spPr>
          <a:xfrm>
            <a:off x="84709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73" name="직사각형 772">
            <a:extLst>
              <a:ext uri="{FF2B5EF4-FFF2-40B4-BE49-F238E27FC236}">
                <a16:creationId xmlns:a16="http://schemas.microsoft.com/office/drawing/2014/main" id="{08744CB9-FD19-4AA6-97C5-39C528469F31}"/>
              </a:ext>
            </a:extLst>
          </p:cNvPr>
          <p:cNvSpPr/>
          <p:nvPr/>
        </p:nvSpPr>
        <p:spPr>
          <a:xfrm>
            <a:off x="85598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74" name="직사각형 773">
            <a:extLst>
              <a:ext uri="{FF2B5EF4-FFF2-40B4-BE49-F238E27FC236}">
                <a16:creationId xmlns:a16="http://schemas.microsoft.com/office/drawing/2014/main" id="{CC719EDD-CF81-4E65-94CC-73606B24C24F}"/>
              </a:ext>
            </a:extLst>
          </p:cNvPr>
          <p:cNvSpPr/>
          <p:nvPr/>
        </p:nvSpPr>
        <p:spPr>
          <a:xfrm>
            <a:off x="86487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75" name="직사각형 774">
            <a:extLst>
              <a:ext uri="{FF2B5EF4-FFF2-40B4-BE49-F238E27FC236}">
                <a16:creationId xmlns:a16="http://schemas.microsoft.com/office/drawing/2014/main" id="{68894EB5-C8D3-4E0A-A20A-96E78154A0F9}"/>
              </a:ext>
            </a:extLst>
          </p:cNvPr>
          <p:cNvSpPr/>
          <p:nvPr/>
        </p:nvSpPr>
        <p:spPr>
          <a:xfrm>
            <a:off x="87376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76" name="직사각형 775">
            <a:extLst>
              <a:ext uri="{FF2B5EF4-FFF2-40B4-BE49-F238E27FC236}">
                <a16:creationId xmlns:a16="http://schemas.microsoft.com/office/drawing/2014/main" id="{49127780-432A-48E9-B816-090EB15B0D5C}"/>
              </a:ext>
            </a:extLst>
          </p:cNvPr>
          <p:cNvSpPr/>
          <p:nvPr/>
        </p:nvSpPr>
        <p:spPr>
          <a:xfrm>
            <a:off x="88265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77" name="직사각형 776">
            <a:extLst>
              <a:ext uri="{FF2B5EF4-FFF2-40B4-BE49-F238E27FC236}">
                <a16:creationId xmlns:a16="http://schemas.microsoft.com/office/drawing/2014/main" id="{B5679167-7500-44EE-B8E6-887091D72404}"/>
              </a:ext>
            </a:extLst>
          </p:cNvPr>
          <p:cNvSpPr/>
          <p:nvPr/>
        </p:nvSpPr>
        <p:spPr>
          <a:xfrm>
            <a:off x="89154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78" name="직사각형 777">
            <a:extLst>
              <a:ext uri="{FF2B5EF4-FFF2-40B4-BE49-F238E27FC236}">
                <a16:creationId xmlns:a16="http://schemas.microsoft.com/office/drawing/2014/main" id="{34EAB710-03E6-4BB8-82E6-38E3D22F0F10}"/>
              </a:ext>
            </a:extLst>
          </p:cNvPr>
          <p:cNvSpPr/>
          <p:nvPr/>
        </p:nvSpPr>
        <p:spPr>
          <a:xfrm>
            <a:off x="90043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79" name="직사각형 778">
            <a:extLst>
              <a:ext uri="{FF2B5EF4-FFF2-40B4-BE49-F238E27FC236}">
                <a16:creationId xmlns:a16="http://schemas.microsoft.com/office/drawing/2014/main" id="{BBF93396-EAE9-4CD7-8C12-F737F8E05E1E}"/>
              </a:ext>
            </a:extLst>
          </p:cNvPr>
          <p:cNvSpPr/>
          <p:nvPr/>
        </p:nvSpPr>
        <p:spPr>
          <a:xfrm>
            <a:off x="9093200" y="5237162"/>
            <a:ext cx="50800" cy="15875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80" name="직사각형 779">
            <a:extLst>
              <a:ext uri="{FF2B5EF4-FFF2-40B4-BE49-F238E27FC236}">
                <a16:creationId xmlns:a16="http://schemas.microsoft.com/office/drawing/2014/main" id="{0BF41D96-9FF1-422F-93F3-271FF938624A}"/>
              </a:ext>
            </a:extLst>
          </p:cNvPr>
          <p:cNvSpPr/>
          <p:nvPr/>
        </p:nvSpPr>
        <p:spPr>
          <a:xfrm>
            <a:off x="7231062" y="5245100"/>
            <a:ext cx="15875" cy="508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81" name="직사각형 780">
            <a:extLst>
              <a:ext uri="{FF2B5EF4-FFF2-40B4-BE49-F238E27FC236}">
                <a16:creationId xmlns:a16="http://schemas.microsoft.com/office/drawing/2014/main" id="{BD004020-8B72-459C-8297-34E5CFDF203D}"/>
              </a:ext>
            </a:extLst>
          </p:cNvPr>
          <p:cNvSpPr/>
          <p:nvPr/>
        </p:nvSpPr>
        <p:spPr>
          <a:xfrm>
            <a:off x="7231062" y="5334000"/>
            <a:ext cx="15875" cy="508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82" name="이등변 삼각형 781">
            <a:extLst>
              <a:ext uri="{FF2B5EF4-FFF2-40B4-BE49-F238E27FC236}">
                <a16:creationId xmlns:a16="http://schemas.microsoft.com/office/drawing/2014/main" id="{CA395F54-2422-4AD0-A0C0-3F121C763373}"/>
              </a:ext>
            </a:extLst>
          </p:cNvPr>
          <p:cNvSpPr/>
          <p:nvPr/>
        </p:nvSpPr>
        <p:spPr>
          <a:xfrm rot="10800000">
            <a:off x="7207250" y="5334000"/>
            <a:ext cx="63500" cy="63500"/>
          </a:xfrm>
          <a:prstGeom prst="triangle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83" name="직사각형 782">
            <a:extLst>
              <a:ext uri="{FF2B5EF4-FFF2-40B4-BE49-F238E27FC236}">
                <a16:creationId xmlns:a16="http://schemas.microsoft.com/office/drawing/2014/main" id="{DA98730B-D520-422C-94B0-EFC13D13E954}"/>
              </a:ext>
            </a:extLst>
          </p:cNvPr>
          <p:cNvSpPr/>
          <p:nvPr/>
        </p:nvSpPr>
        <p:spPr>
          <a:xfrm>
            <a:off x="9097962" y="5245100"/>
            <a:ext cx="15875" cy="508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84" name="직사각형 783">
            <a:extLst>
              <a:ext uri="{FF2B5EF4-FFF2-40B4-BE49-F238E27FC236}">
                <a16:creationId xmlns:a16="http://schemas.microsoft.com/office/drawing/2014/main" id="{21DE2975-4BAB-447B-9DCC-C0DB269E0E96}"/>
              </a:ext>
            </a:extLst>
          </p:cNvPr>
          <p:cNvSpPr/>
          <p:nvPr/>
        </p:nvSpPr>
        <p:spPr>
          <a:xfrm>
            <a:off x="9097962" y="5334000"/>
            <a:ext cx="15875" cy="50800"/>
          </a:xfrm>
          <a:prstGeom prst="rect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85" name="이등변 삼각형 784">
            <a:extLst>
              <a:ext uri="{FF2B5EF4-FFF2-40B4-BE49-F238E27FC236}">
                <a16:creationId xmlns:a16="http://schemas.microsoft.com/office/drawing/2014/main" id="{36CD89D8-3D73-43BA-A23B-FC7FA081A4A4}"/>
              </a:ext>
            </a:extLst>
          </p:cNvPr>
          <p:cNvSpPr/>
          <p:nvPr/>
        </p:nvSpPr>
        <p:spPr>
          <a:xfrm rot="10800000">
            <a:off x="9074150" y="5334000"/>
            <a:ext cx="63500" cy="63500"/>
          </a:xfrm>
          <a:prstGeom prst="triangle">
            <a:avLst/>
          </a:prstGeom>
          <a:solidFill>
            <a:srgbClr val="D97A2E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86" name="TextBox 785">
            <a:extLst>
              <a:ext uri="{FF2B5EF4-FFF2-40B4-BE49-F238E27FC236}">
                <a16:creationId xmlns:a16="http://schemas.microsoft.com/office/drawing/2014/main" id="{E310452C-677E-4E46-85C1-DFB2ACC889DB}"/>
              </a:ext>
            </a:extLst>
          </p:cNvPr>
          <p:cNvSpPr txBox="1"/>
          <p:nvPr/>
        </p:nvSpPr>
        <p:spPr>
          <a:xfrm>
            <a:off x="6197600" y="4572000"/>
            <a:ext cx="635000" cy="1397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700" i="1">
                <a:solidFill>
                  <a:srgbClr val="D97A2E"/>
                </a:solidFill>
                <a:latin typeface="Pretendard"/>
                <a:ea typeface="Pretendard"/>
                <a:cs typeface="Pretendard"/>
              </a:rPr>
              <a:t>LLM ②③</a:t>
            </a:r>
            <a:endParaRPr lang="ko-KR" altLang="en-US" sz="700" i="1">
              <a:solidFill>
                <a:srgbClr val="D97A2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87" name="TextBox 786">
            <a:extLst>
              <a:ext uri="{FF2B5EF4-FFF2-40B4-BE49-F238E27FC236}">
                <a16:creationId xmlns:a16="http://schemas.microsoft.com/office/drawing/2014/main" id="{0DC6F638-392E-480A-9CFC-A8818E5F18A3}"/>
              </a:ext>
            </a:extLst>
          </p:cNvPr>
          <p:cNvSpPr txBox="1"/>
          <p:nvPr/>
        </p:nvSpPr>
        <p:spPr>
          <a:xfrm>
            <a:off x="7620000" y="5270500"/>
            <a:ext cx="635000" cy="1397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700" i="1">
                <a:solidFill>
                  <a:srgbClr val="D97A2E"/>
                </a:solidFill>
                <a:latin typeface="Pretendard"/>
                <a:ea typeface="Pretendard"/>
                <a:cs typeface="Pretendard"/>
              </a:rPr>
              <a:t>long doc</a:t>
            </a:r>
            <a:endParaRPr lang="ko-KR" altLang="en-US" sz="700" i="1">
              <a:solidFill>
                <a:srgbClr val="D97A2E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947271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C2C5A"/>
                </a:solidFill>
                <a:latin typeface="Pretendard"/>
              </a:rPr>
              <a:t>Multi-Agent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 spc="200">
                <a:solidFill>
                  <a:srgbClr val="1C2C5A"/>
                </a:solidFill>
                <a:latin typeface="Pretendard"/>
              </a:rPr>
              <a:t>MULTI-AGENT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8686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A supervisor pattern: the Router classifies queries</a:t>
            </a:r>
          </a:p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and delegates to four domain experts.</a:t>
            </a:r>
          </a:p>
        </p:txBody>
      </p:sp>
      <p:sp>
        <p:nvSpPr>
          <p:cNvPr id="7" name="Oval 6"/>
          <p:cNvSpPr/>
          <p:nvPr/>
        </p:nvSpPr>
        <p:spPr>
          <a:xfrm>
            <a:off x="1280160" y="3017520"/>
            <a:ext cx="1828800" cy="1828800"/>
          </a:xfrm>
          <a:prstGeom prst="ellipse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36576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Pretendard"/>
              </a:rPr>
              <a:t>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9776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Pretendard"/>
              </a:rP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3434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1">
                <a:solidFill>
                  <a:srgbClr val="C9D1E5"/>
                </a:solidFill>
                <a:latin typeface="Pretendard"/>
              </a:rPr>
              <a:t>Classifies user query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108960" y="0"/>
            <a:ext cx="2880360" cy="0"/>
          </a:xfrm>
          <a:prstGeom prst="line">
            <a:avLst/>
          </a:prstGeom>
          <a:ln w="15240">
            <a:solidFill>
              <a:srgbClr val="1C2C5A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943600" y="1828800"/>
            <a:ext cx="56692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993392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C2C5A"/>
                </a:solidFill>
                <a:latin typeface="Pretendard"/>
              </a:rPr>
              <a:t>Policy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59152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7C8AAE"/>
                </a:solidFill>
                <a:latin typeface="Pretendard"/>
              </a:rPr>
              <a:t>Eligibility match  ·  Static RAG + Ontongchungnyeon MCP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108960" y="0"/>
            <a:ext cx="2880360" cy="0"/>
          </a:xfrm>
          <a:prstGeom prst="line">
            <a:avLst/>
          </a:prstGeom>
          <a:ln w="15240">
            <a:solidFill>
              <a:srgbClr val="1C2C5A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943600" y="2953512"/>
            <a:ext cx="56692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3118104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C2C5A"/>
                </a:solidFill>
                <a:latin typeface="Pretendard"/>
              </a:rPr>
              <a:t>Job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483864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7C8AAE"/>
                </a:solidFill>
                <a:latin typeface="Pretendard"/>
              </a:rPr>
              <a:t>Posting match  ·  WorkNet MCP + GitHub analysis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08960" y="3931920"/>
            <a:ext cx="2880360" cy="0"/>
          </a:xfrm>
          <a:prstGeom prst="line">
            <a:avLst/>
          </a:prstGeom>
          <a:ln w="15240">
            <a:solidFill>
              <a:srgbClr val="1C2C5A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943600" y="4078224"/>
            <a:ext cx="56692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4242816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C2C5A"/>
                </a:solidFill>
                <a:latin typeface="Pretendard"/>
              </a:rPr>
              <a:t>Resume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608576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7C8AAE"/>
                </a:solidFill>
                <a:latin typeface="Pretendard"/>
              </a:rPr>
              <a:t>Company coaching  ·  Dynamic RAG + DART MCP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08960" y="3931920"/>
            <a:ext cx="2880360" cy="0"/>
          </a:xfrm>
          <a:prstGeom prst="line">
            <a:avLst/>
          </a:prstGeom>
          <a:ln w="15240">
            <a:solidFill>
              <a:srgbClr val="1C2C5A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943600" y="5202936"/>
            <a:ext cx="56692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5367528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C2C5A"/>
                </a:solidFill>
                <a:latin typeface="Pretendard"/>
              </a:rPr>
              <a:t>Calendar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733288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7C8AAE"/>
                </a:solidFill>
                <a:latin typeface="Pretendard"/>
              </a:rPr>
              <a:t>Deadline aggregation across agents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1C2C5A"/>
                </a:solidFill>
                <a:latin typeface="Pretendard"/>
              </a:rPr>
              <a:t>08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137392" y="6519672"/>
            <a:ext cx="64008" cy="6400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C2C5A"/>
                </a:solidFill>
                <a:latin typeface="Pretendard"/>
              </a:rPr>
              <a:t>Hybrid RAG and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 spc="200">
                <a:solidFill>
                  <a:srgbClr val="1C2C5A"/>
                </a:solidFill>
                <a:latin typeface="Pretendard"/>
              </a:rPr>
              <a:t>DATA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8686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Static and Dynamic RAG split by update frequency,</a:t>
            </a:r>
          </a:p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external APIs unified through MCP.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3304" y="1828800"/>
            <a:ext cx="6000" cy="420624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1C2C5A"/>
                </a:solidFill>
                <a:latin typeface="Pretendard"/>
              </a:rPr>
              <a:t>STATIC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828800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1C2C5A"/>
                </a:solidFill>
                <a:latin typeface="Pretendard"/>
              </a:rPr>
              <a:t>DYNAMIC RAG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2468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7C8AAE"/>
                </a:solidFill>
                <a:latin typeface="Pretendard"/>
              </a:rP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2C5A"/>
                </a:solidFill>
                <a:latin typeface="Pretendard"/>
              </a:rPr>
              <a:t>Policy docs / Resumes / NCS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240280"/>
            <a:ext cx="2468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29000" y="237744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7C8AAE"/>
                </a:solidFill>
                <a:latin typeface="Pretendard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65176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2C5A"/>
                </a:solidFill>
                <a:latin typeface="Pretendard"/>
              </a:rPr>
              <a:t>DART filings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93008"/>
            <a:ext cx="2468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630168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7C8AAE"/>
                </a:solidFill>
                <a:latin typeface="Pretendard"/>
              </a:rPr>
              <a:t>CADENCE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04488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2C5A"/>
                </a:solidFill>
                <a:latin typeface="Pretendard"/>
              </a:rPr>
              <a:t>Weekly to yearly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3493008"/>
            <a:ext cx="2468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29000" y="3630168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7C8AAE"/>
                </a:solidFill>
                <a:latin typeface="Pretendard"/>
              </a:rPr>
              <a:t>CADENCE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904488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2C5A"/>
                </a:solidFill>
                <a:latin typeface="Pretendard"/>
              </a:rPr>
              <a:t>Per-request, runtime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45736"/>
            <a:ext cx="2468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882896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7C8AAE"/>
                </a:solidFill>
                <a:latin typeface="Pretendard"/>
              </a:rP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5721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2C5A"/>
                </a:solidFill>
                <a:latin typeface="Pretendard"/>
              </a:rPr>
              <a:t>Pre-indexed (Chroma + bge-m3)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4745736"/>
            <a:ext cx="24688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29000" y="4882896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7C8AAE"/>
                </a:solidFill>
                <a:latin typeface="Pretendard"/>
              </a:rPr>
              <a:t>METHOD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515721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2C5A"/>
                </a:solidFill>
                <a:latin typeface="Pretendard"/>
              </a:rPr>
              <a:t>Indexed at request, ephemeral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828800"/>
            <a:ext cx="5303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 i="0">
                <a:solidFill>
                  <a:srgbClr val="1C2C5A"/>
                </a:solidFill>
                <a:latin typeface="Pretendard"/>
              </a:rPr>
              <a:t>MCP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788920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7C8AAE"/>
                </a:solidFill>
                <a:latin typeface="Pretendard"/>
              </a:rPr>
              <a:t>MODEL CONTEXT PROTOCOL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383280"/>
            <a:ext cx="1554480" cy="384048"/>
          </a:xfrm>
          <a:prstGeom prst="rect">
            <a:avLst/>
          </a:prstGeom>
          <a:solidFill>
            <a:srgbClr val="C9D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3383280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1C2C5A"/>
                </a:solidFill>
                <a:latin typeface="Pretendard"/>
              </a:rPr>
              <a:t>Ontongchungnyeon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3383280"/>
            <a:ext cx="1554480" cy="384048"/>
          </a:xfrm>
          <a:prstGeom prst="rect">
            <a:avLst/>
          </a:prstGeom>
          <a:solidFill>
            <a:srgbClr val="C9D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20" y="3383280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1C2C5A"/>
                </a:solidFill>
                <a:latin typeface="Pretendard"/>
              </a:rPr>
              <a:t>Public Data Portal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92640" y="3383280"/>
            <a:ext cx="1554480" cy="384048"/>
          </a:xfrm>
          <a:prstGeom prst="rect">
            <a:avLst/>
          </a:prstGeom>
          <a:solidFill>
            <a:srgbClr val="C9D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92640" y="3383280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1C2C5A"/>
                </a:solidFill>
                <a:latin typeface="Pretendard"/>
              </a:rPr>
              <a:t>WorkNet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858768"/>
            <a:ext cx="1554480" cy="384048"/>
          </a:xfrm>
          <a:prstGeom prst="rect">
            <a:avLst/>
          </a:prstGeom>
          <a:solidFill>
            <a:srgbClr val="C9D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3858768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1C2C5A"/>
                </a:solidFill>
                <a:latin typeface="Pretendard"/>
              </a:rPr>
              <a:t>DART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3858768"/>
            <a:ext cx="1554480" cy="384048"/>
          </a:xfrm>
          <a:prstGeom prst="rect">
            <a:avLst/>
          </a:prstGeom>
          <a:solidFill>
            <a:srgbClr val="C9D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0" y="3858768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1C2C5A"/>
                </a:solidFill>
                <a:latin typeface="Pretendard"/>
              </a:rPr>
              <a:t>Naver News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943600"/>
            <a:ext cx="11091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7C8AAE"/>
                </a:solidFill>
                <a:latin typeface="Pretendard"/>
              </a:rPr>
              <a:t>RAG over fine-tuning: live data updates, source citation, $50 budget feasible.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1C2C5A"/>
                </a:solidFill>
                <a:latin typeface="Pretendard"/>
              </a:rPr>
              <a:t>09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37392" y="6519672"/>
            <a:ext cx="64008" cy="6400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C2C5A"/>
                </a:solidFill>
                <a:latin typeface="Pretendard"/>
              </a:rPr>
              <a:t>Dataset and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 spc="200">
                <a:solidFill>
                  <a:srgbClr val="1C2C5A"/>
                </a:solidFill>
                <a:latin typeface="Pretendard"/>
              </a:rPr>
              <a:t>DATASET &amp;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8686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Seven open-license datasets,</a:t>
            </a:r>
          </a:p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quantitative and qualitative dual-track evaluation.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6035040" cy="53721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13716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spc="200">
                <a:solidFill>
                  <a:srgbClr val="FFFFFF"/>
                </a:solidFill>
                <a:latin typeface="Pretendard"/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1828800"/>
            <a:ext cx="164592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spc="200">
                <a:solidFill>
                  <a:srgbClr val="FFFFFF"/>
                </a:solidFill>
                <a:latin typeface="Pretendard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41648" y="1828800"/>
            <a:ext cx="13716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spc="200">
                <a:solidFill>
                  <a:srgbClr val="FFFFFF"/>
                </a:solidFill>
                <a:latin typeface="Pretendard"/>
              </a:rPr>
              <a:t>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6128" y="1828800"/>
            <a:ext cx="9144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spc="200">
                <a:solidFill>
                  <a:srgbClr val="FFFFFF"/>
                </a:solidFill>
                <a:latin typeface="Pretendard"/>
              </a:rPr>
              <a:t>LICENSE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66010"/>
            <a:ext cx="13716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C2C5A"/>
                </a:solidFill>
                <a:latin typeface="Pretendard"/>
              </a:rPr>
              <a:t>Youth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2366010"/>
            <a:ext cx="164592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Ontongchungnyeon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2366010"/>
            <a:ext cx="13716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Static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366010"/>
            <a:ext cx="9144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KOGL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17290"/>
            <a:ext cx="6035040" cy="6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2903220"/>
            <a:ext cx="13716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C2C5A"/>
                </a:solidFill>
                <a:latin typeface="Pretendard"/>
              </a:rPr>
              <a:t>Government 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2848" y="2903220"/>
            <a:ext cx="164592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Public Data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1648" y="2903220"/>
            <a:ext cx="13716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Static 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96128" y="2903220"/>
            <a:ext cx="9144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KOGL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854500"/>
            <a:ext cx="6035040" cy="6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3440430"/>
            <a:ext cx="13716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C2C5A"/>
                </a:solidFill>
                <a:latin typeface="Pretendard"/>
              </a:rPr>
              <a:t>Job Postings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12848" y="3440430"/>
            <a:ext cx="164592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WorkNet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1648" y="3440430"/>
            <a:ext cx="13716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Tool Use (live)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6128" y="3440430"/>
            <a:ext cx="9144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KOGL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391710"/>
            <a:ext cx="6035040" cy="6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3977640"/>
            <a:ext cx="13716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C2C5A"/>
                </a:solidFill>
                <a:latin typeface="Pretendard"/>
              </a:rPr>
              <a:t>Corporate Filings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3977640"/>
            <a:ext cx="164592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DART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41648" y="3977640"/>
            <a:ext cx="13716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Dynamic RAG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6128" y="3977640"/>
            <a:ext cx="9144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Free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928920"/>
            <a:ext cx="6035040" cy="6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" y="4514850"/>
            <a:ext cx="13716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C2C5A"/>
                </a:solidFill>
                <a:latin typeface="Pretendard"/>
              </a:rPr>
              <a:t>Accepted Resumes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12848" y="4514850"/>
            <a:ext cx="164592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Public posts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41648" y="4514850"/>
            <a:ext cx="13716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Static RAG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96128" y="4514850"/>
            <a:ext cx="9144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Public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466130"/>
            <a:ext cx="6035040" cy="6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" y="5052060"/>
            <a:ext cx="13716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C2C5A"/>
                </a:solidFill>
                <a:latin typeface="Pretendard"/>
              </a:rPr>
              <a:t>NCS Standards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12848" y="5052060"/>
            <a:ext cx="164592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NCS competency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41648" y="5052060"/>
            <a:ext cx="13716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Static RAG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96128" y="5052060"/>
            <a:ext cx="9144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KOGL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003340"/>
            <a:ext cx="6035040" cy="6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" y="5589270"/>
            <a:ext cx="13716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C2C5A"/>
                </a:solidFill>
                <a:latin typeface="Pretendard"/>
              </a:rPr>
              <a:t>Eval Q&amp;A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12848" y="5589270"/>
            <a:ext cx="164592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Built in-house, n=50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41648" y="5589270"/>
            <a:ext cx="13716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Benchmark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96128" y="5589270"/>
            <a:ext cx="91440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Internal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540550"/>
            <a:ext cx="6035040" cy="6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949440" y="1783080"/>
            <a:ext cx="4690872" cy="45720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223760" y="1783080"/>
            <a:ext cx="46908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300">
                <a:solidFill>
                  <a:srgbClr val="FFFFFF"/>
                </a:solidFill>
                <a:latin typeface="Pretendard"/>
              </a:rPr>
              <a:t>QUANTITATIVE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49440" y="2240280"/>
            <a:ext cx="469087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223760" y="233172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C2C5A"/>
                </a:solidFill>
                <a:latin typeface="Pretendard"/>
              </a:rPr>
              <a:t>Precision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09760" y="233172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2C5A"/>
                </a:solidFill>
                <a:latin typeface="Pretendard"/>
              </a:rPr>
              <a:t>≥ 0.85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0" y="2660904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C2C5A"/>
                </a:solidFill>
                <a:latin typeface="Pretendard"/>
              </a:rPr>
              <a:t>Recall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09760" y="2660904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2C5A"/>
                </a:solidFill>
                <a:latin typeface="Pretendard"/>
              </a:rPr>
              <a:t>≥ 0.80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2990088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C2C5A"/>
                </a:solidFill>
                <a:latin typeface="Pretendard"/>
              </a:rPr>
              <a:t>Citation Accuracy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09760" y="299008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2C5A"/>
                </a:solidFill>
                <a:latin typeface="Pretendard"/>
              </a:rPr>
              <a:t>≥ 0.90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3760" y="3319272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C2C5A"/>
                </a:solidFill>
                <a:latin typeface="Pretendard"/>
              </a:rPr>
              <a:t>Response Time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9760" y="331927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2C5A"/>
                </a:solidFill>
                <a:latin typeface="Pretendard"/>
              </a:rPr>
              <a:t>≤ 5s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49440" y="4023360"/>
            <a:ext cx="469087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223760" y="4023360"/>
            <a:ext cx="46908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300">
                <a:solidFill>
                  <a:srgbClr val="1C2C5A"/>
                </a:solidFill>
                <a:latin typeface="Pretendard"/>
              </a:rPr>
              <a:t>QUALITATIVE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49440" y="4480560"/>
            <a:ext cx="469087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223760" y="4709160"/>
            <a:ext cx="64008" cy="6400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406640" y="4590288"/>
            <a:ext cx="405079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C2C5A"/>
                </a:solidFill>
                <a:latin typeface="Pretendard"/>
              </a:rPr>
              <a:t>User Survey (n = 20, 5-point Likert)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23760" y="5093208"/>
            <a:ext cx="64008" cy="6400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406640" y="4974336"/>
            <a:ext cx="405079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C2C5A"/>
                </a:solidFill>
                <a:latin typeface="Pretendard"/>
              </a:rPr>
              <a:t>LLM-as-Judge (GPT-4o-mini scoring)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23760" y="5477256"/>
            <a:ext cx="64008" cy="6400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06640" y="5358384"/>
            <a:ext cx="405079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C2C5A"/>
                </a:solidFill>
                <a:latin typeface="Pretendard"/>
              </a:rPr>
              <a:t>Head-to-Head vs ChatGPT and Government24+JobKorea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1C2C5A"/>
                </a:solidFill>
                <a:latin typeface="Pretendard"/>
              </a:rPr>
              <a:t>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137392" y="6519672"/>
            <a:ext cx="64008" cy="6400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C2C5A"/>
                </a:solidFill>
                <a:latin typeface="Pretendard"/>
              </a:rPr>
              <a:t>Execution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 spc="200">
                <a:solidFill>
                  <a:srgbClr val="1C2C5A"/>
                </a:solidFill>
                <a:latin typeface="Pretendard"/>
              </a:rPr>
              <a:t>TEAM · SCHEDULE ·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8686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Five domain experts, seven-week roadmap,</a:t>
            </a:r>
          </a:p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total budget under $52.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91672" cy="51816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011680" cy="518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FFFFFF"/>
                </a:solidFill>
                <a:latin typeface="Pretendard"/>
              </a:rPr>
              <a:t>WORKSTREAM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783080"/>
            <a:ext cx="1271016" cy="518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W10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14216" y="1783080"/>
            <a:ext cx="1271016" cy="518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W11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5232" y="1783080"/>
            <a:ext cx="1271016" cy="518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W12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1783080"/>
            <a:ext cx="1271016" cy="518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W13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7264" y="1783080"/>
            <a:ext cx="1271016" cy="518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W14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1783080"/>
            <a:ext cx="1271016" cy="518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W15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9296" y="1783080"/>
            <a:ext cx="1271016" cy="518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W16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301240"/>
            <a:ext cx="2011680" cy="518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C2C5A"/>
                </a:solidFill>
                <a:latin typeface="Pretendard"/>
              </a:rPr>
              <a:t>A · Policy + Static RAG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14216" y="230124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059936" y="239268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285232" y="230124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30952" y="2392680"/>
            <a:ext cx="1179576" cy="33528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56248" y="230124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601968" y="239268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827264" y="230124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872984" y="239268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98280" y="230124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369296" y="230124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2301240"/>
            <a:ext cx="11091672" cy="3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2819400"/>
            <a:ext cx="2011680" cy="518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C2C5A"/>
                </a:solidFill>
                <a:latin typeface="Pretendard"/>
              </a:rPr>
              <a:t>B · Job + DART/MCP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14216" y="281940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059936" y="291084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285232" y="281940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330952" y="291084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56248" y="281940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601968" y="2910840"/>
            <a:ext cx="1179576" cy="33528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827264" y="281940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872984" y="291084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098280" y="281940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369296" y="281940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8640" y="2819400"/>
            <a:ext cx="11091672" cy="3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3337560"/>
            <a:ext cx="2011680" cy="518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C2C5A"/>
                </a:solidFill>
                <a:latin typeface="Pretendard"/>
              </a:rPr>
              <a:t>C · Resume + Evaluation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14216" y="333756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059936" y="342900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285232" y="333756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330952" y="342900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556248" y="333756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601968" y="342900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827264" y="333756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872984" y="342900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098280" y="333756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144000" y="3429000"/>
            <a:ext cx="1179576" cy="33528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0369296" y="333756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48640" y="3337560"/>
            <a:ext cx="11091672" cy="3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31520" y="3855720"/>
            <a:ext cx="2011680" cy="518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C2C5A"/>
                </a:solidFill>
                <a:latin typeface="Pretendard"/>
              </a:rPr>
              <a:t>D · Frontend + UX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14216" y="385572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285232" y="385572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330952" y="394716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556248" y="385572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601968" y="394716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827264" y="385572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872984" y="3947160"/>
            <a:ext cx="1179576" cy="33528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098280" y="385572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9144000" y="394716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0369296" y="385572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548640" y="3855720"/>
            <a:ext cx="11091672" cy="3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31520" y="4373880"/>
            <a:ext cx="2011680" cy="518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C2C5A"/>
                </a:solidFill>
                <a:latin typeface="Pretendard"/>
              </a:rPr>
              <a:t>E · Backend + LangGraph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14216" y="437388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059936" y="446532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5285232" y="437388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330952" y="446532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556248" y="437388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6601968" y="4465320"/>
            <a:ext cx="1179576" cy="33528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7827264" y="437388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7872984" y="4465320"/>
            <a:ext cx="1179576" cy="335280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098280" y="437388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144000" y="4465320"/>
            <a:ext cx="1179576" cy="335280"/>
          </a:xfrm>
          <a:prstGeom prst="rect">
            <a:avLst/>
          </a:prstGeom>
          <a:solidFill>
            <a:srgbClr val="A9B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0369296" y="4373880"/>
            <a:ext cx="3000" cy="51816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48640" y="4373880"/>
            <a:ext cx="11091672" cy="3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548640" y="4892040"/>
            <a:ext cx="11091672" cy="3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48640" y="507492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1C2C5A"/>
                </a:solidFill>
                <a:latin typeface="Pretendard"/>
              </a:rPr>
              <a:t>~$52 total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585216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C2C5A"/>
                </a:solidFill>
                <a:latin typeface="Pretendard"/>
              </a:rPr>
              <a:t>LUXIA $50 (course-provided)  +  GPT-4o-mini $2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" y="612648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7C8AAE"/>
                </a:solidFill>
                <a:latin typeface="Pretendard"/>
              </a:rPr>
              <a:t>AWS Academy / open-source tooling at $0.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772400" y="5074920"/>
            <a:ext cx="38404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001000" y="518464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1C2C5A"/>
                </a:solidFill>
                <a:latin typeface="Pretendard"/>
              </a:rPr>
              <a:t>KEY RISKS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01000" y="5687568"/>
            <a:ext cx="54864" cy="54864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138160" y="557784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LUXIA credit exhaustion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829800" y="5687568"/>
            <a:ext cx="54864" cy="54864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966960" y="557784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DART filing size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01000" y="6053328"/>
            <a:ext cx="54864" cy="54864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138160" y="594360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Multi-agent debugging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829800" y="6053328"/>
            <a:ext cx="54864" cy="54864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966960" y="5943600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C2C5A"/>
                </a:solidFill>
                <a:latin typeface="Pretendard"/>
              </a:rPr>
              <a:t>Dataset licensing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1C2C5A"/>
                </a:solidFill>
                <a:latin typeface="Pretendard"/>
              </a:rPr>
              <a:t>11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137392" y="6519672"/>
            <a:ext cx="64008" cy="6400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C2C5A"/>
                </a:solidFill>
                <a:latin typeface="Pretendard"/>
              </a:rPr>
              <a:t>Expected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 spc="200">
                <a:solidFill>
                  <a:srgbClr val="1C2C5A"/>
                </a:solidFill>
                <a:latin typeface="Pretendard"/>
              </a:rPr>
              <a:t>EXPECTED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8686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User impact and technical capability,</a:t>
            </a:r>
          </a:p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7C8AAE"/>
                </a:solidFill>
                <a:latin typeface="Pretendard"/>
              </a:rPr>
              <a:t>extensible through a five-phase roadmap.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0" b="1" i="0">
                <a:solidFill>
                  <a:srgbClr val="1C2C5A"/>
                </a:solidFill>
                <a:latin typeface="Pretendard"/>
              </a:rPr>
              <a:t>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40480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7C8AAE"/>
                </a:solidFill>
                <a:latin typeface="Pretendard"/>
              </a:rPr>
              <a:t>REDUCTION IN INFORMATION-SEARCH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251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C2C5A"/>
                </a:solidFill>
                <a:latin typeface="Pretendard"/>
              </a:rPr>
              <a:t>2 hours  →  5 minutes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C2C5A"/>
                </a:solidFill>
                <a:latin typeface="Pretendard"/>
              </a:rPr>
              <a:t>Across ~12M Korean youth in scope.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828800"/>
            <a:ext cx="57607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2011680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1C2C5A"/>
                </a:solidFill>
                <a:latin typeface="Pretendard"/>
              </a:rPr>
              <a:t>TECHNICAL OUTCOMES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587752"/>
            <a:ext cx="73152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C2C5A"/>
                </a:solidFill>
                <a:latin typeface="Pretendard"/>
              </a:rPr>
              <a:t>Integrated LLM + RAG + Multi-Agent + MCP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999232"/>
            <a:ext cx="73152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8803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C2C5A"/>
                </a:solidFill>
                <a:latin typeface="Pretendard"/>
              </a:rPr>
              <a:t>Hybrid RAG (Static + Dynamic) in practice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410712"/>
            <a:ext cx="73152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32918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C2C5A"/>
                </a:solidFill>
                <a:latin typeface="Pretendard"/>
              </a:rPr>
              <a:t>Korean-domain LUXIA usage at production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206240"/>
            <a:ext cx="5760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300">
                <a:solidFill>
                  <a:srgbClr val="7C8AAE"/>
                </a:solidFill>
                <a:latin typeface="Pretendard"/>
              </a:rPr>
              <a:t>FUTURE ROADMAP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4617720"/>
            <a:ext cx="1033271" cy="777240"/>
          </a:xfrm>
          <a:prstGeom prst="rect">
            <a:avLst/>
          </a:prstGeom>
          <a:solidFill>
            <a:srgbClr val="C9D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0" y="4709160"/>
            <a:ext cx="103327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spc="200">
                <a:solidFill>
                  <a:srgbClr val="7C8AAE"/>
                </a:solidFill>
                <a:latin typeface="Pretendard"/>
              </a:rP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983480"/>
            <a:ext cx="103327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1C2C5A"/>
                </a:solidFill>
                <a:latin typeface="Pretendard"/>
              </a:rPr>
              <a:t>Multilingual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76871" y="0"/>
            <a:ext cx="109728" cy="0"/>
          </a:xfrm>
          <a:prstGeom prst="line">
            <a:avLst/>
          </a:prstGeom>
          <a:ln w="9525">
            <a:solidFill>
              <a:srgbClr val="7C8A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086599" y="4617720"/>
            <a:ext cx="1033271" cy="777240"/>
          </a:xfrm>
          <a:prstGeom prst="rect">
            <a:avLst/>
          </a:prstGeom>
          <a:solidFill>
            <a:srgbClr val="C9D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86599" y="4709160"/>
            <a:ext cx="103327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spc="200">
                <a:solidFill>
                  <a:srgbClr val="7C8AAE"/>
                </a:solidFill>
                <a:latin typeface="Pretendard"/>
              </a:rPr>
              <a:t>Phase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599" y="4983480"/>
            <a:ext cx="103327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1C2C5A"/>
                </a:solidFill>
                <a:latin typeface="Pretendard"/>
              </a:rPr>
              <a:t>Voice (Whisper)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119870" y="0"/>
            <a:ext cx="109728" cy="0"/>
          </a:xfrm>
          <a:prstGeom prst="line">
            <a:avLst/>
          </a:prstGeom>
          <a:ln w="9525">
            <a:solidFill>
              <a:srgbClr val="7C8A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229598" y="4617720"/>
            <a:ext cx="1033271" cy="777240"/>
          </a:xfrm>
          <a:prstGeom prst="rect">
            <a:avLst/>
          </a:prstGeom>
          <a:solidFill>
            <a:srgbClr val="C9D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598" y="4709160"/>
            <a:ext cx="103327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spc="200">
                <a:solidFill>
                  <a:srgbClr val="7C8AAE"/>
                </a:solidFill>
                <a:latin typeface="Pretendard"/>
              </a:rP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8" y="4983480"/>
            <a:ext cx="103327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1C2C5A"/>
                </a:solidFill>
                <a:latin typeface="Pretendard"/>
              </a:rPr>
              <a:t>Mobile App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262869" y="0"/>
            <a:ext cx="109728" cy="0"/>
          </a:xfrm>
          <a:prstGeom prst="line">
            <a:avLst/>
          </a:prstGeom>
          <a:ln w="9525">
            <a:solidFill>
              <a:srgbClr val="7C8A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9372597" y="4617720"/>
            <a:ext cx="1033271" cy="777240"/>
          </a:xfrm>
          <a:prstGeom prst="rect">
            <a:avLst/>
          </a:prstGeom>
          <a:solidFill>
            <a:srgbClr val="C9D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72597" y="4709160"/>
            <a:ext cx="103327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spc="200">
                <a:solidFill>
                  <a:srgbClr val="7C8AAE"/>
                </a:solidFill>
                <a:latin typeface="Pretendard"/>
              </a:rPr>
              <a:t>Phase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597" y="4983480"/>
            <a:ext cx="103327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1C2C5A"/>
                </a:solidFill>
                <a:latin typeface="Pretendard"/>
              </a:rPr>
              <a:t>KakaoTalk Bot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405868" y="0"/>
            <a:ext cx="109728" cy="0"/>
          </a:xfrm>
          <a:prstGeom prst="line">
            <a:avLst/>
          </a:prstGeom>
          <a:ln w="9525">
            <a:solidFill>
              <a:srgbClr val="7C8A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0515596" y="4617720"/>
            <a:ext cx="1033271" cy="777240"/>
          </a:xfrm>
          <a:prstGeom prst="rect">
            <a:avLst/>
          </a:prstGeom>
          <a:solidFill>
            <a:srgbClr val="C9D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515596" y="4709160"/>
            <a:ext cx="103327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spc="200">
                <a:solidFill>
                  <a:srgbClr val="7C8AAE"/>
                </a:solidFill>
                <a:latin typeface="Pretendard"/>
              </a:rPr>
              <a:t>Phase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596" y="4983480"/>
            <a:ext cx="103327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1C2C5A"/>
                </a:solidFill>
                <a:latin typeface="Pretendard"/>
              </a:rPr>
              <a:t>Learning Match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1C2C5A"/>
                </a:solidFill>
                <a:latin typeface="Pretendard"/>
              </a:rPr>
              <a:t>12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137392" y="6519672"/>
            <a:ext cx="64008" cy="64008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 rot="10800000">
            <a:off x="-914400" y="2743200"/>
            <a:ext cx="5029200" cy="5486400"/>
          </a:xfrm>
          <a:prstGeom prst="rtTriangle">
            <a:avLst/>
          </a:prstGeom>
          <a:solidFill>
            <a:srgbClr val="C9D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-1828800" y="-914400"/>
            <a:ext cx="6400800" cy="5943600"/>
          </a:xfrm>
          <a:prstGeom prst="rtTriangle">
            <a:avLst/>
          </a:prstGeom>
          <a:solidFill>
            <a:srgbClr val="DB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 spc="300">
                <a:solidFill>
                  <a:srgbClr val="1C2C5A"/>
                </a:solidFill>
                <a:latin typeface="Pretendard"/>
              </a:rP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109167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0" b="1" i="0">
                <a:solidFill>
                  <a:srgbClr val="1C2C5A"/>
                </a:solidFill>
                <a:latin typeface="Pretendard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0" i="0">
                <a:solidFill>
                  <a:srgbClr val="1C2C5A"/>
                </a:solidFill>
                <a:latin typeface="Pretendard"/>
              </a:rPr>
              <a:t>for Your Attention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spc="400">
                <a:solidFill>
                  <a:srgbClr val="7C8AAE"/>
                </a:solidFill>
                <a:latin typeface="Pretendard"/>
              </a:rPr>
              <a:t>QUESTIONS AND DISCUSSION WELCOME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943600"/>
            <a:ext cx="11091672" cy="6000"/>
          </a:xfrm>
          <a:prstGeom prst="rect">
            <a:avLst/>
          </a:prstGeom>
          <a:solidFill>
            <a:srgbClr val="D6D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08076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2C5A"/>
                </a:solidFill>
                <a:latin typeface="Pretendard"/>
              </a:rPr>
              <a:t>Hanyang University · Deep Learning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2C5A"/>
                </a:solidFill>
                <a:latin typeface="Pretendard"/>
              </a:rPr>
              <a:t>Five-Person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60807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1C2C5A"/>
                </a:solidFill>
                <a:latin typeface="Pretendard"/>
              </a:rPr>
              <a:t>Team contact: [team@hanyang.ac.kr]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608076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1C2C5A"/>
                </a:solidFill>
                <a:latin typeface="Pretendard"/>
              </a:rPr>
              <a:t>Online Q&amp;A by May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2640209-40FE-4390-A0AB-41CEFE970BC6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3c07be09-ade8-4538-a22c-8afae3c01eb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1050</Words>
  <Application>Microsoft Office PowerPoint</Application>
  <PresentationFormat>와이드스크린</PresentationFormat>
  <Paragraphs>318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맑은 고딕</vt:lpstr>
      <vt:lpstr>Pretendard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홍성래</dc:creator>
  <cp:keywords/>
  <dc:description>generated using python-pptx</dc:description>
  <cp:lastModifiedBy>성래 홍</cp:lastModifiedBy>
  <cp:revision>3</cp:revision>
  <dcterms:created xsi:type="dcterms:W3CDTF">2013-01-27T09:14:16Z</dcterms:created>
  <dcterms:modified xsi:type="dcterms:W3CDTF">2026-05-04T12:31:02Z</dcterms:modified>
  <cp:category/>
</cp:coreProperties>
</file>