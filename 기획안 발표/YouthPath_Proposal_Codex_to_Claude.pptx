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 showGuides="1">
      <p:cViewPr varScale="1">
        <p:scale>
          <a:sx n="67" d="100"/>
          <a:sy n="67" d="100"/>
        </p:scale>
        <p:origin x="63" y="3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8BB68E-36F7-853E-CDA7-655878BC37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789583A-2376-2F59-2908-354B0A0944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09D16C-EFB3-95E8-EE8A-4F18E8487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D9E0B-CEDE-4F07-87F2-B5AF725286ED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EED685-23C6-D5B8-6DE9-796D809D1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387B04-07E6-ADA6-A168-FE0C83D84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CB2EA-31D7-4681-9253-5549AB648F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4710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351681-CE9C-1885-A188-AA51EC7E2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5DB610-E5A5-5ACB-5865-1FE7BE61E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542EA0-BC9A-53FB-2B7E-F44B7C495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D9E0B-CEDE-4F07-87F2-B5AF725286ED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176804-4DBE-3FAE-DB34-1DC4FD5A2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BEAD20-3E4D-2B70-91AB-D43162B3C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CB2EA-31D7-4681-9253-5549AB648F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0446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5CF223-A673-8B84-1801-BBCCD8014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DCA127-1ACC-C3D1-09EA-7A6D3C8CA2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5261D0-47D9-FCEF-4CB5-F36D8E35E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D9E0B-CEDE-4F07-87F2-B5AF725286ED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19DCBB-8D3A-605E-5BD1-630145AFA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1FFD2E-2D8E-46C9-A235-50002C3C0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CB2EA-31D7-4681-9253-5549AB648F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1044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989A3-250B-1007-BFF9-4B49009F1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B8890A-D458-299E-77B7-49BCBA2C8F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ED1B3D7-000D-6A5D-6D41-48385996B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118E193-B0B2-748C-985B-02F6DD4AA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D9E0B-CEDE-4F07-87F2-B5AF725286ED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8AE1FC-6861-DFA9-19F5-A7E91FD70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C0CBFA-821E-1B4F-2C98-B187FD7D9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CB2EA-31D7-4681-9253-5549AB648F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5908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44FCEF-E325-575D-72CB-ECCE7D442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33787E9-B91C-8902-E68A-FF742D3EA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6D40B9A-8A2F-01C5-0C6D-DC022C54B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A1E8771-FDE8-336C-B6B1-A51171DE6B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1842601-382C-BBEF-A785-05F591C559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E1485B8-EF26-22D0-8631-5BEFA1069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D9E0B-CEDE-4F07-87F2-B5AF725286ED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1830CD9-F25D-2332-011F-A97CB5B5C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0A6A636-EAE3-9106-C901-A4C1D69FE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CB2EA-31D7-4681-9253-5549AB648F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2239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81D470-20F0-8D3D-E7D6-7B7D453AD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D231AE8-9B33-E743-8F23-C9D7BDEA1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D9E0B-CEDE-4F07-87F2-B5AF725286ED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7BFF3E-6DF2-4513-932D-239395D47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E13C602-46D1-A685-E0D5-19E1B77BC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CB2EA-31D7-4681-9253-5549AB648F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1967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473DECD-5283-8DE9-06D0-BE0D2A01D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D9E0B-CEDE-4F07-87F2-B5AF725286ED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6E8D67A-F088-E78A-A267-58674F316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001303-4249-2AC0-953F-60C244782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CB2EA-31D7-4681-9253-5549AB648F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1044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5E1A79-C1C0-C22C-1E44-8DF964E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D9B258-0F54-D0AE-7DEE-E9A19434F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295A806-A17D-C656-F477-7ECD45CE6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E21DBF-F067-A898-0924-92AF5449C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D9E0B-CEDE-4F07-87F2-B5AF725286ED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008AACF-03D3-058E-B93E-2E529B349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665614-65DE-0DEE-1E6F-471AFF10C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CB2EA-31D7-4681-9253-5549AB648F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3351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FE90AD-473A-C4D1-0E0E-8C6D700F0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7D8A221-77BC-4116-9879-88CF905432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F6EF3AF-6947-55F2-3D91-1511D6803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A39A87-C883-C28E-45DB-8D4A1CCD7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D9E0B-CEDE-4F07-87F2-B5AF725286ED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7D3A9E-1FDE-028E-83E8-0A37645C3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FD24A2-5539-2009-0E32-391F8D0F1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CB2EA-31D7-4681-9253-5549AB648F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6227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F268DC-EC11-D9BE-317F-FE990D966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E040ABE-9E55-5476-0DB1-2FC4AB3D65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66F922-0143-B917-0A3E-B114CD64A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D9E0B-CEDE-4F07-87F2-B5AF725286ED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EA25BD-0001-AF0C-0FED-E91F6DED8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A7E575-6D3D-B590-46A3-70CE27696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CB2EA-31D7-4681-9253-5549AB648F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7143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9308AC-5898-0D26-494A-313DEF8DD1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0BF5779-ED18-5A8D-67A7-44B39F3CC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3A6251-5FFA-1BF2-4009-2258A7004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D9E0B-CEDE-4F07-87F2-B5AF725286ED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816BEE-A9AD-A3C3-2F3F-2B1FE746C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D91487-BBCD-E337-5EDF-A9F3DF98C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CB2EA-31D7-4681-9253-5549AB648F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038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450B177-82AD-688B-227E-D41FF2209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53B860-F145-B618-AF22-A380920C6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18BCF8-738B-7981-0B9B-21C09F71AC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CD9E0B-CEDE-4F07-87F2-B5AF725286ED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E8CFE2-C4F3-76AF-FAD4-25055583C8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A7BC4D-DC5D-CD38-DBD4-09AA1B9EC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4CB2EA-31D7-4681-9253-5549AB648F6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00" name="Top Rule"/>
          <p:cNvSpPr/>
          <p:nvPr userDrawn="1"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1F43A3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74696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9608948-9E42-45C7-97CC-99BE57E8605D}"/>
              </a:ext>
            </a:extLst>
          </p:cNvPr>
          <p:cNvSpPr txBox="1"/>
          <p:nvPr/>
        </p:nvSpPr>
        <p:spPr>
          <a:xfrm>
            <a:off x="762000" y="1651000"/>
            <a:ext cx="7112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7200" b="1">
                <a:solidFill>
                  <a:srgbClr val="173A6A"/>
                </a:solidFill>
              </a:rPr>
              <a:t>YouthPath</a:t>
            </a:r>
            <a:endParaRPr lang="ko-KR" altLang="en-US" sz="7200" b="1">
              <a:solidFill>
                <a:srgbClr val="173A6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48FF35-748B-479D-A593-D06EE64CB6F1}"/>
              </a:ext>
            </a:extLst>
          </p:cNvPr>
          <p:cNvSpPr txBox="1"/>
          <p:nvPr/>
        </p:nvSpPr>
        <p:spPr>
          <a:xfrm>
            <a:off x="762000" y="2794000"/>
            <a:ext cx="762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1F43A3"/>
                </a:solidFill>
              </a:rPr>
              <a:t>청년사회진입 토탈 어시스턴트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FBC1FF-EDDC-4529-87C6-2E6A2B25A45A}"/>
              </a:ext>
            </a:extLst>
          </p:cNvPr>
          <p:cNvSpPr txBox="1"/>
          <p:nvPr/>
        </p:nvSpPr>
        <p:spPr>
          <a:xfrm>
            <a:off x="762000" y="36195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>
                <a:solidFill>
                  <a:srgbClr val="7F91AD"/>
                </a:solidFill>
              </a:rPr>
              <a:t>정책 매칭</a:t>
            </a:r>
            <a:r>
              <a:rPr lang="en-US" altLang="ko-KR" sz="1600">
                <a:solidFill>
                  <a:srgbClr val="7F91AD"/>
                </a:solidFill>
              </a:rPr>
              <a:t>, </a:t>
            </a:r>
            <a:r>
              <a:rPr lang="ko-KR" altLang="en-US" sz="1600">
                <a:solidFill>
                  <a:srgbClr val="7F91AD"/>
                </a:solidFill>
              </a:rPr>
              <a:t>채용 추천</a:t>
            </a:r>
            <a:r>
              <a:rPr lang="en-US" altLang="ko-KR" sz="1600">
                <a:solidFill>
                  <a:srgbClr val="7F91AD"/>
                </a:solidFill>
              </a:rPr>
              <a:t>, </a:t>
            </a:r>
            <a:r>
              <a:rPr lang="ko-KR" altLang="en-US" sz="1600">
                <a:solidFill>
                  <a:srgbClr val="7F91AD"/>
                </a:solidFill>
              </a:rPr>
              <a:t>자소서 코칭</a:t>
            </a:r>
            <a:r>
              <a:rPr lang="en-US" altLang="ko-KR" sz="1600">
                <a:solidFill>
                  <a:srgbClr val="7F91AD"/>
                </a:solidFill>
              </a:rPr>
              <a:t>, </a:t>
            </a:r>
            <a:r>
              <a:rPr lang="ko-KR" altLang="en-US" sz="1600">
                <a:solidFill>
                  <a:srgbClr val="7F91AD"/>
                </a:solidFill>
              </a:rPr>
              <a:t>일정 관리를 하나로 잇는 생성형 </a:t>
            </a:r>
            <a:r>
              <a:rPr lang="en-US" altLang="ko-KR" sz="1600">
                <a:solidFill>
                  <a:srgbClr val="7F91AD"/>
                </a:solidFill>
              </a:rPr>
              <a:t>AI </a:t>
            </a:r>
            <a:r>
              <a:rPr lang="ko-KR" altLang="en-US" sz="1600">
                <a:solidFill>
                  <a:srgbClr val="7F91AD"/>
                </a:solidFill>
              </a:rPr>
              <a:t>어시스턴트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2758587-8D18-4F85-8BF1-0AE00A3428DF}"/>
              </a:ext>
            </a:extLst>
          </p:cNvPr>
          <p:cNvSpPr/>
          <p:nvPr/>
        </p:nvSpPr>
        <p:spPr>
          <a:xfrm>
            <a:off x="762000" y="4572000"/>
            <a:ext cx="1651000" cy="5080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1F43A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1F43A3"/>
                </a:solidFill>
              </a:rPr>
              <a:t>정책 매칭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5CEC244-1555-4838-A789-9B2CE87EDDC4}"/>
              </a:ext>
            </a:extLst>
          </p:cNvPr>
          <p:cNvSpPr/>
          <p:nvPr/>
        </p:nvSpPr>
        <p:spPr>
          <a:xfrm>
            <a:off x="2590800" y="4572000"/>
            <a:ext cx="1651000" cy="5080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1F43A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1F43A3"/>
                </a:solidFill>
              </a:rPr>
              <a:t>채용 추천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D23C84C-10AF-41C1-A8D7-89031F521E60}"/>
              </a:ext>
            </a:extLst>
          </p:cNvPr>
          <p:cNvSpPr/>
          <p:nvPr/>
        </p:nvSpPr>
        <p:spPr>
          <a:xfrm>
            <a:off x="4419600" y="4572000"/>
            <a:ext cx="1651000" cy="5080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1F43A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1F43A3"/>
                </a:solidFill>
              </a:rPr>
              <a:t>자소서 코칭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ED67097-2462-4402-8ACF-969806794F0E}"/>
              </a:ext>
            </a:extLst>
          </p:cNvPr>
          <p:cNvSpPr/>
          <p:nvPr/>
        </p:nvSpPr>
        <p:spPr>
          <a:xfrm>
            <a:off x="6248400" y="4572000"/>
            <a:ext cx="1651000" cy="5080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1F43A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1F43A3"/>
                </a:solidFill>
              </a:rPr>
              <a:t>일정 관리</a:t>
            </a:r>
          </a:p>
        </p:txBody>
      </p:sp>
      <p:sp>
        <p:nvSpPr>
          <p:cNvPr id="11" name="다이아몬드 10">
            <a:extLst>
              <a:ext uri="{FF2B5EF4-FFF2-40B4-BE49-F238E27FC236}">
                <a16:creationId xmlns:a16="http://schemas.microsoft.com/office/drawing/2014/main" id="{FB62320B-7471-4684-ACE4-FCD0E16478D8}"/>
              </a:ext>
            </a:extLst>
          </p:cNvPr>
          <p:cNvSpPr/>
          <p:nvPr/>
        </p:nvSpPr>
        <p:spPr>
          <a:xfrm>
            <a:off x="8890000" y="1651000"/>
            <a:ext cx="2286000" cy="2286000"/>
          </a:xfrm>
          <a:prstGeom prst="diamond">
            <a:avLst/>
          </a:prstGeom>
          <a:solidFill>
            <a:srgbClr val="1F43A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다이아몬드 11">
            <a:extLst>
              <a:ext uri="{FF2B5EF4-FFF2-40B4-BE49-F238E27FC236}">
                <a16:creationId xmlns:a16="http://schemas.microsoft.com/office/drawing/2014/main" id="{FE3F5FD3-6D24-40B1-BF69-C0161420D3B0}"/>
              </a:ext>
            </a:extLst>
          </p:cNvPr>
          <p:cNvSpPr/>
          <p:nvPr/>
        </p:nvSpPr>
        <p:spPr>
          <a:xfrm>
            <a:off x="10287000" y="2794000"/>
            <a:ext cx="1397000" cy="1397000"/>
          </a:xfrm>
          <a:prstGeom prst="diamond">
            <a:avLst/>
          </a:prstGeom>
          <a:solidFill>
            <a:srgbClr val="17DD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다이아몬드 12">
            <a:extLst>
              <a:ext uri="{FF2B5EF4-FFF2-40B4-BE49-F238E27FC236}">
                <a16:creationId xmlns:a16="http://schemas.microsoft.com/office/drawing/2014/main" id="{B8ED4AB4-CD4B-435A-821C-AAE6C41E0B4F}"/>
              </a:ext>
            </a:extLst>
          </p:cNvPr>
          <p:cNvSpPr/>
          <p:nvPr/>
        </p:nvSpPr>
        <p:spPr>
          <a:xfrm>
            <a:off x="9144000" y="3937000"/>
            <a:ext cx="1143000" cy="1143000"/>
          </a:xfrm>
          <a:prstGeom prst="diamond">
            <a:avLst/>
          </a:prstGeom>
          <a:solidFill>
            <a:srgbClr val="29C7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776AD6-6EDA-4FB1-8724-D2B2B6E5104F}"/>
              </a:ext>
            </a:extLst>
          </p:cNvPr>
          <p:cNvSpPr txBox="1"/>
          <p:nvPr/>
        </p:nvSpPr>
        <p:spPr>
          <a:xfrm>
            <a:off x="762000" y="6350000"/>
            <a:ext cx="914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>
                <a:solidFill>
                  <a:srgbClr val="7F91AD"/>
                </a:solidFill>
              </a:rPr>
              <a:t>Deep Learning and Applications  ·  Project Proposal  ·  Team YouthPath</a:t>
            </a:r>
            <a:endParaRPr lang="ko-KR" altLang="en-US" sz="1100">
              <a:solidFill>
                <a:srgbClr val="7F91AD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18A7CB-EBCF-42A0-8C44-91BA04556C23}"/>
              </a:ext>
            </a:extLst>
          </p:cNvPr>
          <p:cNvSpPr txBox="1"/>
          <p:nvPr/>
        </p:nvSpPr>
        <p:spPr>
          <a:xfrm>
            <a:off x="10414000" y="381000"/>
            <a:ext cx="139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1F43A3"/>
                </a:solidFill>
              </a:rPr>
              <a:t>01 / COVER</a:t>
            </a:r>
            <a:endParaRPr lang="ko-KR" altLang="en-US" sz="1000" b="1">
              <a:solidFill>
                <a:srgbClr val="1F43A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3203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62E841-997C-4BFB-8CD7-E8796698C9EE}"/>
              </a:ext>
            </a:extLst>
          </p:cNvPr>
          <p:cNvSpPr txBox="1"/>
          <p:nvPr/>
        </p:nvSpPr>
        <p:spPr>
          <a:xfrm>
            <a:off x="635000" y="571500"/>
            <a:ext cx="889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800" b="1">
                <a:solidFill>
                  <a:srgbClr val="173A6A"/>
                </a:solidFill>
              </a:rPr>
              <a:t>청년에게 통합 어시스턴트가 필요한 이유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E8A02E-3E8C-4DF1-892B-B6B61B14484A}"/>
              </a:ext>
            </a:extLst>
          </p:cNvPr>
          <p:cNvSpPr txBox="1"/>
          <p:nvPr/>
        </p:nvSpPr>
        <p:spPr>
          <a:xfrm>
            <a:off x="10160000" y="6350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1F43A3"/>
                </a:solidFill>
              </a:rPr>
              <a:t>02 / PROBLEM</a:t>
            </a:r>
            <a:endParaRPr lang="ko-KR" altLang="en-US" sz="1000" b="1">
              <a:solidFill>
                <a:srgbClr val="1F43A3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2405029-DFED-4CC0-A367-8CD6BBA222CD}"/>
              </a:ext>
            </a:extLst>
          </p:cNvPr>
          <p:cNvSpPr/>
          <p:nvPr/>
        </p:nvSpPr>
        <p:spPr>
          <a:xfrm>
            <a:off x="635000" y="1397000"/>
            <a:ext cx="10922000" cy="25400"/>
          </a:xfrm>
          <a:prstGeom prst="rect">
            <a:avLst/>
          </a:prstGeom>
          <a:solidFill>
            <a:srgbClr val="C7D3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EB3E7BC-167C-4212-B905-80834B1C51E9}"/>
              </a:ext>
            </a:extLst>
          </p:cNvPr>
          <p:cNvSpPr/>
          <p:nvPr/>
        </p:nvSpPr>
        <p:spPr>
          <a:xfrm>
            <a:off x="762000" y="1841500"/>
            <a:ext cx="3556000" cy="3556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7D3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16A4B90-B59B-401B-9832-A5BF96AF592B}"/>
              </a:ext>
            </a:extLst>
          </p:cNvPr>
          <p:cNvSpPr/>
          <p:nvPr/>
        </p:nvSpPr>
        <p:spPr>
          <a:xfrm>
            <a:off x="762000" y="1841500"/>
            <a:ext cx="3556000" cy="76200"/>
          </a:xfrm>
          <a:prstGeom prst="rect">
            <a:avLst/>
          </a:prstGeom>
          <a:solidFill>
            <a:srgbClr val="1F43A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381A5BD-D6AA-4E35-A305-32C91CE6E41C}"/>
              </a:ext>
            </a:extLst>
          </p:cNvPr>
          <p:cNvSpPr/>
          <p:nvPr/>
        </p:nvSpPr>
        <p:spPr>
          <a:xfrm>
            <a:off x="1066800" y="2222500"/>
            <a:ext cx="635000" cy="330200"/>
          </a:xfrm>
          <a:prstGeom prst="rect">
            <a:avLst/>
          </a:prstGeom>
          <a:solidFill>
            <a:srgbClr val="1F43A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</a:rPr>
              <a:t>01</a:t>
            </a:r>
            <a:endParaRPr lang="ko-KR" altLang="en-US" sz="1300" b="1">
              <a:solidFill>
                <a:srgbClr val="FFFFF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095DEA-F523-4748-8F68-0692160771E3}"/>
              </a:ext>
            </a:extLst>
          </p:cNvPr>
          <p:cNvSpPr txBox="1"/>
          <p:nvPr/>
        </p:nvSpPr>
        <p:spPr>
          <a:xfrm>
            <a:off x="1066800" y="2730500"/>
            <a:ext cx="29464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000" b="1">
                <a:solidFill>
                  <a:srgbClr val="173A6A"/>
                </a:solidFill>
              </a:rPr>
              <a:t>정보 파편화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FDDF47-7C38-4ADD-A451-92597AD5435C}"/>
              </a:ext>
            </a:extLst>
          </p:cNvPr>
          <p:cNvSpPr txBox="1"/>
          <p:nvPr/>
        </p:nvSpPr>
        <p:spPr>
          <a:xfrm>
            <a:off x="1066800" y="3302000"/>
            <a:ext cx="29464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222222"/>
                </a:solidFill>
              </a:rPr>
              <a:t>청년 정책</a:t>
            </a:r>
            <a:r>
              <a:rPr lang="en-US" altLang="ko-KR" sz="1400">
                <a:solidFill>
                  <a:srgbClr val="222222"/>
                </a:solidFill>
              </a:rPr>
              <a:t>·</a:t>
            </a:r>
            <a:r>
              <a:rPr lang="ko-KR" altLang="en-US" sz="1400">
                <a:solidFill>
                  <a:srgbClr val="222222"/>
                </a:solidFill>
              </a:rPr>
              <a:t>채용</a:t>
            </a:r>
            <a:r>
              <a:rPr lang="en-US" altLang="ko-KR" sz="1400">
                <a:solidFill>
                  <a:srgbClr val="222222"/>
                </a:solidFill>
              </a:rPr>
              <a:t>·</a:t>
            </a:r>
            <a:r>
              <a:rPr lang="ko-KR" altLang="en-US" sz="1400">
                <a:solidFill>
                  <a:srgbClr val="222222"/>
                </a:solidFill>
              </a:rPr>
              <a:t>역량 정보가 부처</a:t>
            </a:r>
            <a:r>
              <a:rPr lang="en-US" altLang="ko-KR" sz="1400">
                <a:solidFill>
                  <a:srgbClr val="222222"/>
                </a:solidFill>
              </a:rPr>
              <a:t>·</a:t>
            </a:r>
            <a:r>
              <a:rPr lang="ko-KR" altLang="en-US" sz="1400">
                <a:solidFill>
                  <a:srgbClr val="222222"/>
                </a:solidFill>
              </a:rPr>
              <a:t>기업</a:t>
            </a:r>
            <a:r>
              <a:rPr lang="en-US" altLang="ko-KR" sz="1400">
                <a:solidFill>
                  <a:srgbClr val="222222"/>
                </a:solidFill>
              </a:rPr>
              <a:t>·</a:t>
            </a:r>
            <a:r>
              <a:rPr lang="ko-KR" altLang="en-US" sz="1400">
                <a:solidFill>
                  <a:srgbClr val="222222"/>
                </a:solidFill>
              </a:rPr>
              <a:t>플랫폼별로 흩어져 있다</a:t>
            </a:r>
            <a:r>
              <a:rPr lang="en-US" altLang="ko-KR" sz="1400">
                <a:solidFill>
                  <a:srgbClr val="222222"/>
                </a:solidFill>
              </a:rPr>
              <a:t>.</a:t>
            </a:r>
            <a:endParaRPr lang="ko-KR" altLang="en-US" sz="1400">
              <a:solidFill>
                <a:srgbClr val="222222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D544717-B18F-4834-8C4A-6A6DDFEB1E43}"/>
              </a:ext>
            </a:extLst>
          </p:cNvPr>
          <p:cNvSpPr/>
          <p:nvPr/>
        </p:nvSpPr>
        <p:spPr>
          <a:xfrm>
            <a:off x="1066800" y="4826000"/>
            <a:ext cx="2946400" cy="381000"/>
          </a:xfrm>
          <a:prstGeom prst="roundRect">
            <a:avLst/>
          </a:prstGeom>
          <a:solidFill>
            <a:srgbClr val="E8F8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1F43A3"/>
                </a:solidFill>
              </a:rPr>
              <a:t>→ 탐색 시간 증가</a:t>
            </a:r>
            <a:r>
              <a:rPr lang="en-US" altLang="ko-KR" sz="1200" b="1">
                <a:solidFill>
                  <a:srgbClr val="1F43A3"/>
                </a:solidFill>
              </a:rPr>
              <a:t>, </a:t>
            </a:r>
            <a:r>
              <a:rPr lang="ko-KR" altLang="en-US" sz="1200" b="1">
                <a:solidFill>
                  <a:srgbClr val="1F43A3"/>
                </a:solidFill>
              </a:rPr>
              <a:t>누락 위험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A12628A-505E-4407-89BE-EF72571AFBA5}"/>
              </a:ext>
            </a:extLst>
          </p:cNvPr>
          <p:cNvSpPr/>
          <p:nvPr/>
        </p:nvSpPr>
        <p:spPr>
          <a:xfrm>
            <a:off x="4508500" y="1841500"/>
            <a:ext cx="3556000" cy="3556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7D3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F9C9193-79EB-49FC-A4AD-251189B181FB}"/>
              </a:ext>
            </a:extLst>
          </p:cNvPr>
          <p:cNvSpPr/>
          <p:nvPr/>
        </p:nvSpPr>
        <p:spPr>
          <a:xfrm>
            <a:off x="4508500" y="1841500"/>
            <a:ext cx="3556000" cy="76200"/>
          </a:xfrm>
          <a:prstGeom prst="rect">
            <a:avLst/>
          </a:prstGeom>
          <a:solidFill>
            <a:srgbClr val="1F43A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9B53F6A-CB85-4F9A-966F-0E78D85C9A4F}"/>
              </a:ext>
            </a:extLst>
          </p:cNvPr>
          <p:cNvSpPr/>
          <p:nvPr/>
        </p:nvSpPr>
        <p:spPr>
          <a:xfrm>
            <a:off x="4813300" y="2222500"/>
            <a:ext cx="635000" cy="330200"/>
          </a:xfrm>
          <a:prstGeom prst="rect">
            <a:avLst/>
          </a:prstGeom>
          <a:solidFill>
            <a:srgbClr val="1F43A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</a:rPr>
              <a:t>02</a:t>
            </a:r>
            <a:endParaRPr lang="ko-KR" altLang="en-US" sz="1300" b="1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AE2DAA-F95B-410E-8F44-8E2A6B4ADA98}"/>
              </a:ext>
            </a:extLst>
          </p:cNvPr>
          <p:cNvSpPr txBox="1"/>
          <p:nvPr/>
        </p:nvSpPr>
        <p:spPr>
          <a:xfrm>
            <a:off x="4813300" y="2730500"/>
            <a:ext cx="29464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000" b="1">
                <a:solidFill>
                  <a:srgbClr val="173A6A"/>
                </a:solidFill>
              </a:rPr>
              <a:t>자격 매칭 부재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2AC8B1-D3AF-4B71-A08C-565F6C99BB86}"/>
              </a:ext>
            </a:extLst>
          </p:cNvPr>
          <p:cNvSpPr txBox="1"/>
          <p:nvPr/>
        </p:nvSpPr>
        <p:spPr>
          <a:xfrm>
            <a:off x="4813300" y="3302000"/>
            <a:ext cx="29464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222222"/>
                </a:solidFill>
              </a:rPr>
              <a:t>키워드 검색만 가능하고 개인 자격 조건과 정책을 자동 매칭하지 못한다</a:t>
            </a:r>
            <a:r>
              <a:rPr lang="en-US" altLang="ko-KR" sz="1400">
                <a:solidFill>
                  <a:srgbClr val="222222"/>
                </a:solidFill>
              </a:rPr>
              <a:t>.</a:t>
            </a:r>
            <a:endParaRPr lang="ko-KR" altLang="en-US" sz="1400">
              <a:solidFill>
                <a:srgbClr val="222222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A06084B-2966-4135-9E40-FD0D071AA2F4}"/>
              </a:ext>
            </a:extLst>
          </p:cNvPr>
          <p:cNvSpPr/>
          <p:nvPr/>
        </p:nvSpPr>
        <p:spPr>
          <a:xfrm>
            <a:off x="4813300" y="4826000"/>
            <a:ext cx="2946400" cy="381000"/>
          </a:xfrm>
          <a:prstGeom prst="roundRect">
            <a:avLst/>
          </a:prstGeom>
          <a:solidFill>
            <a:srgbClr val="E8F8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1F43A3"/>
                </a:solidFill>
              </a:rPr>
              <a:t>→ 수혜 가능 정책을 놓침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EE13A4E3-6385-4AD4-877C-6E652EC54A9C}"/>
              </a:ext>
            </a:extLst>
          </p:cNvPr>
          <p:cNvSpPr/>
          <p:nvPr/>
        </p:nvSpPr>
        <p:spPr>
          <a:xfrm>
            <a:off x="8255000" y="1841500"/>
            <a:ext cx="3556000" cy="3556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7D3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18B1372-367E-44C5-A59B-F15B5FB943C1}"/>
              </a:ext>
            </a:extLst>
          </p:cNvPr>
          <p:cNvSpPr/>
          <p:nvPr/>
        </p:nvSpPr>
        <p:spPr>
          <a:xfrm>
            <a:off x="8255000" y="1841500"/>
            <a:ext cx="3556000" cy="76200"/>
          </a:xfrm>
          <a:prstGeom prst="rect">
            <a:avLst/>
          </a:prstGeom>
          <a:solidFill>
            <a:srgbClr val="1F43A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E43C977-C255-4F62-8F17-2F4C794D69CC}"/>
              </a:ext>
            </a:extLst>
          </p:cNvPr>
          <p:cNvSpPr/>
          <p:nvPr/>
        </p:nvSpPr>
        <p:spPr>
          <a:xfrm>
            <a:off x="8559800" y="2222500"/>
            <a:ext cx="635000" cy="330200"/>
          </a:xfrm>
          <a:prstGeom prst="rect">
            <a:avLst/>
          </a:prstGeom>
          <a:solidFill>
            <a:srgbClr val="1F43A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</a:rPr>
              <a:t>03</a:t>
            </a:r>
            <a:endParaRPr lang="ko-KR" altLang="en-US" sz="1300" b="1">
              <a:solidFill>
                <a:srgbClr val="FFFFFF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09E18F-D4C9-4385-A508-548919537BC9}"/>
              </a:ext>
            </a:extLst>
          </p:cNvPr>
          <p:cNvSpPr txBox="1"/>
          <p:nvPr/>
        </p:nvSpPr>
        <p:spPr>
          <a:xfrm>
            <a:off x="8559800" y="2730500"/>
            <a:ext cx="29464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000" b="1">
                <a:solidFill>
                  <a:srgbClr val="173A6A"/>
                </a:solidFill>
              </a:rPr>
              <a:t>마감 누락 리스크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48FA92-8373-47EC-B7FC-C989CFC6B99C}"/>
              </a:ext>
            </a:extLst>
          </p:cNvPr>
          <p:cNvSpPr txBox="1"/>
          <p:nvPr/>
        </p:nvSpPr>
        <p:spPr>
          <a:xfrm>
            <a:off x="8559800" y="3302000"/>
            <a:ext cx="29464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222222"/>
                </a:solidFill>
              </a:rPr>
              <a:t>마감일을 수기로 관리해 신청</a:t>
            </a:r>
            <a:r>
              <a:rPr lang="en-US" altLang="ko-KR" sz="1400">
                <a:solidFill>
                  <a:srgbClr val="222222"/>
                </a:solidFill>
              </a:rPr>
              <a:t>·</a:t>
            </a:r>
            <a:r>
              <a:rPr lang="ko-KR" altLang="en-US" sz="1400">
                <a:solidFill>
                  <a:srgbClr val="222222"/>
                </a:solidFill>
              </a:rPr>
              <a:t>접수 일정 누락이 자주 발생한다</a:t>
            </a:r>
            <a:r>
              <a:rPr lang="en-US" altLang="ko-KR" sz="1400">
                <a:solidFill>
                  <a:srgbClr val="222222"/>
                </a:solidFill>
              </a:rPr>
              <a:t>.</a:t>
            </a:r>
            <a:endParaRPr lang="ko-KR" altLang="en-US" sz="1400">
              <a:solidFill>
                <a:srgbClr val="222222"/>
              </a:solidFill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7D037BA-16EA-4050-B7A4-107DE94AC662}"/>
              </a:ext>
            </a:extLst>
          </p:cNvPr>
          <p:cNvSpPr/>
          <p:nvPr/>
        </p:nvSpPr>
        <p:spPr>
          <a:xfrm>
            <a:off x="8559800" y="4826000"/>
            <a:ext cx="2946400" cy="381000"/>
          </a:xfrm>
          <a:prstGeom prst="roundRect">
            <a:avLst/>
          </a:prstGeom>
          <a:solidFill>
            <a:srgbClr val="E8F8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1F43A3"/>
                </a:solidFill>
              </a:rPr>
              <a:t>→ 기회 상실</a:t>
            </a:r>
            <a:r>
              <a:rPr lang="en-US" altLang="ko-KR" sz="1200" b="1">
                <a:solidFill>
                  <a:srgbClr val="1F43A3"/>
                </a:solidFill>
              </a:rPr>
              <a:t>, </a:t>
            </a:r>
            <a:r>
              <a:rPr lang="ko-KR" altLang="en-US" sz="1200" b="1">
                <a:solidFill>
                  <a:srgbClr val="1F43A3"/>
                </a:solidFill>
              </a:rPr>
              <a:t>일정 압박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57C69B-19C4-4820-AE76-EADC2B18EB4C}"/>
              </a:ext>
            </a:extLst>
          </p:cNvPr>
          <p:cNvSpPr txBox="1"/>
          <p:nvPr/>
        </p:nvSpPr>
        <p:spPr>
          <a:xfrm>
            <a:off x="635000" y="6350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>
                <a:solidFill>
                  <a:srgbClr val="7F91AD"/>
                </a:solidFill>
              </a:rPr>
              <a:t>평가 기준 │ 문제 정의 및 동기</a:t>
            </a:r>
          </a:p>
        </p:txBody>
      </p:sp>
    </p:spTree>
    <p:extLst>
      <p:ext uri="{BB962C8B-B14F-4D97-AF65-F5344CB8AC3E}">
        <p14:creationId xmlns:p14="http://schemas.microsoft.com/office/powerpoint/2010/main" val="2662756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64584B-3B9F-440B-ADE3-E58B4FF6C7C0}"/>
              </a:ext>
            </a:extLst>
          </p:cNvPr>
          <p:cNvSpPr txBox="1"/>
          <p:nvPr/>
        </p:nvSpPr>
        <p:spPr>
          <a:xfrm>
            <a:off x="635000" y="571500"/>
            <a:ext cx="889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800" b="1">
                <a:solidFill>
                  <a:srgbClr val="173A6A"/>
                </a:solidFill>
              </a:rPr>
              <a:t>기존 서비스의 한계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ECE7D4-749B-459A-BEB9-261CB04E8279}"/>
              </a:ext>
            </a:extLst>
          </p:cNvPr>
          <p:cNvSpPr txBox="1"/>
          <p:nvPr/>
        </p:nvSpPr>
        <p:spPr>
          <a:xfrm>
            <a:off x="9652000" y="635000"/>
            <a:ext cx="215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1F43A3"/>
                </a:solidFill>
              </a:rPr>
              <a:t>03 / RELATED WORK</a:t>
            </a:r>
            <a:endParaRPr lang="ko-KR" altLang="en-US" sz="1000" b="1">
              <a:solidFill>
                <a:srgbClr val="1F43A3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32A003C-37B5-4C49-9566-5C92AEC460D9}"/>
              </a:ext>
            </a:extLst>
          </p:cNvPr>
          <p:cNvSpPr/>
          <p:nvPr/>
        </p:nvSpPr>
        <p:spPr>
          <a:xfrm>
            <a:off x="635000" y="1397000"/>
            <a:ext cx="10922000" cy="25400"/>
          </a:xfrm>
          <a:prstGeom prst="rect">
            <a:avLst/>
          </a:prstGeom>
          <a:solidFill>
            <a:srgbClr val="C7D3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4C82B9C-5E78-4180-8E7A-B29BE4D1BB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729290"/>
              </p:ext>
            </p:extLst>
          </p:nvPr>
        </p:nvGraphicFramePr>
        <p:xfrm>
          <a:off x="635000" y="1714500"/>
          <a:ext cx="10922000" cy="340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372705398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29778015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82125141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1">
                          <a:solidFill>
                            <a:srgbClr val="FFFFFF"/>
                          </a:solidFill>
                        </a:rPr>
                        <a:t>기존 서비스</a:t>
                      </a:r>
                    </a:p>
                  </a:txBody>
                  <a:tcPr anchor="ctr">
                    <a:solidFill>
                      <a:srgbClr val="1F43A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1">
                          <a:solidFill>
                            <a:srgbClr val="FFFFFF"/>
                          </a:solidFill>
                        </a:rPr>
                        <a:t>한계</a:t>
                      </a:r>
                    </a:p>
                  </a:txBody>
                  <a:tcPr anchor="ctr">
                    <a:solidFill>
                      <a:srgbClr val="1F43A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1">
                          <a:solidFill>
                            <a:srgbClr val="FFFFFF"/>
                          </a:solidFill>
                        </a:rPr>
                        <a:t>YouthPath 개선</a:t>
                      </a:r>
                    </a:p>
                  </a:txBody>
                  <a:tcPr anchor="ctr">
                    <a:solidFill>
                      <a:srgbClr val="1F43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8539759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1">
                          <a:solidFill>
                            <a:srgbClr val="173A6A"/>
                          </a:solidFill>
                        </a:rPr>
                        <a:t>온통청년 (정책 포털)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0">
                          <a:solidFill>
                            <a:srgbClr val="222222"/>
                          </a:solidFill>
                        </a:rPr>
                        <a:t>키워드 검색 중심, 자격 자동 판단 불가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0">
                          <a:solidFill>
                            <a:srgbClr val="222222"/>
                          </a:solidFill>
                        </a:rPr>
                        <a:t>프로필 기반 자격 매칭 + 출처 인용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309193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1">
                          <a:solidFill>
                            <a:srgbClr val="173A6A"/>
                          </a:solidFill>
                        </a:rPr>
                        <a:t>워크넷 / 채용 플랫폼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0">
                          <a:solidFill>
                            <a:srgbClr val="222222"/>
                          </a:solidFill>
                        </a:rPr>
                        <a:t>채용 공고만, 정책·자소서와 분리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0">
                          <a:solidFill>
                            <a:srgbClr val="222222"/>
                          </a:solidFill>
                        </a:rPr>
                        <a:t>채용·정책·자소서를 하나의 흐름으로 연결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76102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1">
                          <a:solidFill>
                            <a:srgbClr val="173A6A"/>
                          </a:solidFill>
                        </a:rPr>
                        <a:t>일반 LLM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0">
                          <a:solidFill>
                            <a:srgbClr val="222222"/>
                          </a:solidFill>
                        </a:rPr>
                        <a:t>최신 정책·공고 신선도 약함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0">
                          <a:solidFill>
                            <a:srgbClr val="222222"/>
                          </a:solidFill>
                        </a:rPr>
                        <a:t>RAG로 최신 데이터 실시간 검색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14395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1">
                          <a:solidFill>
                            <a:srgbClr val="173A6A"/>
                          </a:solidFill>
                        </a:rPr>
                        <a:t>개인 캘린더 앱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0">
                          <a:solidFill>
                            <a:srgbClr val="222222"/>
                          </a:solidFill>
                        </a:rPr>
                        <a:t>마감일을 수기로 등록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0">
                          <a:solidFill>
                            <a:srgbClr val="222222"/>
                          </a:solidFill>
                        </a:rPr>
                        <a:t>추천 정책·공고 마감을 자동 등록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68194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7617D25-A3B2-41D7-847B-376AC8397315}"/>
              </a:ext>
            </a:extLst>
          </p:cNvPr>
          <p:cNvSpPr txBox="1"/>
          <p:nvPr/>
        </p:nvSpPr>
        <p:spPr>
          <a:xfrm>
            <a:off x="635000" y="6350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>
                <a:solidFill>
                  <a:srgbClr val="7F91AD"/>
                </a:solidFill>
              </a:rPr>
              <a:t>Related work │ </a:t>
            </a:r>
            <a:r>
              <a:rPr lang="ko-KR" altLang="en-US" sz="1100">
                <a:solidFill>
                  <a:srgbClr val="7F91AD"/>
                </a:solidFill>
              </a:rPr>
              <a:t>현 서비스의 개선 포인트</a:t>
            </a:r>
          </a:p>
        </p:txBody>
      </p:sp>
    </p:spTree>
    <p:extLst>
      <p:ext uri="{BB962C8B-B14F-4D97-AF65-F5344CB8AC3E}">
        <p14:creationId xmlns:p14="http://schemas.microsoft.com/office/powerpoint/2010/main" val="4147524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C1959DA1-EA8C-408C-B25A-A842663693F3}"/>
              </a:ext>
            </a:extLst>
          </p:cNvPr>
          <p:cNvCxnSpPr/>
          <p:nvPr/>
        </p:nvCxnSpPr>
        <p:spPr>
          <a:xfrm>
            <a:off x="6096000" y="3810000"/>
            <a:ext cx="4254500" cy="1397000"/>
          </a:xfrm>
          <a:prstGeom prst="straightConnector1">
            <a:avLst/>
          </a:prstGeom>
          <a:ln w="15875" cap="flat" cmpd="sng" algn="ctr">
            <a:solidFill>
              <a:srgbClr val="7F91AD"/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9A3222ED-1C17-45FA-AA18-6457CBBB5634}"/>
              </a:ext>
            </a:extLst>
          </p:cNvPr>
          <p:cNvCxnSpPr/>
          <p:nvPr/>
        </p:nvCxnSpPr>
        <p:spPr>
          <a:xfrm>
            <a:off x="1841500" y="3810000"/>
            <a:ext cx="4254500" cy="1397000"/>
          </a:xfrm>
          <a:prstGeom prst="straightConnector1">
            <a:avLst/>
          </a:prstGeom>
          <a:ln w="15875" cap="flat" cmpd="sng" algn="ctr">
            <a:solidFill>
              <a:srgbClr val="7F91AD"/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D982AB83-D337-4D89-91A9-1DE52C3CBCA7}"/>
              </a:ext>
            </a:extLst>
          </p:cNvPr>
          <p:cNvCxnSpPr/>
          <p:nvPr/>
        </p:nvCxnSpPr>
        <p:spPr>
          <a:xfrm>
            <a:off x="6096000" y="2667000"/>
            <a:ext cx="4254500" cy="1143000"/>
          </a:xfrm>
          <a:prstGeom prst="straightConnector1">
            <a:avLst/>
          </a:prstGeom>
          <a:ln w="15875" cap="flat" cmpd="sng" algn="ctr">
            <a:solidFill>
              <a:srgbClr val="7F91AD"/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A2C145BD-C879-40BB-AD1A-FD018DF8E95E}"/>
              </a:ext>
            </a:extLst>
          </p:cNvPr>
          <p:cNvCxnSpPr/>
          <p:nvPr/>
        </p:nvCxnSpPr>
        <p:spPr>
          <a:xfrm>
            <a:off x="1841500" y="2667000"/>
            <a:ext cx="4254500" cy="1143000"/>
          </a:xfrm>
          <a:prstGeom prst="straightConnector1">
            <a:avLst/>
          </a:prstGeom>
          <a:ln w="15875" cap="flat" cmpd="sng" algn="ctr">
            <a:solidFill>
              <a:srgbClr val="7F91AD"/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32AC09A-D49D-4506-8E76-A755252EBD41}"/>
              </a:ext>
            </a:extLst>
          </p:cNvPr>
          <p:cNvSpPr txBox="1"/>
          <p:nvPr/>
        </p:nvSpPr>
        <p:spPr>
          <a:xfrm>
            <a:off x="635000" y="571500"/>
            <a:ext cx="889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800" b="1">
                <a:solidFill>
                  <a:srgbClr val="173A6A"/>
                </a:solidFill>
              </a:rPr>
              <a:t>YouthPath</a:t>
            </a:r>
            <a:r>
              <a:rPr lang="ko-KR" altLang="en-US" sz="2800" b="1">
                <a:solidFill>
                  <a:srgbClr val="173A6A"/>
                </a:solidFill>
              </a:rPr>
              <a:t>이 제공하는 통합 경험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15CB1A-48F9-47A8-BF6A-A8B4B6B4E378}"/>
              </a:ext>
            </a:extLst>
          </p:cNvPr>
          <p:cNvSpPr txBox="1"/>
          <p:nvPr/>
        </p:nvSpPr>
        <p:spPr>
          <a:xfrm>
            <a:off x="10160000" y="6350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1F43A3"/>
                </a:solidFill>
              </a:rPr>
              <a:t>04 / SOLUTION</a:t>
            </a:r>
            <a:endParaRPr lang="ko-KR" altLang="en-US" sz="1000" b="1">
              <a:solidFill>
                <a:srgbClr val="1F43A3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852D027-65C6-4633-BD40-628E51C5B8B6}"/>
              </a:ext>
            </a:extLst>
          </p:cNvPr>
          <p:cNvSpPr/>
          <p:nvPr/>
        </p:nvSpPr>
        <p:spPr>
          <a:xfrm>
            <a:off x="635000" y="1397000"/>
            <a:ext cx="10922000" cy="25400"/>
          </a:xfrm>
          <a:prstGeom prst="rect">
            <a:avLst/>
          </a:prstGeom>
          <a:solidFill>
            <a:srgbClr val="C7D3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F91BACF-7C75-4DB6-BDE8-413633962655}"/>
              </a:ext>
            </a:extLst>
          </p:cNvPr>
          <p:cNvSpPr/>
          <p:nvPr/>
        </p:nvSpPr>
        <p:spPr>
          <a:xfrm>
            <a:off x="5207000" y="2921000"/>
            <a:ext cx="1778000" cy="1778000"/>
          </a:xfrm>
          <a:prstGeom prst="ellipse">
            <a:avLst/>
          </a:prstGeom>
          <a:solidFill>
            <a:srgbClr val="1F43A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FFFFFF"/>
                </a:solidFill>
              </a:rPr>
              <a:t>User
Profile</a:t>
            </a:r>
            <a:endParaRPr lang="ko-KR" altLang="en-US" b="1">
              <a:solidFill>
                <a:srgbClr val="FFFFFF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AF66579-D808-4749-A3C0-EA5A24523B3A}"/>
              </a:ext>
            </a:extLst>
          </p:cNvPr>
          <p:cNvSpPr/>
          <p:nvPr/>
        </p:nvSpPr>
        <p:spPr>
          <a:xfrm>
            <a:off x="889000" y="2032000"/>
            <a:ext cx="1905000" cy="1270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1F43A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FF262D-0F8A-4FE3-85CF-37CDBAAAE5CF}"/>
              </a:ext>
            </a:extLst>
          </p:cNvPr>
          <p:cNvSpPr txBox="1"/>
          <p:nvPr/>
        </p:nvSpPr>
        <p:spPr>
          <a:xfrm>
            <a:off x="1016000" y="2209800"/>
            <a:ext cx="165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500" b="1">
                <a:solidFill>
                  <a:srgbClr val="173A6A"/>
                </a:solidFill>
              </a:rPr>
              <a:t>정책 매칭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47C280-E3F1-4039-ACE9-38F019BC95B1}"/>
              </a:ext>
            </a:extLst>
          </p:cNvPr>
          <p:cNvSpPr txBox="1"/>
          <p:nvPr/>
        </p:nvSpPr>
        <p:spPr>
          <a:xfrm>
            <a:off x="1016000" y="2590800"/>
            <a:ext cx="1651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666666"/>
                </a:solidFill>
              </a:rPr>
              <a:t>자격 조건 기반
맞춤 정책 추천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28C4879-EB9F-41F0-9B2F-96DCAE50A601}"/>
              </a:ext>
            </a:extLst>
          </p:cNvPr>
          <p:cNvSpPr/>
          <p:nvPr/>
        </p:nvSpPr>
        <p:spPr>
          <a:xfrm>
            <a:off x="9398000" y="2032000"/>
            <a:ext cx="1905000" cy="1270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1F43A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F000E2-B0C9-4295-8171-B367F3371ACE}"/>
              </a:ext>
            </a:extLst>
          </p:cNvPr>
          <p:cNvSpPr txBox="1"/>
          <p:nvPr/>
        </p:nvSpPr>
        <p:spPr>
          <a:xfrm>
            <a:off x="9525000" y="2209800"/>
            <a:ext cx="165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500" b="1">
                <a:solidFill>
                  <a:srgbClr val="173A6A"/>
                </a:solidFill>
              </a:rPr>
              <a:t>채용 추천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BFAFEF-C2BC-4FB5-BE6E-7DF2EA7F7E3C}"/>
              </a:ext>
            </a:extLst>
          </p:cNvPr>
          <p:cNvSpPr txBox="1"/>
          <p:nvPr/>
        </p:nvSpPr>
        <p:spPr>
          <a:xfrm>
            <a:off x="9525000" y="2590800"/>
            <a:ext cx="1651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666666"/>
                </a:solidFill>
              </a:rPr>
              <a:t>프로필</a:t>
            </a:r>
            <a:r>
              <a:rPr lang="en-US" altLang="ko-KR" sz="1200">
                <a:solidFill>
                  <a:srgbClr val="666666"/>
                </a:solidFill>
              </a:rPr>
              <a:t>·</a:t>
            </a:r>
            <a:r>
              <a:rPr lang="ko-KR" altLang="en-US" sz="1200">
                <a:solidFill>
                  <a:srgbClr val="666666"/>
                </a:solidFill>
              </a:rPr>
              <a:t>역량 기반
공고 큐레이션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6906608-F899-460A-969B-4402E08BE3FE}"/>
              </a:ext>
            </a:extLst>
          </p:cNvPr>
          <p:cNvSpPr/>
          <p:nvPr/>
        </p:nvSpPr>
        <p:spPr>
          <a:xfrm>
            <a:off x="889000" y="4572000"/>
            <a:ext cx="1905000" cy="1270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1F43A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A4D534-D7FE-41CF-9BB5-32EB306FB71F}"/>
              </a:ext>
            </a:extLst>
          </p:cNvPr>
          <p:cNvSpPr txBox="1"/>
          <p:nvPr/>
        </p:nvSpPr>
        <p:spPr>
          <a:xfrm>
            <a:off x="1016000" y="4749800"/>
            <a:ext cx="165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500" b="1">
                <a:solidFill>
                  <a:srgbClr val="173A6A"/>
                </a:solidFill>
              </a:rPr>
              <a:t>자소서</a:t>
            </a:r>
            <a:r>
              <a:rPr lang="en-US" altLang="ko-KR" sz="1500" b="1">
                <a:solidFill>
                  <a:srgbClr val="173A6A"/>
                </a:solidFill>
              </a:rPr>
              <a:t>·</a:t>
            </a:r>
            <a:r>
              <a:rPr lang="ko-KR" altLang="en-US" sz="1500" b="1">
                <a:solidFill>
                  <a:srgbClr val="173A6A"/>
                </a:solidFill>
              </a:rPr>
              <a:t>면접 코칭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6DED33-25B3-4BF9-A83B-7747494DFAC4}"/>
              </a:ext>
            </a:extLst>
          </p:cNvPr>
          <p:cNvSpPr txBox="1"/>
          <p:nvPr/>
        </p:nvSpPr>
        <p:spPr>
          <a:xfrm>
            <a:off x="1016000" y="5130800"/>
            <a:ext cx="1651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666666"/>
                </a:solidFill>
              </a:rPr>
              <a:t>직무별 자소서
작성</a:t>
            </a:r>
            <a:r>
              <a:rPr lang="en-US" altLang="ko-KR" sz="1200">
                <a:solidFill>
                  <a:srgbClr val="666666"/>
                </a:solidFill>
              </a:rPr>
              <a:t>·</a:t>
            </a:r>
            <a:r>
              <a:rPr lang="ko-KR" altLang="en-US" sz="1200">
                <a:solidFill>
                  <a:srgbClr val="666666"/>
                </a:solidFill>
              </a:rPr>
              <a:t>피드백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D0DB5C8F-C8B6-459B-B248-6EE22BFF9237}"/>
              </a:ext>
            </a:extLst>
          </p:cNvPr>
          <p:cNvSpPr/>
          <p:nvPr/>
        </p:nvSpPr>
        <p:spPr>
          <a:xfrm>
            <a:off x="9398000" y="4572000"/>
            <a:ext cx="1905000" cy="1270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1F43A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A69DA1-DB2A-44CC-981A-39273E7823BB}"/>
              </a:ext>
            </a:extLst>
          </p:cNvPr>
          <p:cNvSpPr txBox="1"/>
          <p:nvPr/>
        </p:nvSpPr>
        <p:spPr>
          <a:xfrm>
            <a:off x="9525000" y="4749800"/>
            <a:ext cx="165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500" b="1">
                <a:solidFill>
                  <a:srgbClr val="173A6A"/>
                </a:solidFill>
              </a:rPr>
              <a:t>일정</a:t>
            </a:r>
            <a:r>
              <a:rPr lang="en-US" altLang="ko-KR" sz="1500" b="1">
                <a:solidFill>
                  <a:srgbClr val="173A6A"/>
                </a:solidFill>
              </a:rPr>
              <a:t>·</a:t>
            </a:r>
            <a:r>
              <a:rPr lang="ko-KR" altLang="en-US" sz="1500" b="1">
                <a:solidFill>
                  <a:srgbClr val="173A6A"/>
                </a:solidFill>
              </a:rPr>
              <a:t>마감 알림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A25FA8-DEB0-4F1C-A72A-1D08E0C533FF}"/>
              </a:ext>
            </a:extLst>
          </p:cNvPr>
          <p:cNvSpPr txBox="1"/>
          <p:nvPr/>
        </p:nvSpPr>
        <p:spPr>
          <a:xfrm>
            <a:off x="9525000" y="5130800"/>
            <a:ext cx="1651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666666"/>
                </a:solidFill>
              </a:rPr>
              <a:t>신청</a:t>
            </a:r>
            <a:r>
              <a:rPr lang="en-US" altLang="ko-KR" sz="1200">
                <a:solidFill>
                  <a:srgbClr val="666666"/>
                </a:solidFill>
              </a:rPr>
              <a:t>·</a:t>
            </a:r>
            <a:r>
              <a:rPr lang="ko-KR" altLang="en-US" sz="1200">
                <a:solidFill>
                  <a:srgbClr val="666666"/>
                </a:solidFill>
              </a:rPr>
              <a:t>접수일
자동 등록</a:t>
            </a:r>
            <a:r>
              <a:rPr lang="en-US" altLang="ko-KR" sz="1200">
                <a:solidFill>
                  <a:srgbClr val="666666"/>
                </a:solidFill>
              </a:rPr>
              <a:t>·</a:t>
            </a:r>
            <a:r>
              <a:rPr lang="ko-KR" altLang="en-US" sz="1200">
                <a:solidFill>
                  <a:srgbClr val="666666"/>
                </a:solidFill>
              </a:rPr>
              <a:t>알림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6F7BA6FD-A259-4CC8-B0A3-30BE182BE514}"/>
              </a:ext>
            </a:extLst>
          </p:cNvPr>
          <p:cNvSpPr/>
          <p:nvPr/>
        </p:nvSpPr>
        <p:spPr>
          <a:xfrm>
            <a:off x="762000" y="6096000"/>
            <a:ext cx="10668000" cy="558800"/>
          </a:xfrm>
          <a:prstGeom prst="roundRect">
            <a:avLst/>
          </a:prstGeom>
          <a:solidFill>
            <a:srgbClr val="1F43A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FFFFFF"/>
                </a:solidFill>
              </a:rPr>
              <a:t>하나의 프로필 입력으로 정책 자격</a:t>
            </a:r>
            <a:r>
              <a:rPr lang="en-US" altLang="ko-KR" sz="1400" b="1">
                <a:solidFill>
                  <a:srgbClr val="FFFFFF"/>
                </a:solidFill>
              </a:rPr>
              <a:t>, </a:t>
            </a:r>
            <a:r>
              <a:rPr lang="ko-KR" altLang="en-US" sz="1400" b="1">
                <a:solidFill>
                  <a:srgbClr val="FFFFFF"/>
                </a:solidFill>
              </a:rPr>
              <a:t>채용 기회</a:t>
            </a:r>
            <a:r>
              <a:rPr lang="en-US" altLang="ko-KR" sz="1400" b="1">
                <a:solidFill>
                  <a:srgbClr val="FFFFFF"/>
                </a:solidFill>
              </a:rPr>
              <a:t>, </a:t>
            </a:r>
            <a:r>
              <a:rPr lang="ko-KR" altLang="en-US" sz="1400" b="1">
                <a:solidFill>
                  <a:srgbClr val="FFFFFF"/>
                </a:solidFill>
              </a:rPr>
              <a:t>글쓰기 준비</a:t>
            </a:r>
            <a:r>
              <a:rPr lang="en-US" altLang="ko-KR" sz="1400" b="1">
                <a:solidFill>
                  <a:srgbClr val="FFFFFF"/>
                </a:solidFill>
              </a:rPr>
              <a:t>, </a:t>
            </a:r>
            <a:r>
              <a:rPr lang="ko-KR" altLang="en-US" sz="1400" b="1">
                <a:solidFill>
                  <a:srgbClr val="FFFFFF"/>
                </a:solidFill>
              </a:rPr>
              <a:t>마감 일정까지 한 번에 연결</a:t>
            </a:r>
          </a:p>
        </p:txBody>
      </p:sp>
    </p:spTree>
    <p:extLst>
      <p:ext uri="{BB962C8B-B14F-4D97-AF65-F5344CB8AC3E}">
        <p14:creationId xmlns:p14="http://schemas.microsoft.com/office/powerpoint/2010/main" val="3373965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618ED4-AB51-4E5C-B5F8-F76B8B25EF8D}"/>
              </a:ext>
            </a:extLst>
          </p:cNvPr>
          <p:cNvSpPr txBox="1"/>
          <p:nvPr/>
        </p:nvSpPr>
        <p:spPr>
          <a:xfrm>
            <a:off x="635000" y="571500"/>
            <a:ext cx="889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800" b="1">
                <a:solidFill>
                  <a:srgbClr val="173A6A"/>
                </a:solidFill>
              </a:rPr>
              <a:t>시스템 아키텍처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E0786A-A42D-4A26-98E2-3F3415538695}"/>
              </a:ext>
            </a:extLst>
          </p:cNvPr>
          <p:cNvSpPr txBox="1"/>
          <p:nvPr/>
        </p:nvSpPr>
        <p:spPr>
          <a:xfrm>
            <a:off x="9652000" y="635000"/>
            <a:ext cx="215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1F43A3"/>
                </a:solidFill>
              </a:rPr>
              <a:t>05 / ARCHITECTURE</a:t>
            </a:r>
            <a:endParaRPr lang="ko-KR" altLang="en-US" sz="1000" b="1">
              <a:solidFill>
                <a:srgbClr val="1F43A3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A8B39D-11C4-4FC6-AC16-4BF2641AD3CE}"/>
              </a:ext>
            </a:extLst>
          </p:cNvPr>
          <p:cNvSpPr/>
          <p:nvPr/>
        </p:nvSpPr>
        <p:spPr>
          <a:xfrm>
            <a:off x="635000" y="1397000"/>
            <a:ext cx="10922000" cy="25400"/>
          </a:xfrm>
          <a:prstGeom prst="rect">
            <a:avLst/>
          </a:prstGeom>
          <a:solidFill>
            <a:srgbClr val="C7D3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95A8F6D-DCAB-4612-8093-B76E069170F8}"/>
              </a:ext>
            </a:extLst>
          </p:cNvPr>
          <p:cNvSpPr/>
          <p:nvPr/>
        </p:nvSpPr>
        <p:spPr>
          <a:xfrm>
            <a:off x="762000" y="1651000"/>
            <a:ext cx="1016000" cy="812800"/>
          </a:xfrm>
          <a:prstGeom prst="rect">
            <a:avLst/>
          </a:prstGeom>
          <a:solidFill>
            <a:srgbClr val="0E73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FFFFFF"/>
                </a:solidFill>
              </a:rPr>
              <a:t>L1</a:t>
            </a:r>
            <a:endParaRPr lang="ko-KR" altLang="en-US" b="1">
              <a:solidFill>
                <a:srgbClr val="FFFFFF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7FD37DB-5154-455E-9681-C5EB7CB980C7}"/>
              </a:ext>
            </a:extLst>
          </p:cNvPr>
          <p:cNvSpPr/>
          <p:nvPr/>
        </p:nvSpPr>
        <p:spPr>
          <a:xfrm>
            <a:off x="1778000" y="1651000"/>
            <a:ext cx="10160000" cy="8128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42BA96-762D-4B42-B7FF-932257DABB0E}"/>
              </a:ext>
            </a:extLst>
          </p:cNvPr>
          <p:cNvSpPr txBox="1"/>
          <p:nvPr/>
        </p:nvSpPr>
        <p:spPr>
          <a:xfrm>
            <a:off x="2032000" y="1752600"/>
            <a:ext cx="4445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500" b="1">
                <a:solidFill>
                  <a:srgbClr val="173A6A"/>
                </a:solidFill>
              </a:rPr>
              <a:t>User Interface</a:t>
            </a:r>
            <a:endParaRPr lang="ko-KR" altLang="en-US" sz="1500" b="1">
              <a:solidFill>
                <a:srgbClr val="173A6A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9B5DD8-B7B8-44F3-9321-F53C1D0EBFEE}"/>
              </a:ext>
            </a:extLst>
          </p:cNvPr>
          <p:cNvSpPr txBox="1"/>
          <p:nvPr/>
        </p:nvSpPr>
        <p:spPr>
          <a:xfrm>
            <a:off x="2032000" y="2082800"/>
            <a:ext cx="965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222222"/>
                </a:solidFill>
              </a:rPr>
              <a:t>프로필 입력 폼 </a:t>
            </a:r>
            <a:r>
              <a:rPr lang="en-US" altLang="ko-KR" sz="1300">
                <a:solidFill>
                  <a:srgbClr val="222222"/>
                </a:solidFill>
              </a:rPr>
              <a:t>· </a:t>
            </a:r>
            <a:r>
              <a:rPr lang="ko-KR" altLang="en-US" sz="1300">
                <a:solidFill>
                  <a:srgbClr val="222222"/>
                </a:solidFill>
              </a:rPr>
              <a:t>통합 대시보드 </a:t>
            </a:r>
            <a:r>
              <a:rPr lang="en-US" altLang="ko-KR" sz="1300">
                <a:solidFill>
                  <a:srgbClr val="222222"/>
                </a:solidFill>
              </a:rPr>
              <a:t>· </a:t>
            </a:r>
            <a:r>
              <a:rPr lang="ko-KR" altLang="en-US" sz="1300">
                <a:solidFill>
                  <a:srgbClr val="222222"/>
                </a:solidFill>
              </a:rPr>
              <a:t>알림 패널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B197ABA-D318-424E-B6B7-9A271A5415C6}"/>
              </a:ext>
            </a:extLst>
          </p:cNvPr>
          <p:cNvSpPr/>
          <p:nvPr/>
        </p:nvSpPr>
        <p:spPr>
          <a:xfrm>
            <a:off x="762000" y="2565400"/>
            <a:ext cx="1016000" cy="812800"/>
          </a:xfrm>
          <a:prstGeom prst="rect">
            <a:avLst/>
          </a:prstGeom>
          <a:solidFill>
            <a:srgbClr val="1F43A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FFFFFF"/>
                </a:solidFill>
              </a:rPr>
              <a:t>L2</a:t>
            </a:r>
            <a:endParaRPr lang="ko-KR" altLang="en-US" b="1">
              <a:solidFill>
                <a:srgbClr val="FFFFFF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B035E8C-5C09-4246-B112-93E1A048A8BF}"/>
              </a:ext>
            </a:extLst>
          </p:cNvPr>
          <p:cNvSpPr/>
          <p:nvPr/>
        </p:nvSpPr>
        <p:spPr>
          <a:xfrm>
            <a:off x="1778000" y="2565400"/>
            <a:ext cx="10160000" cy="8128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6C0B85-9BFD-4EBB-8B8A-891F037BC1FB}"/>
              </a:ext>
            </a:extLst>
          </p:cNvPr>
          <p:cNvSpPr txBox="1"/>
          <p:nvPr/>
        </p:nvSpPr>
        <p:spPr>
          <a:xfrm>
            <a:off x="2032000" y="2667000"/>
            <a:ext cx="4445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500" b="1">
                <a:solidFill>
                  <a:srgbClr val="173A6A"/>
                </a:solidFill>
              </a:rPr>
              <a:t>Router / Orchestrator</a:t>
            </a:r>
            <a:endParaRPr lang="ko-KR" altLang="en-US" sz="1500" b="1">
              <a:solidFill>
                <a:srgbClr val="173A6A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EE8736-6C08-4C0B-9518-2C1F19A8D04F}"/>
              </a:ext>
            </a:extLst>
          </p:cNvPr>
          <p:cNvSpPr txBox="1"/>
          <p:nvPr/>
        </p:nvSpPr>
        <p:spPr>
          <a:xfrm>
            <a:off x="2032000" y="2997200"/>
            <a:ext cx="965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222222"/>
                </a:solidFill>
              </a:rPr>
              <a:t>사용자 의도 분류 → 필요한 에이전트 선택 </a:t>
            </a:r>
            <a:r>
              <a:rPr lang="en-US" altLang="ko-KR" sz="1300">
                <a:solidFill>
                  <a:srgbClr val="222222"/>
                </a:solidFill>
              </a:rPr>
              <a:t>· </a:t>
            </a:r>
            <a:r>
              <a:rPr lang="ko-KR" altLang="en-US" sz="1300">
                <a:solidFill>
                  <a:srgbClr val="222222"/>
                </a:solidFill>
              </a:rPr>
              <a:t>병렬 호출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A69C61A-F843-45A7-B56C-0E2E31BF064F}"/>
              </a:ext>
            </a:extLst>
          </p:cNvPr>
          <p:cNvSpPr/>
          <p:nvPr/>
        </p:nvSpPr>
        <p:spPr>
          <a:xfrm>
            <a:off x="762000" y="3479800"/>
            <a:ext cx="1016000" cy="812800"/>
          </a:xfrm>
          <a:prstGeom prst="rect">
            <a:avLst/>
          </a:prstGeom>
          <a:solidFill>
            <a:srgbClr val="173A6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FFFFFF"/>
                </a:solidFill>
              </a:rPr>
              <a:t>L3</a:t>
            </a:r>
            <a:endParaRPr lang="ko-KR" altLang="en-US" b="1">
              <a:solidFill>
                <a:srgbClr val="FFFFFF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5ABA5AA-1E62-4A86-9E6A-0901DEA5C4D3}"/>
              </a:ext>
            </a:extLst>
          </p:cNvPr>
          <p:cNvSpPr/>
          <p:nvPr/>
        </p:nvSpPr>
        <p:spPr>
          <a:xfrm>
            <a:off x="1778000" y="3479800"/>
            <a:ext cx="10160000" cy="8128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FEA8C6-B8D4-4A55-863F-124C9A206EE7}"/>
              </a:ext>
            </a:extLst>
          </p:cNvPr>
          <p:cNvSpPr txBox="1"/>
          <p:nvPr/>
        </p:nvSpPr>
        <p:spPr>
          <a:xfrm>
            <a:off x="2032000" y="3581400"/>
            <a:ext cx="4445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500" b="1">
                <a:solidFill>
                  <a:srgbClr val="173A6A"/>
                </a:solidFill>
              </a:rPr>
              <a:t>Specialized Agents</a:t>
            </a:r>
            <a:endParaRPr lang="ko-KR" altLang="en-US" sz="1500" b="1">
              <a:solidFill>
                <a:srgbClr val="173A6A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D080E6-170A-4299-9B6B-7BA380CBB271}"/>
              </a:ext>
            </a:extLst>
          </p:cNvPr>
          <p:cNvSpPr txBox="1"/>
          <p:nvPr/>
        </p:nvSpPr>
        <p:spPr>
          <a:xfrm>
            <a:off x="2032000" y="3911600"/>
            <a:ext cx="965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222222"/>
                </a:solidFill>
              </a:rPr>
              <a:t>Policy Agent · Job Agent · Essay Agent · Calendar Agent</a:t>
            </a:r>
            <a:endParaRPr lang="ko-KR" altLang="en-US" sz="1300">
              <a:solidFill>
                <a:srgbClr val="222222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D85DE6A-75D4-4F23-A08C-CADBE015127F}"/>
              </a:ext>
            </a:extLst>
          </p:cNvPr>
          <p:cNvSpPr/>
          <p:nvPr/>
        </p:nvSpPr>
        <p:spPr>
          <a:xfrm>
            <a:off x="762000" y="4394200"/>
            <a:ext cx="1016000" cy="812800"/>
          </a:xfrm>
          <a:prstGeom prst="rect">
            <a:avLst/>
          </a:prstGeom>
          <a:solidFill>
            <a:srgbClr val="29C7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FFFFFF"/>
                </a:solidFill>
              </a:rPr>
              <a:t>L4</a:t>
            </a:r>
            <a:endParaRPr lang="ko-KR" altLang="en-US" b="1">
              <a:solidFill>
                <a:srgbClr val="FFFFFF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27FFE3D-3EBF-419D-826E-627A9F403A7B}"/>
              </a:ext>
            </a:extLst>
          </p:cNvPr>
          <p:cNvSpPr/>
          <p:nvPr/>
        </p:nvSpPr>
        <p:spPr>
          <a:xfrm>
            <a:off x="1778000" y="4394200"/>
            <a:ext cx="10160000" cy="8128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E9E0F1-B15C-4737-9623-6A2AD912C57F}"/>
              </a:ext>
            </a:extLst>
          </p:cNvPr>
          <p:cNvSpPr txBox="1"/>
          <p:nvPr/>
        </p:nvSpPr>
        <p:spPr>
          <a:xfrm>
            <a:off x="2032000" y="4495800"/>
            <a:ext cx="4445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500" b="1">
                <a:solidFill>
                  <a:srgbClr val="173A6A"/>
                </a:solidFill>
              </a:rPr>
              <a:t>RAG · MCP Data Layer</a:t>
            </a:r>
            <a:endParaRPr lang="ko-KR" altLang="en-US" sz="1500" b="1">
              <a:solidFill>
                <a:srgbClr val="173A6A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C53DD2-A224-4600-9EDC-07E876E5A727}"/>
              </a:ext>
            </a:extLst>
          </p:cNvPr>
          <p:cNvSpPr txBox="1"/>
          <p:nvPr/>
        </p:nvSpPr>
        <p:spPr>
          <a:xfrm>
            <a:off x="2032000" y="4826000"/>
            <a:ext cx="965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222222"/>
                </a:solidFill>
              </a:rPr>
              <a:t>온통청년</a:t>
            </a:r>
            <a:r>
              <a:rPr lang="en-US" altLang="ko-KR" sz="1300">
                <a:solidFill>
                  <a:srgbClr val="222222"/>
                </a:solidFill>
              </a:rPr>
              <a:t>, </a:t>
            </a:r>
            <a:r>
              <a:rPr lang="ko-KR" altLang="en-US" sz="1300">
                <a:solidFill>
                  <a:srgbClr val="222222"/>
                </a:solidFill>
              </a:rPr>
              <a:t>워크넷</a:t>
            </a:r>
            <a:r>
              <a:rPr lang="en-US" altLang="ko-KR" sz="1300">
                <a:solidFill>
                  <a:srgbClr val="222222"/>
                </a:solidFill>
              </a:rPr>
              <a:t>, </a:t>
            </a:r>
            <a:r>
              <a:rPr lang="ko-KR" altLang="en-US" sz="1300">
                <a:solidFill>
                  <a:srgbClr val="222222"/>
                </a:solidFill>
              </a:rPr>
              <a:t>공공 데이터</a:t>
            </a:r>
            <a:r>
              <a:rPr lang="en-US" altLang="ko-KR" sz="1300">
                <a:solidFill>
                  <a:srgbClr val="222222"/>
                </a:solidFill>
              </a:rPr>
              <a:t>, </a:t>
            </a:r>
            <a:r>
              <a:rPr lang="ko-KR" altLang="en-US" sz="1300">
                <a:solidFill>
                  <a:srgbClr val="222222"/>
                </a:solidFill>
              </a:rPr>
              <a:t>기업 공시</a:t>
            </a:r>
            <a:r>
              <a:rPr lang="en-US" altLang="ko-KR" sz="1300">
                <a:solidFill>
                  <a:srgbClr val="222222"/>
                </a:solidFill>
              </a:rPr>
              <a:t>, </a:t>
            </a:r>
            <a:r>
              <a:rPr lang="ko-KR" altLang="en-US" sz="1300">
                <a:solidFill>
                  <a:srgbClr val="222222"/>
                </a:solidFill>
              </a:rPr>
              <a:t>합격 자소서 인덱싱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525A62D-5D1B-47AB-9C28-E64052C3FBC0}"/>
              </a:ext>
            </a:extLst>
          </p:cNvPr>
          <p:cNvSpPr/>
          <p:nvPr/>
        </p:nvSpPr>
        <p:spPr>
          <a:xfrm>
            <a:off x="762000" y="5308600"/>
            <a:ext cx="1016000" cy="812800"/>
          </a:xfrm>
          <a:prstGeom prst="rect">
            <a:avLst/>
          </a:prstGeom>
          <a:solidFill>
            <a:srgbClr val="17DD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FFFFFF"/>
                </a:solidFill>
              </a:rPr>
              <a:t>L5</a:t>
            </a:r>
            <a:endParaRPr lang="ko-KR" altLang="en-US" b="1">
              <a:solidFill>
                <a:srgbClr val="FFFFFF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D7DBF55-352D-4025-AE5C-0FC3B447C71F}"/>
              </a:ext>
            </a:extLst>
          </p:cNvPr>
          <p:cNvSpPr/>
          <p:nvPr/>
        </p:nvSpPr>
        <p:spPr>
          <a:xfrm>
            <a:off x="1778000" y="5308600"/>
            <a:ext cx="10160000" cy="812800"/>
          </a:xfrm>
          <a:prstGeom prst="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3A6EAE-686A-4485-BDA4-6733566AEE81}"/>
              </a:ext>
            </a:extLst>
          </p:cNvPr>
          <p:cNvSpPr txBox="1"/>
          <p:nvPr/>
        </p:nvSpPr>
        <p:spPr>
          <a:xfrm>
            <a:off x="2032000" y="5410200"/>
            <a:ext cx="4445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500" b="1">
                <a:solidFill>
                  <a:srgbClr val="173A6A"/>
                </a:solidFill>
              </a:rPr>
              <a:t>Storage · Memory</a:t>
            </a:r>
            <a:endParaRPr lang="ko-KR" altLang="en-US" sz="1500" b="1">
              <a:solidFill>
                <a:srgbClr val="173A6A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49A1E7-C153-428A-B695-00354CE05144}"/>
              </a:ext>
            </a:extLst>
          </p:cNvPr>
          <p:cNvSpPr txBox="1"/>
          <p:nvPr/>
        </p:nvSpPr>
        <p:spPr>
          <a:xfrm>
            <a:off x="2032000" y="5740400"/>
            <a:ext cx="965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222222"/>
                </a:solidFill>
              </a:rPr>
              <a:t>Vector store · </a:t>
            </a:r>
            <a:r>
              <a:rPr lang="ko-KR" altLang="en-US" sz="1300">
                <a:solidFill>
                  <a:srgbClr val="222222"/>
                </a:solidFill>
              </a:rPr>
              <a:t>사용자 상태 </a:t>
            </a:r>
            <a:r>
              <a:rPr lang="en-US" altLang="ko-KR" sz="1300">
                <a:solidFill>
                  <a:srgbClr val="222222"/>
                </a:solidFill>
              </a:rPr>
              <a:t>/ </a:t>
            </a:r>
            <a:r>
              <a:rPr lang="ko-KR" altLang="en-US" sz="1300">
                <a:solidFill>
                  <a:srgbClr val="222222"/>
                </a:solidFill>
              </a:rPr>
              <a:t>프로필 캐시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FFF7EA-760D-47D4-934C-919BC4A93DB3}"/>
              </a:ext>
            </a:extLst>
          </p:cNvPr>
          <p:cNvSpPr txBox="1"/>
          <p:nvPr/>
        </p:nvSpPr>
        <p:spPr>
          <a:xfrm>
            <a:off x="635000" y="63500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>
                <a:solidFill>
                  <a:srgbClr val="7F91AD"/>
                </a:solidFill>
              </a:rPr>
              <a:t>System design │ LLM + RAG + Agents / MCP</a:t>
            </a:r>
            <a:endParaRPr lang="ko-KR" altLang="en-US" sz="1100">
              <a:solidFill>
                <a:srgbClr val="7F91A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6457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252D60-BB17-4836-B305-C850F47AD609}"/>
              </a:ext>
            </a:extLst>
          </p:cNvPr>
          <p:cNvSpPr txBox="1"/>
          <p:nvPr/>
        </p:nvSpPr>
        <p:spPr>
          <a:xfrm>
            <a:off x="635000" y="571500"/>
            <a:ext cx="889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800" b="1">
                <a:solidFill>
                  <a:srgbClr val="173A6A"/>
                </a:solidFill>
              </a:rPr>
              <a:t>에이전트별 역할 설계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57DD18-BF80-4842-961F-F2B148EE0210}"/>
              </a:ext>
            </a:extLst>
          </p:cNvPr>
          <p:cNvSpPr txBox="1"/>
          <p:nvPr/>
        </p:nvSpPr>
        <p:spPr>
          <a:xfrm>
            <a:off x="10160000" y="6350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1F43A3"/>
                </a:solidFill>
              </a:rPr>
              <a:t>06 / AGENTS</a:t>
            </a:r>
            <a:endParaRPr lang="ko-KR" altLang="en-US" sz="1000" b="1">
              <a:solidFill>
                <a:srgbClr val="1F43A3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5DCBE6C-47F3-4D5B-B2F5-0C32EC7A2263}"/>
              </a:ext>
            </a:extLst>
          </p:cNvPr>
          <p:cNvSpPr/>
          <p:nvPr/>
        </p:nvSpPr>
        <p:spPr>
          <a:xfrm>
            <a:off x="635000" y="1397000"/>
            <a:ext cx="10922000" cy="25400"/>
          </a:xfrm>
          <a:prstGeom prst="rect">
            <a:avLst/>
          </a:prstGeom>
          <a:solidFill>
            <a:srgbClr val="C7D3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4912D0EA-F08E-4309-AF8F-23448A0C29AE}"/>
              </a:ext>
            </a:extLst>
          </p:cNvPr>
          <p:cNvSpPr/>
          <p:nvPr/>
        </p:nvSpPr>
        <p:spPr>
          <a:xfrm>
            <a:off x="762000" y="1651000"/>
            <a:ext cx="10668000" cy="762000"/>
          </a:xfrm>
          <a:prstGeom prst="roundRect">
            <a:avLst/>
          </a:prstGeom>
          <a:solidFill>
            <a:srgbClr val="1F43A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Router  ·  </a:t>
            </a:r>
            <a:r>
              <a:rPr lang="ko-KR" altLang="en-US" sz="1600" b="1">
                <a:solidFill>
                  <a:srgbClr val="FFFFFF"/>
                </a:solidFill>
              </a:rPr>
              <a:t>사용자 의도 분류 → 필요한 에이전트 선택 및 병렬 호출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FA1E83F-49B2-4282-87F7-1EC91AD4AAEA}"/>
              </a:ext>
            </a:extLst>
          </p:cNvPr>
          <p:cNvSpPr/>
          <p:nvPr/>
        </p:nvSpPr>
        <p:spPr>
          <a:xfrm>
            <a:off x="762000" y="2794000"/>
            <a:ext cx="2540000" cy="3302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7D3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E4766F9-B0D6-4CD2-A485-E610DAB2930A}"/>
              </a:ext>
            </a:extLst>
          </p:cNvPr>
          <p:cNvSpPr/>
          <p:nvPr/>
        </p:nvSpPr>
        <p:spPr>
          <a:xfrm>
            <a:off x="762000" y="2794000"/>
            <a:ext cx="2540000" cy="76200"/>
          </a:xfrm>
          <a:prstGeom prst="rect">
            <a:avLst/>
          </a:prstGeom>
          <a:solidFill>
            <a:srgbClr val="0E73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5C4768-2A53-4AD7-ACD6-B11D8125AEDB}"/>
              </a:ext>
            </a:extLst>
          </p:cNvPr>
          <p:cNvSpPr txBox="1"/>
          <p:nvPr/>
        </p:nvSpPr>
        <p:spPr>
          <a:xfrm>
            <a:off x="965200" y="3048000"/>
            <a:ext cx="2133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700" b="1">
                <a:solidFill>
                  <a:srgbClr val="173A6A"/>
                </a:solidFill>
              </a:rPr>
              <a:t>Policy Agent</a:t>
            </a:r>
            <a:endParaRPr lang="ko-KR" altLang="en-US" sz="1700" b="1">
              <a:solidFill>
                <a:srgbClr val="173A6A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3D1612-3057-4699-8072-16D7EAD15B88}"/>
              </a:ext>
            </a:extLst>
          </p:cNvPr>
          <p:cNvSpPr txBox="1"/>
          <p:nvPr/>
        </p:nvSpPr>
        <p:spPr>
          <a:xfrm>
            <a:off x="965200" y="3619500"/>
            <a:ext cx="21336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0E73F6"/>
                </a:solidFill>
              </a:rPr>
              <a:t>INPUT</a:t>
            </a:r>
            <a:endParaRPr lang="ko-KR" altLang="en-US" sz="1000" b="1">
              <a:solidFill>
                <a:srgbClr val="0E73F6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2756C3-AD11-4CA8-8584-69E109142AA1}"/>
              </a:ext>
            </a:extLst>
          </p:cNvPr>
          <p:cNvSpPr txBox="1"/>
          <p:nvPr/>
        </p:nvSpPr>
        <p:spPr>
          <a:xfrm>
            <a:off x="965200" y="3822700"/>
            <a:ext cx="21336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222222"/>
                </a:solidFill>
              </a:rPr>
              <a:t>프로필</a:t>
            </a:r>
            <a:r>
              <a:rPr lang="en-US" altLang="ko-KR" sz="1300">
                <a:solidFill>
                  <a:srgbClr val="222222"/>
                </a:solidFill>
              </a:rPr>
              <a:t>, </a:t>
            </a:r>
            <a:r>
              <a:rPr lang="ko-KR" altLang="en-US" sz="1300">
                <a:solidFill>
                  <a:srgbClr val="222222"/>
                </a:solidFill>
              </a:rPr>
              <a:t>자격 조건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CAEBBD-C244-4CBC-99D3-3E519661ECB1}"/>
              </a:ext>
            </a:extLst>
          </p:cNvPr>
          <p:cNvSpPr txBox="1"/>
          <p:nvPr/>
        </p:nvSpPr>
        <p:spPr>
          <a:xfrm>
            <a:off x="965200" y="4330700"/>
            <a:ext cx="21336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0E73F6"/>
                </a:solidFill>
              </a:rPr>
              <a:t>PROCESS</a:t>
            </a:r>
            <a:endParaRPr lang="ko-KR" altLang="en-US" sz="1000" b="1">
              <a:solidFill>
                <a:srgbClr val="0E73F6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FE2B81-6E11-4607-9535-456F0D03A510}"/>
              </a:ext>
            </a:extLst>
          </p:cNvPr>
          <p:cNvSpPr txBox="1"/>
          <p:nvPr/>
        </p:nvSpPr>
        <p:spPr>
          <a:xfrm>
            <a:off x="965200" y="4533900"/>
            <a:ext cx="21336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222222"/>
                </a:solidFill>
              </a:rPr>
              <a:t>정책 검색</a:t>
            </a:r>
            <a:r>
              <a:rPr lang="en-US" altLang="ko-KR" sz="1300">
                <a:solidFill>
                  <a:srgbClr val="222222"/>
                </a:solidFill>
              </a:rPr>
              <a:t>·</a:t>
            </a:r>
            <a:r>
              <a:rPr lang="ko-KR" altLang="en-US" sz="1300">
                <a:solidFill>
                  <a:srgbClr val="222222"/>
                </a:solidFill>
              </a:rPr>
              <a:t>자격 매칭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342E05-FA8C-4A79-96BF-453E4780D39A}"/>
              </a:ext>
            </a:extLst>
          </p:cNvPr>
          <p:cNvSpPr txBox="1"/>
          <p:nvPr/>
        </p:nvSpPr>
        <p:spPr>
          <a:xfrm>
            <a:off x="965200" y="5041900"/>
            <a:ext cx="21336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0E73F6"/>
                </a:solidFill>
              </a:rPr>
              <a:t>OUTPUT</a:t>
            </a:r>
            <a:endParaRPr lang="ko-KR" altLang="en-US" sz="1000" b="1">
              <a:solidFill>
                <a:srgbClr val="0E73F6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381C2C-A96D-45EB-9A17-A4E0639180D6}"/>
              </a:ext>
            </a:extLst>
          </p:cNvPr>
          <p:cNvSpPr txBox="1"/>
          <p:nvPr/>
        </p:nvSpPr>
        <p:spPr>
          <a:xfrm>
            <a:off x="965200" y="5245100"/>
            <a:ext cx="21336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222222"/>
                </a:solidFill>
              </a:rPr>
              <a:t>맞춤 정책 </a:t>
            </a:r>
            <a:r>
              <a:rPr lang="en-US" altLang="ko-KR" sz="1300">
                <a:solidFill>
                  <a:srgbClr val="222222"/>
                </a:solidFill>
              </a:rPr>
              <a:t>+ </a:t>
            </a:r>
            <a:r>
              <a:rPr lang="ko-KR" altLang="en-US" sz="1300">
                <a:solidFill>
                  <a:srgbClr val="222222"/>
                </a:solidFill>
              </a:rPr>
              <a:t>출처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3367E29-D41D-4AA2-85DB-8109E44922B0}"/>
              </a:ext>
            </a:extLst>
          </p:cNvPr>
          <p:cNvSpPr/>
          <p:nvPr/>
        </p:nvSpPr>
        <p:spPr>
          <a:xfrm>
            <a:off x="3454400" y="2794000"/>
            <a:ext cx="2540000" cy="3302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7D3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D81C50E-01D3-4A13-B7B6-7ABC402C0F63}"/>
              </a:ext>
            </a:extLst>
          </p:cNvPr>
          <p:cNvSpPr/>
          <p:nvPr/>
        </p:nvSpPr>
        <p:spPr>
          <a:xfrm>
            <a:off x="3454400" y="2794000"/>
            <a:ext cx="2540000" cy="76200"/>
          </a:xfrm>
          <a:prstGeom prst="rect">
            <a:avLst/>
          </a:prstGeom>
          <a:solidFill>
            <a:srgbClr val="0E73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108817-4DCC-4F8E-BDEB-4999EC555718}"/>
              </a:ext>
            </a:extLst>
          </p:cNvPr>
          <p:cNvSpPr txBox="1"/>
          <p:nvPr/>
        </p:nvSpPr>
        <p:spPr>
          <a:xfrm>
            <a:off x="3657600" y="3048000"/>
            <a:ext cx="2133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700" b="1">
                <a:solidFill>
                  <a:srgbClr val="173A6A"/>
                </a:solidFill>
              </a:rPr>
              <a:t>Job Agent</a:t>
            </a:r>
            <a:endParaRPr lang="ko-KR" altLang="en-US" sz="1700" b="1">
              <a:solidFill>
                <a:srgbClr val="173A6A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169EBA-7CDB-4BA3-A91D-719F78813C64}"/>
              </a:ext>
            </a:extLst>
          </p:cNvPr>
          <p:cNvSpPr txBox="1"/>
          <p:nvPr/>
        </p:nvSpPr>
        <p:spPr>
          <a:xfrm>
            <a:off x="3657600" y="3619500"/>
            <a:ext cx="21336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0E73F6"/>
                </a:solidFill>
              </a:rPr>
              <a:t>INPUT</a:t>
            </a:r>
            <a:endParaRPr lang="ko-KR" altLang="en-US" sz="1000" b="1">
              <a:solidFill>
                <a:srgbClr val="0E73F6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67A898-682C-48AF-8928-8CA00A93593A}"/>
              </a:ext>
            </a:extLst>
          </p:cNvPr>
          <p:cNvSpPr txBox="1"/>
          <p:nvPr/>
        </p:nvSpPr>
        <p:spPr>
          <a:xfrm>
            <a:off x="3657600" y="3822700"/>
            <a:ext cx="21336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222222"/>
                </a:solidFill>
              </a:rPr>
              <a:t>역량</a:t>
            </a:r>
            <a:r>
              <a:rPr lang="en-US" altLang="ko-KR" sz="1300">
                <a:solidFill>
                  <a:srgbClr val="222222"/>
                </a:solidFill>
              </a:rPr>
              <a:t>, </a:t>
            </a:r>
            <a:r>
              <a:rPr lang="ko-KR" altLang="en-US" sz="1300">
                <a:solidFill>
                  <a:srgbClr val="222222"/>
                </a:solidFill>
              </a:rPr>
              <a:t>관심 직무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DBF569-D5E5-4C7C-B44F-41F26CB8F123}"/>
              </a:ext>
            </a:extLst>
          </p:cNvPr>
          <p:cNvSpPr txBox="1"/>
          <p:nvPr/>
        </p:nvSpPr>
        <p:spPr>
          <a:xfrm>
            <a:off x="3657600" y="4330700"/>
            <a:ext cx="21336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0E73F6"/>
                </a:solidFill>
              </a:rPr>
              <a:t>PROCESS</a:t>
            </a:r>
            <a:endParaRPr lang="ko-KR" altLang="en-US" sz="1000" b="1">
              <a:solidFill>
                <a:srgbClr val="0E73F6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E33262-CFE7-4C43-9697-ABECD60DB0ED}"/>
              </a:ext>
            </a:extLst>
          </p:cNvPr>
          <p:cNvSpPr txBox="1"/>
          <p:nvPr/>
        </p:nvSpPr>
        <p:spPr>
          <a:xfrm>
            <a:off x="3657600" y="4533900"/>
            <a:ext cx="21336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222222"/>
                </a:solidFill>
              </a:rPr>
              <a:t>공고 검색</a:t>
            </a:r>
            <a:r>
              <a:rPr lang="en-US" altLang="ko-KR" sz="1300">
                <a:solidFill>
                  <a:srgbClr val="222222"/>
                </a:solidFill>
              </a:rPr>
              <a:t>·</a:t>
            </a:r>
            <a:r>
              <a:rPr lang="ko-KR" altLang="en-US" sz="1300">
                <a:solidFill>
                  <a:srgbClr val="222222"/>
                </a:solidFill>
              </a:rPr>
              <a:t>랭킹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958E5B-B097-4FFA-AA58-AAEED47F97C3}"/>
              </a:ext>
            </a:extLst>
          </p:cNvPr>
          <p:cNvSpPr txBox="1"/>
          <p:nvPr/>
        </p:nvSpPr>
        <p:spPr>
          <a:xfrm>
            <a:off x="3657600" y="5041900"/>
            <a:ext cx="21336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0E73F6"/>
                </a:solidFill>
              </a:rPr>
              <a:t>OUTPUT</a:t>
            </a:r>
            <a:endParaRPr lang="ko-KR" altLang="en-US" sz="1000" b="1">
              <a:solidFill>
                <a:srgbClr val="0E73F6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233417-28C9-4794-8938-16C0BFC0AF8C}"/>
              </a:ext>
            </a:extLst>
          </p:cNvPr>
          <p:cNvSpPr txBox="1"/>
          <p:nvPr/>
        </p:nvSpPr>
        <p:spPr>
          <a:xfrm>
            <a:off x="3657600" y="5245100"/>
            <a:ext cx="21336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222222"/>
                </a:solidFill>
              </a:rPr>
              <a:t>추천 공고 리스트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6BF0912B-72E3-47A2-A624-0448657E65B9}"/>
              </a:ext>
            </a:extLst>
          </p:cNvPr>
          <p:cNvSpPr/>
          <p:nvPr/>
        </p:nvSpPr>
        <p:spPr>
          <a:xfrm>
            <a:off x="6146800" y="2794000"/>
            <a:ext cx="2540000" cy="3302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7D3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788A264-5BCC-475D-8419-8F3B3B6E40C2}"/>
              </a:ext>
            </a:extLst>
          </p:cNvPr>
          <p:cNvSpPr/>
          <p:nvPr/>
        </p:nvSpPr>
        <p:spPr>
          <a:xfrm>
            <a:off x="6146800" y="2794000"/>
            <a:ext cx="2540000" cy="76200"/>
          </a:xfrm>
          <a:prstGeom prst="rect">
            <a:avLst/>
          </a:prstGeom>
          <a:solidFill>
            <a:srgbClr val="0E73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8B0EEF-C3DA-4A4B-96E8-2BD34A9F6F30}"/>
              </a:ext>
            </a:extLst>
          </p:cNvPr>
          <p:cNvSpPr txBox="1"/>
          <p:nvPr/>
        </p:nvSpPr>
        <p:spPr>
          <a:xfrm>
            <a:off x="6350000" y="3048000"/>
            <a:ext cx="2133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700" b="1">
                <a:solidFill>
                  <a:srgbClr val="173A6A"/>
                </a:solidFill>
              </a:rPr>
              <a:t>Essay Agent</a:t>
            </a:r>
            <a:endParaRPr lang="ko-KR" altLang="en-US" sz="1700" b="1">
              <a:solidFill>
                <a:srgbClr val="173A6A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3997649-BB34-4BB1-BD8B-89AC3750CC9B}"/>
              </a:ext>
            </a:extLst>
          </p:cNvPr>
          <p:cNvSpPr txBox="1"/>
          <p:nvPr/>
        </p:nvSpPr>
        <p:spPr>
          <a:xfrm>
            <a:off x="6350000" y="3619500"/>
            <a:ext cx="21336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0E73F6"/>
                </a:solidFill>
              </a:rPr>
              <a:t>INPUT</a:t>
            </a:r>
            <a:endParaRPr lang="ko-KR" altLang="en-US" sz="1000" b="1">
              <a:solidFill>
                <a:srgbClr val="0E73F6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FDE0CE4-F26E-4D64-B408-B436706CC040}"/>
              </a:ext>
            </a:extLst>
          </p:cNvPr>
          <p:cNvSpPr txBox="1"/>
          <p:nvPr/>
        </p:nvSpPr>
        <p:spPr>
          <a:xfrm>
            <a:off x="6350000" y="3822700"/>
            <a:ext cx="21336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222222"/>
                </a:solidFill>
              </a:rPr>
              <a:t>직무</a:t>
            </a:r>
            <a:r>
              <a:rPr lang="en-US" altLang="ko-KR" sz="1300">
                <a:solidFill>
                  <a:srgbClr val="222222"/>
                </a:solidFill>
              </a:rPr>
              <a:t>, </a:t>
            </a:r>
            <a:r>
              <a:rPr lang="ko-KR" altLang="en-US" sz="1300">
                <a:solidFill>
                  <a:srgbClr val="222222"/>
                </a:solidFill>
              </a:rPr>
              <a:t>합격 자소서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2746592-FE94-463F-B5CE-3429382E973D}"/>
              </a:ext>
            </a:extLst>
          </p:cNvPr>
          <p:cNvSpPr txBox="1"/>
          <p:nvPr/>
        </p:nvSpPr>
        <p:spPr>
          <a:xfrm>
            <a:off x="6350000" y="4330700"/>
            <a:ext cx="21336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0E73F6"/>
                </a:solidFill>
              </a:rPr>
              <a:t>PROCESS</a:t>
            </a:r>
            <a:endParaRPr lang="ko-KR" altLang="en-US" sz="1000" b="1">
              <a:solidFill>
                <a:srgbClr val="0E73F6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56302E-F688-40A6-B9E8-37278A269E8C}"/>
              </a:ext>
            </a:extLst>
          </p:cNvPr>
          <p:cNvSpPr txBox="1"/>
          <p:nvPr/>
        </p:nvSpPr>
        <p:spPr>
          <a:xfrm>
            <a:off x="6350000" y="4533900"/>
            <a:ext cx="21336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222222"/>
                </a:solidFill>
              </a:rPr>
              <a:t>RAG </a:t>
            </a:r>
            <a:r>
              <a:rPr lang="ko-KR" altLang="en-US" sz="1300">
                <a:solidFill>
                  <a:srgbClr val="222222"/>
                </a:solidFill>
              </a:rPr>
              <a:t>검색</a:t>
            </a:r>
            <a:r>
              <a:rPr lang="en-US" altLang="ko-KR" sz="1300">
                <a:solidFill>
                  <a:srgbClr val="222222"/>
                </a:solidFill>
              </a:rPr>
              <a:t>·</a:t>
            </a:r>
            <a:r>
              <a:rPr lang="ko-KR" altLang="en-US" sz="1300">
                <a:solidFill>
                  <a:srgbClr val="222222"/>
                </a:solidFill>
              </a:rPr>
              <a:t>피드백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AEC8FF6-0058-4932-9614-F122029536CF}"/>
              </a:ext>
            </a:extLst>
          </p:cNvPr>
          <p:cNvSpPr txBox="1"/>
          <p:nvPr/>
        </p:nvSpPr>
        <p:spPr>
          <a:xfrm>
            <a:off x="6350000" y="5041900"/>
            <a:ext cx="21336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0E73F6"/>
                </a:solidFill>
              </a:rPr>
              <a:t>OUTPUT</a:t>
            </a:r>
            <a:endParaRPr lang="ko-KR" altLang="en-US" sz="1000" b="1">
              <a:solidFill>
                <a:srgbClr val="0E73F6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7743CCC-385A-4138-B99E-E9C6B44DFBE7}"/>
              </a:ext>
            </a:extLst>
          </p:cNvPr>
          <p:cNvSpPr txBox="1"/>
          <p:nvPr/>
        </p:nvSpPr>
        <p:spPr>
          <a:xfrm>
            <a:off x="6350000" y="5245100"/>
            <a:ext cx="21336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222222"/>
                </a:solidFill>
              </a:rPr>
              <a:t>초안 </a:t>
            </a:r>
            <a:r>
              <a:rPr lang="en-US" altLang="ko-KR" sz="1300">
                <a:solidFill>
                  <a:srgbClr val="222222"/>
                </a:solidFill>
              </a:rPr>
              <a:t>+ </a:t>
            </a:r>
            <a:r>
              <a:rPr lang="ko-KR" altLang="en-US" sz="1300">
                <a:solidFill>
                  <a:srgbClr val="222222"/>
                </a:solidFill>
              </a:rPr>
              <a:t>개선 제안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03BC3BB6-FFF6-4B7D-86DA-3B38D810F95B}"/>
              </a:ext>
            </a:extLst>
          </p:cNvPr>
          <p:cNvSpPr/>
          <p:nvPr/>
        </p:nvSpPr>
        <p:spPr>
          <a:xfrm>
            <a:off x="8839200" y="2794000"/>
            <a:ext cx="2540000" cy="3302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7D3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15AE088-4D8F-440C-8859-8E6F0654C74E}"/>
              </a:ext>
            </a:extLst>
          </p:cNvPr>
          <p:cNvSpPr/>
          <p:nvPr/>
        </p:nvSpPr>
        <p:spPr>
          <a:xfrm>
            <a:off x="8839200" y="2794000"/>
            <a:ext cx="2540000" cy="76200"/>
          </a:xfrm>
          <a:prstGeom prst="rect">
            <a:avLst/>
          </a:prstGeom>
          <a:solidFill>
            <a:srgbClr val="0E73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36058F3-92B4-496F-9900-2F9FE4F93126}"/>
              </a:ext>
            </a:extLst>
          </p:cNvPr>
          <p:cNvSpPr txBox="1"/>
          <p:nvPr/>
        </p:nvSpPr>
        <p:spPr>
          <a:xfrm>
            <a:off x="9042400" y="3048000"/>
            <a:ext cx="2133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700" b="1">
                <a:solidFill>
                  <a:srgbClr val="173A6A"/>
                </a:solidFill>
              </a:rPr>
              <a:t>Calendar Agent</a:t>
            </a:r>
            <a:endParaRPr lang="ko-KR" altLang="en-US" sz="1700" b="1">
              <a:solidFill>
                <a:srgbClr val="173A6A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44FDA8-C243-484F-AD73-F82C5ACB64DB}"/>
              </a:ext>
            </a:extLst>
          </p:cNvPr>
          <p:cNvSpPr txBox="1"/>
          <p:nvPr/>
        </p:nvSpPr>
        <p:spPr>
          <a:xfrm>
            <a:off x="9042400" y="3619500"/>
            <a:ext cx="21336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0E73F6"/>
                </a:solidFill>
              </a:rPr>
              <a:t>INPUT</a:t>
            </a:r>
            <a:endParaRPr lang="ko-KR" altLang="en-US" sz="1000" b="1">
              <a:solidFill>
                <a:srgbClr val="0E73F6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A3F215B-EC03-43B5-BAD1-3F6E67367281}"/>
              </a:ext>
            </a:extLst>
          </p:cNvPr>
          <p:cNvSpPr txBox="1"/>
          <p:nvPr/>
        </p:nvSpPr>
        <p:spPr>
          <a:xfrm>
            <a:off x="9042400" y="3822700"/>
            <a:ext cx="21336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222222"/>
                </a:solidFill>
              </a:rPr>
              <a:t>추천 정책</a:t>
            </a:r>
            <a:r>
              <a:rPr lang="en-US" altLang="ko-KR" sz="1300">
                <a:solidFill>
                  <a:srgbClr val="222222"/>
                </a:solidFill>
              </a:rPr>
              <a:t>·</a:t>
            </a:r>
            <a:r>
              <a:rPr lang="ko-KR" altLang="en-US" sz="1300">
                <a:solidFill>
                  <a:srgbClr val="222222"/>
                </a:solidFill>
              </a:rPr>
              <a:t>공고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1D4D172-4686-4280-876F-C241E86E5062}"/>
              </a:ext>
            </a:extLst>
          </p:cNvPr>
          <p:cNvSpPr txBox="1"/>
          <p:nvPr/>
        </p:nvSpPr>
        <p:spPr>
          <a:xfrm>
            <a:off x="9042400" y="4330700"/>
            <a:ext cx="21336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0E73F6"/>
                </a:solidFill>
              </a:rPr>
              <a:t>PROCESS</a:t>
            </a:r>
            <a:endParaRPr lang="ko-KR" altLang="en-US" sz="1000" b="1">
              <a:solidFill>
                <a:srgbClr val="0E73F6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77F307B-0EC7-4365-B0D5-377E8D03BBB9}"/>
              </a:ext>
            </a:extLst>
          </p:cNvPr>
          <p:cNvSpPr txBox="1"/>
          <p:nvPr/>
        </p:nvSpPr>
        <p:spPr>
          <a:xfrm>
            <a:off x="9042400" y="4533900"/>
            <a:ext cx="21336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222222"/>
                </a:solidFill>
              </a:rPr>
              <a:t>마감 추출</a:t>
            </a:r>
            <a:r>
              <a:rPr lang="en-US" altLang="ko-KR" sz="1300">
                <a:solidFill>
                  <a:srgbClr val="222222"/>
                </a:solidFill>
              </a:rPr>
              <a:t>·</a:t>
            </a:r>
            <a:r>
              <a:rPr lang="ko-KR" altLang="en-US" sz="1300">
                <a:solidFill>
                  <a:srgbClr val="222222"/>
                </a:solidFill>
              </a:rPr>
              <a:t>일정 관리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8A1626-70B0-4AC3-ADE8-F74CD885FC54}"/>
              </a:ext>
            </a:extLst>
          </p:cNvPr>
          <p:cNvSpPr txBox="1"/>
          <p:nvPr/>
        </p:nvSpPr>
        <p:spPr>
          <a:xfrm>
            <a:off x="9042400" y="5041900"/>
            <a:ext cx="21336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0E73F6"/>
                </a:solidFill>
              </a:rPr>
              <a:t>OUTPUT</a:t>
            </a:r>
            <a:endParaRPr lang="ko-KR" altLang="en-US" sz="1000" b="1">
              <a:solidFill>
                <a:srgbClr val="0E73F6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7AF575A-685C-4F98-8B08-7944C29751B9}"/>
              </a:ext>
            </a:extLst>
          </p:cNvPr>
          <p:cNvSpPr txBox="1"/>
          <p:nvPr/>
        </p:nvSpPr>
        <p:spPr>
          <a:xfrm>
            <a:off x="9042400" y="5245100"/>
            <a:ext cx="21336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222222"/>
                </a:solidFill>
              </a:rPr>
              <a:t>일정 등록</a:t>
            </a:r>
            <a:r>
              <a:rPr lang="en-US" altLang="ko-KR" sz="1300">
                <a:solidFill>
                  <a:srgbClr val="222222"/>
                </a:solidFill>
              </a:rPr>
              <a:t>·</a:t>
            </a:r>
            <a:r>
              <a:rPr lang="ko-KR" altLang="en-US" sz="1300">
                <a:solidFill>
                  <a:srgbClr val="222222"/>
                </a:solidFill>
              </a:rPr>
              <a:t>알림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B4D2DB2-1DD8-4B60-922C-7C9A8492C6B7}"/>
              </a:ext>
            </a:extLst>
          </p:cNvPr>
          <p:cNvSpPr txBox="1"/>
          <p:nvPr/>
        </p:nvSpPr>
        <p:spPr>
          <a:xfrm>
            <a:off x="635000" y="6350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>
                <a:solidFill>
                  <a:srgbClr val="7F91AD"/>
                </a:solidFill>
              </a:rPr>
              <a:t>도메인 전문 에이전트로 작업 모호성을 줄이고 병렬 도구 호출을 지원</a:t>
            </a:r>
          </a:p>
        </p:txBody>
      </p:sp>
    </p:spTree>
    <p:extLst>
      <p:ext uri="{BB962C8B-B14F-4D97-AF65-F5344CB8AC3E}">
        <p14:creationId xmlns:p14="http://schemas.microsoft.com/office/powerpoint/2010/main" val="2335351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75D23A-BF9E-4081-9C81-C88D2514DD1F}"/>
              </a:ext>
            </a:extLst>
          </p:cNvPr>
          <p:cNvSpPr txBox="1"/>
          <p:nvPr/>
        </p:nvSpPr>
        <p:spPr>
          <a:xfrm>
            <a:off x="635000" y="571500"/>
            <a:ext cx="889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800" b="1">
                <a:solidFill>
                  <a:srgbClr val="173A6A"/>
                </a:solidFill>
              </a:rPr>
              <a:t>왜 </a:t>
            </a:r>
            <a:r>
              <a:rPr lang="en-US" altLang="ko-KR" sz="2800" b="1">
                <a:solidFill>
                  <a:srgbClr val="173A6A"/>
                </a:solidFill>
              </a:rPr>
              <a:t>RAG</a:t>
            </a:r>
            <a:r>
              <a:rPr lang="ko-KR" altLang="en-US" sz="2800" b="1">
                <a:solidFill>
                  <a:srgbClr val="173A6A"/>
                </a:solidFill>
              </a:rPr>
              <a:t>와 </a:t>
            </a:r>
            <a:r>
              <a:rPr lang="en-US" altLang="ko-KR" sz="2800" b="1">
                <a:solidFill>
                  <a:srgbClr val="173A6A"/>
                </a:solidFill>
              </a:rPr>
              <a:t>MCP </a:t>
            </a:r>
            <a:r>
              <a:rPr lang="ko-KR" altLang="en-US" sz="2800" b="1">
                <a:solidFill>
                  <a:srgbClr val="173A6A"/>
                </a:solidFill>
              </a:rPr>
              <a:t>기반 접근인가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B72917-D801-4D63-8EDD-49EBBB390C97}"/>
              </a:ext>
            </a:extLst>
          </p:cNvPr>
          <p:cNvSpPr txBox="1"/>
          <p:nvPr/>
        </p:nvSpPr>
        <p:spPr>
          <a:xfrm>
            <a:off x="10033000" y="635000"/>
            <a:ext cx="177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1F43A3"/>
                </a:solidFill>
              </a:rPr>
              <a:t>07 / RATIONALE</a:t>
            </a:r>
            <a:endParaRPr lang="ko-KR" altLang="en-US" sz="1000" b="1">
              <a:solidFill>
                <a:srgbClr val="1F43A3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269DFB0-43DE-42A1-9A16-BBD16A03CB43}"/>
              </a:ext>
            </a:extLst>
          </p:cNvPr>
          <p:cNvSpPr/>
          <p:nvPr/>
        </p:nvSpPr>
        <p:spPr>
          <a:xfrm>
            <a:off x="635000" y="1397000"/>
            <a:ext cx="10922000" cy="25400"/>
          </a:xfrm>
          <a:prstGeom prst="rect">
            <a:avLst/>
          </a:prstGeom>
          <a:solidFill>
            <a:srgbClr val="C7D3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254F77-1158-4E9C-AEAE-D8BF4118AF25}"/>
              </a:ext>
            </a:extLst>
          </p:cNvPr>
          <p:cNvSpPr txBox="1"/>
          <p:nvPr/>
        </p:nvSpPr>
        <p:spPr>
          <a:xfrm>
            <a:off x="1016000" y="17145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 b="1">
                <a:solidFill>
                  <a:srgbClr val="7F91AD"/>
                </a:solidFill>
              </a:rPr>
              <a:t>데이터 </a:t>
            </a:r>
            <a:r>
              <a:rPr lang="en-US" altLang="ko-KR" sz="1200" b="1">
                <a:solidFill>
                  <a:srgbClr val="7F91AD"/>
                </a:solidFill>
              </a:rPr>
              <a:t>/ </a:t>
            </a:r>
            <a:r>
              <a:rPr lang="ko-KR" altLang="en-US" sz="1200" b="1">
                <a:solidFill>
                  <a:srgbClr val="7F91AD"/>
                </a:solidFill>
              </a:rPr>
              <a:t>제약 특성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EFD1E5-4A92-4AB8-B7F5-B3D3317C58B9}"/>
              </a:ext>
            </a:extLst>
          </p:cNvPr>
          <p:cNvSpPr txBox="1"/>
          <p:nvPr/>
        </p:nvSpPr>
        <p:spPr>
          <a:xfrm>
            <a:off x="6858000" y="17145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 b="1">
                <a:solidFill>
                  <a:srgbClr val="7F91AD"/>
                </a:solidFill>
              </a:rPr>
              <a:t>기술 선택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863CF51-F0C9-4C8D-BE43-24CFFAEA9470}"/>
              </a:ext>
            </a:extLst>
          </p:cNvPr>
          <p:cNvSpPr/>
          <p:nvPr/>
        </p:nvSpPr>
        <p:spPr>
          <a:xfrm>
            <a:off x="762000" y="2095500"/>
            <a:ext cx="5207000" cy="1016000"/>
          </a:xfrm>
          <a:prstGeom prst="round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62DA50-DECA-47A0-8647-EB0863A31352}"/>
              </a:ext>
            </a:extLst>
          </p:cNvPr>
          <p:cNvSpPr txBox="1"/>
          <p:nvPr/>
        </p:nvSpPr>
        <p:spPr>
          <a:xfrm>
            <a:off x="1016000" y="2451100"/>
            <a:ext cx="469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500" b="1">
                <a:solidFill>
                  <a:srgbClr val="173A6A"/>
                </a:solidFill>
              </a:rPr>
              <a:t>정책</a:t>
            </a:r>
            <a:r>
              <a:rPr lang="en-US" altLang="ko-KR" sz="1500" b="1">
                <a:solidFill>
                  <a:srgbClr val="173A6A"/>
                </a:solidFill>
              </a:rPr>
              <a:t>·</a:t>
            </a:r>
            <a:r>
              <a:rPr lang="ko-KR" altLang="en-US" sz="1500" b="1">
                <a:solidFill>
                  <a:srgbClr val="173A6A"/>
                </a:solidFill>
              </a:rPr>
              <a:t>채용 데이터가 자주 갱신된다</a:t>
            </a: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7ED83C7C-85BD-4A0F-8870-734AAA8DA665}"/>
              </a:ext>
            </a:extLst>
          </p:cNvPr>
          <p:cNvSpPr/>
          <p:nvPr/>
        </p:nvSpPr>
        <p:spPr>
          <a:xfrm>
            <a:off x="6070600" y="2476500"/>
            <a:ext cx="457200" cy="254000"/>
          </a:xfrm>
          <a:prstGeom prst="rightArrow">
            <a:avLst/>
          </a:prstGeom>
          <a:solidFill>
            <a:srgbClr val="0E73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134227E-9260-4B2B-A957-F4E413ACABCB}"/>
              </a:ext>
            </a:extLst>
          </p:cNvPr>
          <p:cNvSpPr/>
          <p:nvPr/>
        </p:nvSpPr>
        <p:spPr>
          <a:xfrm>
            <a:off x="6604000" y="2095500"/>
            <a:ext cx="4826000" cy="1016000"/>
          </a:xfrm>
          <a:prstGeom prst="roundRect">
            <a:avLst/>
          </a:prstGeom>
          <a:solidFill>
            <a:srgbClr val="1F43A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4BFCA4-BFE3-433E-8DC1-A499E70B02FE}"/>
              </a:ext>
            </a:extLst>
          </p:cNvPr>
          <p:cNvSpPr txBox="1"/>
          <p:nvPr/>
        </p:nvSpPr>
        <p:spPr>
          <a:xfrm>
            <a:off x="6858000" y="2247900"/>
            <a:ext cx="431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700" b="1">
                <a:solidFill>
                  <a:srgbClr val="FFFFFF"/>
                </a:solidFill>
              </a:rPr>
              <a:t>RAG</a:t>
            </a:r>
            <a:endParaRPr lang="ko-KR" altLang="en-US" sz="1700" b="1">
              <a:solidFill>
                <a:srgbClr val="FFFFF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53E07E-C94B-4163-8555-8CF63505A04F}"/>
              </a:ext>
            </a:extLst>
          </p:cNvPr>
          <p:cNvSpPr txBox="1"/>
          <p:nvPr/>
        </p:nvSpPr>
        <p:spPr>
          <a:xfrm>
            <a:off x="6858000" y="2628900"/>
            <a:ext cx="431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C7D3E8"/>
                </a:solidFill>
              </a:rPr>
              <a:t>런타임 검색으로 항상 최신 정보 제공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E74EA1C-64F3-4A93-AA61-A183331DA0AC}"/>
              </a:ext>
            </a:extLst>
          </p:cNvPr>
          <p:cNvSpPr/>
          <p:nvPr/>
        </p:nvSpPr>
        <p:spPr>
          <a:xfrm>
            <a:off x="762000" y="3263900"/>
            <a:ext cx="5207000" cy="1016000"/>
          </a:xfrm>
          <a:prstGeom prst="round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8B59F3-260F-4551-A59D-1E441051E246}"/>
              </a:ext>
            </a:extLst>
          </p:cNvPr>
          <p:cNvSpPr txBox="1"/>
          <p:nvPr/>
        </p:nvSpPr>
        <p:spPr>
          <a:xfrm>
            <a:off x="1016000" y="3619500"/>
            <a:ext cx="469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500" b="1">
                <a:solidFill>
                  <a:srgbClr val="173A6A"/>
                </a:solidFill>
              </a:rPr>
              <a:t>외부 시스템</a:t>
            </a:r>
            <a:r>
              <a:rPr lang="en-US" altLang="ko-KR" sz="1500" b="1">
                <a:solidFill>
                  <a:srgbClr val="173A6A"/>
                </a:solidFill>
              </a:rPr>
              <a:t>·</a:t>
            </a:r>
            <a:r>
              <a:rPr lang="ko-KR" altLang="en-US" sz="1500" b="1">
                <a:solidFill>
                  <a:srgbClr val="173A6A"/>
                </a:solidFill>
              </a:rPr>
              <a:t>공공 </a:t>
            </a:r>
            <a:r>
              <a:rPr lang="en-US" altLang="ko-KR" sz="1500" b="1">
                <a:solidFill>
                  <a:srgbClr val="173A6A"/>
                </a:solidFill>
              </a:rPr>
              <a:t>API</a:t>
            </a:r>
            <a:r>
              <a:rPr lang="ko-KR" altLang="en-US" sz="1500" b="1">
                <a:solidFill>
                  <a:srgbClr val="173A6A"/>
                </a:solidFill>
              </a:rPr>
              <a:t>와 연동이 필요하다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674B6BED-08C5-4DB1-86BB-08094CF2DBB6}"/>
              </a:ext>
            </a:extLst>
          </p:cNvPr>
          <p:cNvSpPr/>
          <p:nvPr/>
        </p:nvSpPr>
        <p:spPr>
          <a:xfrm>
            <a:off x="6070600" y="3644900"/>
            <a:ext cx="457200" cy="254000"/>
          </a:xfrm>
          <a:prstGeom prst="rightArrow">
            <a:avLst/>
          </a:prstGeom>
          <a:solidFill>
            <a:srgbClr val="0E73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6C0823E-11C8-4FEC-8917-0583EC35D24A}"/>
              </a:ext>
            </a:extLst>
          </p:cNvPr>
          <p:cNvSpPr/>
          <p:nvPr/>
        </p:nvSpPr>
        <p:spPr>
          <a:xfrm>
            <a:off x="6604000" y="3263900"/>
            <a:ext cx="4826000" cy="1016000"/>
          </a:xfrm>
          <a:prstGeom prst="roundRect">
            <a:avLst/>
          </a:prstGeom>
          <a:solidFill>
            <a:srgbClr val="1F43A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45838D-292D-4F5D-9694-AC4F1081A3EA}"/>
              </a:ext>
            </a:extLst>
          </p:cNvPr>
          <p:cNvSpPr txBox="1"/>
          <p:nvPr/>
        </p:nvSpPr>
        <p:spPr>
          <a:xfrm>
            <a:off x="6858000" y="3416300"/>
            <a:ext cx="431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700" b="1">
                <a:solidFill>
                  <a:srgbClr val="FFFFFF"/>
                </a:solidFill>
              </a:rPr>
              <a:t>MCP / Tool</a:t>
            </a:r>
            <a:endParaRPr lang="ko-KR" altLang="en-US" sz="1700" b="1">
              <a:solidFill>
                <a:srgbClr val="FFF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10DD9E-2971-492B-BF9F-360A0F7A280A}"/>
              </a:ext>
            </a:extLst>
          </p:cNvPr>
          <p:cNvSpPr txBox="1"/>
          <p:nvPr/>
        </p:nvSpPr>
        <p:spPr>
          <a:xfrm>
            <a:off x="6858000" y="3797300"/>
            <a:ext cx="431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C7D3E8"/>
                </a:solidFill>
              </a:rPr>
              <a:t>표준 인터페이스로 도구</a:t>
            </a:r>
            <a:r>
              <a:rPr lang="en-US" altLang="ko-KR" sz="1200">
                <a:solidFill>
                  <a:srgbClr val="C7D3E8"/>
                </a:solidFill>
              </a:rPr>
              <a:t>·API </a:t>
            </a:r>
            <a:r>
              <a:rPr lang="ko-KR" altLang="en-US" sz="1200">
                <a:solidFill>
                  <a:srgbClr val="C7D3E8"/>
                </a:solidFill>
              </a:rPr>
              <a:t>호출 통합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51E87941-578E-487E-9A5A-1C40ECF9C3FC}"/>
              </a:ext>
            </a:extLst>
          </p:cNvPr>
          <p:cNvSpPr/>
          <p:nvPr/>
        </p:nvSpPr>
        <p:spPr>
          <a:xfrm>
            <a:off x="762000" y="4432300"/>
            <a:ext cx="5207000" cy="1016000"/>
          </a:xfrm>
          <a:prstGeom prst="round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DF0619-BDBB-464D-B740-9503894B2C65}"/>
              </a:ext>
            </a:extLst>
          </p:cNvPr>
          <p:cNvSpPr txBox="1"/>
          <p:nvPr/>
        </p:nvSpPr>
        <p:spPr>
          <a:xfrm>
            <a:off x="1016000" y="4787900"/>
            <a:ext cx="469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500" b="1">
                <a:solidFill>
                  <a:srgbClr val="173A6A"/>
                </a:solidFill>
              </a:rPr>
              <a:t>프로젝트 크레딧</a:t>
            </a:r>
            <a:r>
              <a:rPr lang="en-US" altLang="ko-KR" sz="1500" b="1">
                <a:solidFill>
                  <a:srgbClr val="173A6A"/>
                </a:solidFill>
              </a:rPr>
              <a:t>·</a:t>
            </a:r>
            <a:r>
              <a:rPr lang="ko-KR" altLang="en-US" sz="1500" b="1">
                <a:solidFill>
                  <a:srgbClr val="173A6A"/>
                </a:solidFill>
              </a:rPr>
              <a:t>자원이 제한적이다</a:t>
            </a:r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180B504A-EBA3-4302-A531-80794B2A259E}"/>
              </a:ext>
            </a:extLst>
          </p:cNvPr>
          <p:cNvSpPr/>
          <p:nvPr/>
        </p:nvSpPr>
        <p:spPr>
          <a:xfrm>
            <a:off x="6070600" y="4813300"/>
            <a:ext cx="457200" cy="254000"/>
          </a:xfrm>
          <a:prstGeom prst="rightArrow">
            <a:avLst/>
          </a:prstGeom>
          <a:solidFill>
            <a:srgbClr val="0E73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FF40293-D140-4D38-A059-FCF5E6BD7186}"/>
              </a:ext>
            </a:extLst>
          </p:cNvPr>
          <p:cNvSpPr/>
          <p:nvPr/>
        </p:nvSpPr>
        <p:spPr>
          <a:xfrm>
            <a:off x="6604000" y="4432300"/>
            <a:ext cx="4826000" cy="1016000"/>
          </a:xfrm>
          <a:prstGeom prst="roundRect">
            <a:avLst/>
          </a:prstGeom>
          <a:solidFill>
            <a:srgbClr val="1F43A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FF7BD6-02C3-415E-82FE-28F8538CC487}"/>
              </a:ext>
            </a:extLst>
          </p:cNvPr>
          <p:cNvSpPr txBox="1"/>
          <p:nvPr/>
        </p:nvSpPr>
        <p:spPr>
          <a:xfrm>
            <a:off x="6858000" y="4584700"/>
            <a:ext cx="431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700" b="1">
                <a:solidFill>
                  <a:srgbClr val="FFFFFF"/>
                </a:solidFill>
              </a:rPr>
              <a:t>재학습 회피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1D88B3-ED10-46DF-903B-DC7E2BF4043A}"/>
              </a:ext>
            </a:extLst>
          </p:cNvPr>
          <p:cNvSpPr txBox="1"/>
          <p:nvPr/>
        </p:nvSpPr>
        <p:spPr>
          <a:xfrm>
            <a:off x="6858000" y="4965700"/>
            <a:ext cx="431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C7D3E8"/>
                </a:solidFill>
              </a:rPr>
              <a:t>데이터 재사용</a:t>
            </a:r>
            <a:r>
              <a:rPr lang="en-US" altLang="ko-KR" sz="1200">
                <a:solidFill>
                  <a:srgbClr val="C7D3E8"/>
                </a:solidFill>
              </a:rPr>
              <a:t>·</a:t>
            </a:r>
            <a:r>
              <a:rPr lang="ko-KR" altLang="en-US" sz="1200">
                <a:solidFill>
                  <a:srgbClr val="C7D3E8"/>
                </a:solidFill>
              </a:rPr>
              <a:t>경량 오케스트레이션 우선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93911E3-3A77-4F63-9885-18604F6EA352}"/>
              </a:ext>
            </a:extLst>
          </p:cNvPr>
          <p:cNvSpPr/>
          <p:nvPr/>
        </p:nvSpPr>
        <p:spPr>
          <a:xfrm>
            <a:off x="762000" y="5842000"/>
            <a:ext cx="10668000" cy="635000"/>
          </a:xfrm>
          <a:prstGeom prst="roundRect">
            <a:avLst/>
          </a:prstGeom>
          <a:solidFill>
            <a:srgbClr val="17DD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500" b="1">
                <a:solidFill>
                  <a:srgbClr val="173A6A"/>
                </a:solidFill>
              </a:rPr>
              <a:t>원칙 │ 매번 재학습하지 않고</a:t>
            </a:r>
            <a:r>
              <a:rPr lang="en-US" altLang="ko-KR" sz="1500" b="1">
                <a:solidFill>
                  <a:srgbClr val="173A6A"/>
                </a:solidFill>
              </a:rPr>
              <a:t>, </a:t>
            </a:r>
            <a:r>
              <a:rPr lang="ko-KR" altLang="en-US" sz="1500" b="1">
                <a:solidFill>
                  <a:srgbClr val="173A6A"/>
                </a:solidFill>
              </a:rPr>
              <a:t>런타임에서 검색하고 도구를 호출한다</a:t>
            </a:r>
          </a:p>
        </p:txBody>
      </p:sp>
    </p:spTree>
    <p:extLst>
      <p:ext uri="{BB962C8B-B14F-4D97-AF65-F5344CB8AC3E}">
        <p14:creationId xmlns:p14="http://schemas.microsoft.com/office/powerpoint/2010/main" val="2995712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603BE8-5AF9-4463-8566-AC1EFB3C7794}"/>
              </a:ext>
            </a:extLst>
          </p:cNvPr>
          <p:cNvSpPr txBox="1"/>
          <p:nvPr/>
        </p:nvSpPr>
        <p:spPr>
          <a:xfrm>
            <a:off x="635000" y="571500"/>
            <a:ext cx="889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800" b="1">
                <a:solidFill>
                  <a:srgbClr val="173A6A"/>
                </a:solidFill>
              </a:rPr>
              <a:t>데이터셋과 처리 전략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1C613D-8876-43E5-AACC-52B848FBB4A5}"/>
              </a:ext>
            </a:extLst>
          </p:cNvPr>
          <p:cNvSpPr txBox="1"/>
          <p:nvPr/>
        </p:nvSpPr>
        <p:spPr>
          <a:xfrm>
            <a:off x="10414000" y="635000"/>
            <a:ext cx="139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1F43A3"/>
                </a:solidFill>
              </a:rPr>
              <a:t>08 / DATA</a:t>
            </a:r>
            <a:endParaRPr lang="ko-KR" altLang="en-US" sz="1000" b="1">
              <a:solidFill>
                <a:srgbClr val="1F43A3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8B08638-BD20-45E9-9505-F4588F81BF75}"/>
              </a:ext>
            </a:extLst>
          </p:cNvPr>
          <p:cNvSpPr/>
          <p:nvPr/>
        </p:nvSpPr>
        <p:spPr>
          <a:xfrm>
            <a:off x="635000" y="1397000"/>
            <a:ext cx="10922000" cy="25400"/>
          </a:xfrm>
          <a:prstGeom prst="rect">
            <a:avLst/>
          </a:prstGeom>
          <a:solidFill>
            <a:srgbClr val="C7D3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7360443-86EA-4985-8488-53C2E4C3F1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571735"/>
              </p:ext>
            </p:extLst>
          </p:nvPr>
        </p:nvGraphicFramePr>
        <p:xfrm>
          <a:off x="635000" y="1651000"/>
          <a:ext cx="10922000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000">
                  <a:extLst>
                    <a:ext uri="{9D8B030D-6E8A-4147-A177-3AD203B41FA5}">
                      <a16:colId xmlns:a16="http://schemas.microsoft.com/office/drawing/2014/main" val="2694702151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1592783573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388497494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167531392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300" b="1">
                          <a:solidFill>
                            <a:srgbClr val="FFFFFF"/>
                          </a:solidFill>
                        </a:rPr>
                        <a:t>데이터 출처</a:t>
                      </a:r>
                    </a:p>
                  </a:txBody>
                  <a:tcPr anchor="ctr">
                    <a:solidFill>
                      <a:srgbClr val="1F43A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300" b="1">
                          <a:solidFill>
                            <a:srgbClr val="FFFFFF"/>
                          </a:solidFill>
                        </a:rPr>
                        <a:t>용도</a:t>
                      </a:r>
                    </a:p>
                  </a:txBody>
                  <a:tcPr anchor="ctr">
                    <a:solidFill>
                      <a:srgbClr val="1F43A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300" b="1">
                          <a:solidFill>
                            <a:srgbClr val="FFFFFF"/>
                          </a:solidFill>
                        </a:rPr>
                        <a:t>갱신 패턴</a:t>
                      </a:r>
                    </a:p>
                  </a:txBody>
                  <a:tcPr anchor="ctr">
                    <a:solidFill>
                      <a:srgbClr val="1F43A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300" b="1">
                          <a:solidFill>
                            <a:srgbClr val="FFFFFF"/>
                          </a:solidFill>
                        </a:rPr>
                        <a:t>처리 전략</a:t>
                      </a:r>
                    </a:p>
                  </a:txBody>
                  <a:tcPr anchor="ctr">
                    <a:solidFill>
                      <a:srgbClr val="1F43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88233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1">
                          <a:solidFill>
                            <a:srgbClr val="173A6A"/>
                          </a:solidFill>
                        </a:rPr>
                        <a:t>청년 정책 데이터 (온통청년)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>
                          <a:solidFill>
                            <a:srgbClr val="222222"/>
                          </a:solidFill>
                        </a:rPr>
                        <a:t>정책 매칭·자격 판단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>
                          <a:solidFill>
                            <a:srgbClr val="222222"/>
                          </a:solidFill>
                        </a:rPr>
                        <a:t>수시 갱신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>
                          <a:solidFill>
                            <a:srgbClr val="222222"/>
                          </a:solidFill>
                        </a:rPr>
                        <a:t>정기 크롤·청크 인덱싱·메타데이터 태깅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6412989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1">
                          <a:solidFill>
                            <a:srgbClr val="173A6A"/>
                          </a:solidFill>
                        </a:rPr>
                        <a:t>채용 공고 (워크넷·플랫폼)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>
                          <a:solidFill>
                            <a:srgbClr val="222222"/>
                          </a:solidFill>
                        </a:rPr>
                        <a:t>공고 추천·랭킹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>
                          <a:solidFill>
                            <a:srgbClr val="222222"/>
                          </a:solidFill>
                        </a:rPr>
                        <a:t>일/주 단위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>
                          <a:solidFill>
                            <a:srgbClr val="222222"/>
                          </a:solidFill>
                        </a:rPr>
                        <a:t>API 우선·캐시·만료 관리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305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1">
                          <a:solidFill>
                            <a:srgbClr val="173A6A"/>
                          </a:solidFill>
                        </a:rPr>
                        <a:t>합격 자소서 예시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>
                          <a:solidFill>
                            <a:srgbClr val="222222"/>
                          </a:solidFill>
                        </a:rPr>
                        <a:t>자소서 코칭·RAG 검색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>
                          <a:solidFill>
                            <a:srgbClr val="222222"/>
                          </a:solidFill>
                        </a:rPr>
                        <a:t>정적 / 추가형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>
                          <a:solidFill>
                            <a:srgbClr val="222222"/>
                          </a:solidFill>
                        </a:rPr>
                        <a:t>도메인별 청크·임베딩 인덱싱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4901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1">
                          <a:solidFill>
                            <a:srgbClr val="173A6A"/>
                          </a:solidFill>
                        </a:rPr>
                        <a:t>직무·역량 평가 기준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>
                          <a:solidFill>
                            <a:srgbClr val="222222"/>
                          </a:solidFill>
                        </a:rPr>
                        <a:t>자소서 피드백·매칭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>
                          <a:solidFill>
                            <a:srgbClr val="222222"/>
                          </a:solidFill>
                        </a:rPr>
                        <a:t>정적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>
                          <a:solidFill>
                            <a:srgbClr val="222222"/>
                          </a:solidFill>
                        </a:rPr>
                        <a:t>구조화 저장·룰 + LLM 평가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34654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1">
                          <a:solidFill>
                            <a:srgbClr val="173A6A"/>
                          </a:solidFill>
                        </a:rPr>
                        <a:t>기업 공시 / 채용 뉴스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>
                          <a:solidFill>
                            <a:srgbClr val="222222"/>
                          </a:solidFill>
                        </a:rPr>
                        <a:t>공고 보강·맥락 제공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>
                          <a:solidFill>
                            <a:srgbClr val="222222"/>
                          </a:solidFill>
                        </a:rPr>
                        <a:t>수시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>
                          <a:solidFill>
                            <a:srgbClr val="222222"/>
                          </a:solidFill>
                        </a:rPr>
                        <a:t>RAG·요약 캐싱·라이선스 확인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23596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FCF8994-7143-4DAD-BB3B-F1D327EEA26D}"/>
              </a:ext>
            </a:extLst>
          </p:cNvPr>
          <p:cNvSpPr txBox="1"/>
          <p:nvPr/>
        </p:nvSpPr>
        <p:spPr>
          <a:xfrm>
            <a:off x="635000" y="6350000"/>
            <a:ext cx="762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>
                <a:solidFill>
                  <a:srgbClr val="7F91AD"/>
                </a:solidFill>
              </a:rPr>
              <a:t>공공</a:t>
            </a:r>
            <a:r>
              <a:rPr lang="en-US" altLang="ko-KR" sz="1100">
                <a:solidFill>
                  <a:srgbClr val="7F91AD"/>
                </a:solidFill>
              </a:rPr>
              <a:t>·</a:t>
            </a:r>
            <a:r>
              <a:rPr lang="ko-KR" altLang="en-US" sz="1100">
                <a:solidFill>
                  <a:srgbClr val="7F91AD"/>
                </a:solidFill>
              </a:rPr>
              <a:t>공개 데이터 우선</a:t>
            </a:r>
            <a:r>
              <a:rPr lang="en-US" altLang="ko-KR" sz="1100">
                <a:solidFill>
                  <a:srgbClr val="7F91AD"/>
                </a:solidFill>
              </a:rPr>
              <a:t>, </a:t>
            </a:r>
            <a:r>
              <a:rPr lang="ko-KR" altLang="en-US" sz="1100">
                <a:solidFill>
                  <a:srgbClr val="7F91AD"/>
                </a:solidFill>
              </a:rPr>
              <a:t>라이선스 범위 내에서 사용</a:t>
            </a:r>
          </a:p>
        </p:txBody>
      </p:sp>
    </p:spTree>
    <p:extLst>
      <p:ext uri="{BB962C8B-B14F-4D97-AF65-F5344CB8AC3E}">
        <p14:creationId xmlns:p14="http://schemas.microsoft.com/office/powerpoint/2010/main" val="685966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89822F-E931-4481-A504-E7C178668AF1}"/>
              </a:ext>
            </a:extLst>
          </p:cNvPr>
          <p:cNvSpPr txBox="1"/>
          <p:nvPr/>
        </p:nvSpPr>
        <p:spPr>
          <a:xfrm>
            <a:off x="635000" y="571500"/>
            <a:ext cx="889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800" b="1">
                <a:solidFill>
                  <a:srgbClr val="173A6A"/>
                </a:solidFill>
              </a:rPr>
              <a:t>실험 및 평가 계획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ECDC6C-DFAA-445E-B078-13B1D0E66494}"/>
              </a:ext>
            </a:extLst>
          </p:cNvPr>
          <p:cNvSpPr txBox="1"/>
          <p:nvPr/>
        </p:nvSpPr>
        <p:spPr>
          <a:xfrm>
            <a:off x="9906000" y="635000"/>
            <a:ext cx="190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1F43A3"/>
                </a:solidFill>
              </a:rPr>
              <a:t>09 / EVALUATION</a:t>
            </a:r>
            <a:endParaRPr lang="ko-KR" altLang="en-US" sz="1000" b="1">
              <a:solidFill>
                <a:srgbClr val="1F43A3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951946D-BF0C-488A-B3D9-C708ACD10AD9}"/>
              </a:ext>
            </a:extLst>
          </p:cNvPr>
          <p:cNvSpPr/>
          <p:nvPr/>
        </p:nvSpPr>
        <p:spPr>
          <a:xfrm>
            <a:off x="635000" y="1397000"/>
            <a:ext cx="10922000" cy="25400"/>
          </a:xfrm>
          <a:prstGeom prst="rect">
            <a:avLst/>
          </a:prstGeom>
          <a:solidFill>
            <a:srgbClr val="C7D3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69914F5-028B-459F-BF2A-0FA648114F25}"/>
              </a:ext>
            </a:extLst>
          </p:cNvPr>
          <p:cNvSpPr/>
          <p:nvPr/>
        </p:nvSpPr>
        <p:spPr>
          <a:xfrm>
            <a:off x="762000" y="1714500"/>
            <a:ext cx="6477000" cy="355600"/>
          </a:xfrm>
          <a:prstGeom prst="rect">
            <a:avLst/>
          </a:prstGeom>
          <a:solidFill>
            <a:srgbClr val="1F43A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FFFFFF"/>
                </a:solidFill>
              </a:rPr>
              <a:t>정량 평가 </a:t>
            </a:r>
            <a:r>
              <a:rPr lang="en-US" altLang="ko-KR" sz="1300" b="1">
                <a:solidFill>
                  <a:srgbClr val="FFFFFF"/>
                </a:solidFill>
              </a:rPr>
              <a:t>(Quantitative)</a:t>
            </a:r>
            <a:endParaRPr lang="ko-KR" altLang="en-US" sz="1300" b="1">
              <a:solidFill>
                <a:srgbClr val="FFFFFF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4D60FC4-3A43-470C-B26F-A57B431E7051}"/>
              </a:ext>
            </a:extLst>
          </p:cNvPr>
          <p:cNvSpPr/>
          <p:nvPr/>
        </p:nvSpPr>
        <p:spPr>
          <a:xfrm>
            <a:off x="7366000" y="1714500"/>
            <a:ext cx="4064000" cy="355600"/>
          </a:xfrm>
          <a:prstGeom prst="rect">
            <a:avLst/>
          </a:prstGeom>
          <a:solidFill>
            <a:srgbClr val="17DD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173A6A"/>
                </a:solidFill>
              </a:rPr>
              <a:t>정성 평가 </a:t>
            </a:r>
            <a:r>
              <a:rPr lang="en-US" altLang="ko-KR" sz="1300" b="1">
                <a:solidFill>
                  <a:srgbClr val="173A6A"/>
                </a:solidFill>
              </a:rPr>
              <a:t>(Qualitative)</a:t>
            </a:r>
            <a:endParaRPr lang="ko-KR" altLang="en-US" sz="1300" b="1">
              <a:solidFill>
                <a:srgbClr val="173A6A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4A97AB3-100F-4399-A924-371EA5F92087}"/>
              </a:ext>
            </a:extLst>
          </p:cNvPr>
          <p:cNvSpPr/>
          <p:nvPr/>
        </p:nvSpPr>
        <p:spPr>
          <a:xfrm>
            <a:off x="762000" y="2222500"/>
            <a:ext cx="2095500" cy="3556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7D3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8FD4FB-6317-4143-8A21-9C4358C8555C}"/>
              </a:ext>
            </a:extLst>
          </p:cNvPr>
          <p:cNvSpPr/>
          <p:nvPr/>
        </p:nvSpPr>
        <p:spPr>
          <a:xfrm>
            <a:off x="762000" y="2222500"/>
            <a:ext cx="2095500" cy="76200"/>
          </a:xfrm>
          <a:prstGeom prst="rect">
            <a:avLst/>
          </a:prstGeom>
          <a:solidFill>
            <a:srgbClr val="1F43A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B3FAF0-9E4F-4CB1-BCEA-0A1C48E9BA2C}"/>
              </a:ext>
            </a:extLst>
          </p:cNvPr>
          <p:cNvSpPr txBox="1"/>
          <p:nvPr/>
        </p:nvSpPr>
        <p:spPr>
          <a:xfrm>
            <a:off x="939800" y="2540000"/>
            <a:ext cx="17399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173A6A"/>
                </a:solidFill>
              </a:rPr>
              <a:t>정책 매칭 정확도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FB874A-12FF-4964-834B-5C66CA452937}"/>
              </a:ext>
            </a:extLst>
          </p:cNvPr>
          <p:cNvSpPr txBox="1"/>
          <p:nvPr/>
        </p:nvSpPr>
        <p:spPr>
          <a:xfrm>
            <a:off x="939800" y="3429000"/>
            <a:ext cx="17399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666666"/>
                </a:solidFill>
              </a:rPr>
              <a:t>프로필 → 추천 정책의
자격 일치율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479D488-7417-48FD-B0B2-32E448BCF871}"/>
              </a:ext>
            </a:extLst>
          </p:cNvPr>
          <p:cNvSpPr/>
          <p:nvPr/>
        </p:nvSpPr>
        <p:spPr>
          <a:xfrm>
            <a:off x="2959100" y="2222500"/>
            <a:ext cx="2095500" cy="3556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7D3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2CA5ADE-210B-4BD9-8974-B292995A9024}"/>
              </a:ext>
            </a:extLst>
          </p:cNvPr>
          <p:cNvSpPr/>
          <p:nvPr/>
        </p:nvSpPr>
        <p:spPr>
          <a:xfrm>
            <a:off x="2959100" y="2222500"/>
            <a:ext cx="2095500" cy="76200"/>
          </a:xfrm>
          <a:prstGeom prst="rect">
            <a:avLst/>
          </a:prstGeom>
          <a:solidFill>
            <a:srgbClr val="1F43A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EC5CBF-2002-4C6A-99AC-E736499B9FA8}"/>
              </a:ext>
            </a:extLst>
          </p:cNvPr>
          <p:cNvSpPr txBox="1"/>
          <p:nvPr/>
        </p:nvSpPr>
        <p:spPr>
          <a:xfrm>
            <a:off x="3136900" y="2540000"/>
            <a:ext cx="17399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173A6A"/>
                </a:solidFill>
              </a:rPr>
              <a:t>출처 일관성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07657E-905F-46FC-9695-BB888FB79B91}"/>
              </a:ext>
            </a:extLst>
          </p:cNvPr>
          <p:cNvSpPr txBox="1"/>
          <p:nvPr/>
        </p:nvSpPr>
        <p:spPr>
          <a:xfrm>
            <a:off x="3136900" y="3429000"/>
            <a:ext cx="17399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666666"/>
                </a:solidFill>
              </a:rPr>
              <a:t>RAG </a:t>
            </a:r>
            <a:r>
              <a:rPr lang="ko-KR" altLang="en-US" sz="1300">
                <a:solidFill>
                  <a:srgbClr val="666666"/>
                </a:solidFill>
              </a:rPr>
              <a:t>응답의 인용
문서 일치율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50A167A-425C-4833-B6E2-17555C3B6EC3}"/>
              </a:ext>
            </a:extLst>
          </p:cNvPr>
          <p:cNvSpPr/>
          <p:nvPr/>
        </p:nvSpPr>
        <p:spPr>
          <a:xfrm>
            <a:off x="5156200" y="2222500"/>
            <a:ext cx="2095500" cy="3556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7D3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1C8D935-B3D6-4496-A3A1-3E0CFC1654D9}"/>
              </a:ext>
            </a:extLst>
          </p:cNvPr>
          <p:cNvSpPr/>
          <p:nvPr/>
        </p:nvSpPr>
        <p:spPr>
          <a:xfrm>
            <a:off x="5156200" y="2222500"/>
            <a:ext cx="2095500" cy="76200"/>
          </a:xfrm>
          <a:prstGeom prst="rect">
            <a:avLst/>
          </a:prstGeom>
          <a:solidFill>
            <a:srgbClr val="1F43A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7A91D9-4A2C-45EE-AA6C-9D990944C08E}"/>
              </a:ext>
            </a:extLst>
          </p:cNvPr>
          <p:cNvSpPr txBox="1"/>
          <p:nvPr/>
        </p:nvSpPr>
        <p:spPr>
          <a:xfrm>
            <a:off x="5334000" y="2540000"/>
            <a:ext cx="17399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173A6A"/>
                </a:solidFill>
              </a:rPr>
              <a:t>응답 시간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74311A-4AA5-4D67-80F5-A68C31A8CEEA}"/>
              </a:ext>
            </a:extLst>
          </p:cNvPr>
          <p:cNvSpPr txBox="1"/>
          <p:nvPr/>
        </p:nvSpPr>
        <p:spPr>
          <a:xfrm>
            <a:off x="5334000" y="3429000"/>
            <a:ext cx="17399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666666"/>
                </a:solidFill>
              </a:rPr>
              <a:t>사용자 입력 후
</a:t>
            </a:r>
            <a:r>
              <a:rPr lang="en-US" altLang="ko-KR" sz="1300">
                <a:solidFill>
                  <a:srgbClr val="666666"/>
                </a:solidFill>
              </a:rPr>
              <a:t>P50 / P95 </a:t>
            </a:r>
            <a:r>
              <a:rPr lang="ko-KR" altLang="en-US" sz="1300">
                <a:solidFill>
                  <a:srgbClr val="666666"/>
                </a:solidFill>
              </a:rPr>
              <a:t>지연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BACD9A3-C959-442F-A371-E2B87DB21B92}"/>
              </a:ext>
            </a:extLst>
          </p:cNvPr>
          <p:cNvSpPr/>
          <p:nvPr/>
        </p:nvSpPr>
        <p:spPr>
          <a:xfrm>
            <a:off x="7366000" y="2222500"/>
            <a:ext cx="1930400" cy="3556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17DDD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EAD52B1-8316-440B-840E-D04F0FEA9357}"/>
              </a:ext>
            </a:extLst>
          </p:cNvPr>
          <p:cNvSpPr/>
          <p:nvPr/>
        </p:nvSpPr>
        <p:spPr>
          <a:xfrm>
            <a:off x="7366000" y="2222500"/>
            <a:ext cx="1930400" cy="76200"/>
          </a:xfrm>
          <a:prstGeom prst="rect">
            <a:avLst/>
          </a:prstGeom>
          <a:solidFill>
            <a:srgbClr val="17DD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3380FA-2DA0-4985-9269-3DD433155188}"/>
              </a:ext>
            </a:extLst>
          </p:cNvPr>
          <p:cNvSpPr txBox="1"/>
          <p:nvPr/>
        </p:nvSpPr>
        <p:spPr>
          <a:xfrm>
            <a:off x="7543800" y="2540000"/>
            <a:ext cx="15748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173A6A"/>
                </a:solidFill>
              </a:rPr>
              <a:t>자소서 피드백 품질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240179-BBE6-4A8A-B861-8094497C8BCC}"/>
              </a:ext>
            </a:extLst>
          </p:cNvPr>
          <p:cNvSpPr txBox="1"/>
          <p:nvPr/>
        </p:nvSpPr>
        <p:spPr>
          <a:xfrm>
            <a:off x="7543800" y="3429000"/>
            <a:ext cx="15748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666666"/>
                </a:solidFill>
              </a:rPr>
              <a:t>전문가</a:t>
            </a:r>
            <a:r>
              <a:rPr lang="en-US" altLang="ko-KR" sz="1300">
                <a:solidFill>
                  <a:srgbClr val="666666"/>
                </a:solidFill>
              </a:rPr>
              <a:t>/</a:t>
            </a:r>
            <a:r>
              <a:rPr lang="ko-KR" altLang="en-US" sz="1300">
                <a:solidFill>
                  <a:srgbClr val="666666"/>
                </a:solidFill>
              </a:rPr>
              <a:t>사용자
평가 점수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E4EB1E1-38F1-4248-989C-8134EA0867C8}"/>
              </a:ext>
            </a:extLst>
          </p:cNvPr>
          <p:cNvSpPr/>
          <p:nvPr/>
        </p:nvSpPr>
        <p:spPr>
          <a:xfrm>
            <a:off x="9398000" y="2222500"/>
            <a:ext cx="1930400" cy="3556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17DDD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AD06A18-B81D-4681-8D09-AE4802477E6A}"/>
              </a:ext>
            </a:extLst>
          </p:cNvPr>
          <p:cNvSpPr/>
          <p:nvPr/>
        </p:nvSpPr>
        <p:spPr>
          <a:xfrm>
            <a:off x="9398000" y="2222500"/>
            <a:ext cx="1930400" cy="76200"/>
          </a:xfrm>
          <a:prstGeom prst="rect">
            <a:avLst/>
          </a:prstGeom>
          <a:solidFill>
            <a:srgbClr val="17DD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D1DE639-48B7-43DC-94E6-472242D708A8}"/>
              </a:ext>
            </a:extLst>
          </p:cNvPr>
          <p:cNvSpPr txBox="1"/>
          <p:nvPr/>
        </p:nvSpPr>
        <p:spPr>
          <a:xfrm>
            <a:off x="9575800" y="2540000"/>
            <a:ext cx="15748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173A6A"/>
                </a:solidFill>
              </a:rPr>
              <a:t>사용자 만족도 조사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20A134-9A08-41FF-95B3-F8B0A47CA2EB}"/>
              </a:ext>
            </a:extLst>
          </p:cNvPr>
          <p:cNvSpPr txBox="1"/>
          <p:nvPr/>
        </p:nvSpPr>
        <p:spPr>
          <a:xfrm>
            <a:off x="9575800" y="3429000"/>
            <a:ext cx="15748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666666"/>
                </a:solidFill>
              </a:rPr>
              <a:t>기존 도구 대비
</a:t>
            </a:r>
            <a:r>
              <a:rPr lang="en-US" altLang="ko-KR" sz="1300">
                <a:solidFill>
                  <a:srgbClr val="666666"/>
                </a:solidFill>
              </a:rPr>
              <a:t>NPS / </a:t>
            </a:r>
            <a:r>
              <a:rPr lang="ko-KR" altLang="en-US" sz="1300">
                <a:solidFill>
                  <a:srgbClr val="666666"/>
                </a:solidFill>
              </a:rPr>
              <a:t>설문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7CAC4A0E-AEC0-4C2B-A08D-054F944DFCDB}"/>
              </a:ext>
            </a:extLst>
          </p:cNvPr>
          <p:cNvSpPr/>
          <p:nvPr/>
        </p:nvSpPr>
        <p:spPr>
          <a:xfrm>
            <a:off x="762000" y="6032500"/>
            <a:ext cx="10668000" cy="457200"/>
          </a:xfrm>
          <a:prstGeom prst="roundRect">
            <a:avLst/>
          </a:prstGeom>
          <a:solidFill>
            <a:srgbClr val="F4F7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173A6A"/>
                </a:solidFill>
              </a:rPr>
              <a:t>비교 대상 │ 정부</a:t>
            </a:r>
            <a:r>
              <a:rPr lang="en-US" altLang="ko-KR" sz="1300" b="1">
                <a:solidFill>
                  <a:srgbClr val="173A6A"/>
                </a:solidFill>
              </a:rPr>
              <a:t>/</a:t>
            </a:r>
            <a:r>
              <a:rPr lang="ko-KR" altLang="en-US" sz="1300" b="1">
                <a:solidFill>
                  <a:srgbClr val="173A6A"/>
                </a:solidFill>
              </a:rPr>
              <a:t>채용 포털 수동 사용 </a:t>
            </a:r>
            <a:r>
              <a:rPr lang="en-US" altLang="ko-KR" sz="1300" b="1">
                <a:solidFill>
                  <a:srgbClr val="173A6A"/>
                </a:solidFill>
              </a:rPr>
              <a:t>vs. </a:t>
            </a:r>
            <a:r>
              <a:rPr lang="ko-KR" altLang="en-US" sz="1300" b="1">
                <a:solidFill>
                  <a:srgbClr val="173A6A"/>
                </a:solidFill>
              </a:rPr>
              <a:t>일반 </a:t>
            </a:r>
            <a:r>
              <a:rPr lang="en-US" altLang="ko-KR" sz="1300" b="1">
                <a:solidFill>
                  <a:srgbClr val="173A6A"/>
                </a:solidFill>
              </a:rPr>
              <a:t>LLM </a:t>
            </a:r>
            <a:r>
              <a:rPr lang="ko-KR" altLang="en-US" sz="1300" b="1">
                <a:solidFill>
                  <a:srgbClr val="173A6A"/>
                </a:solidFill>
              </a:rPr>
              <a:t>도구</a:t>
            </a:r>
          </a:p>
        </p:txBody>
      </p:sp>
    </p:spTree>
    <p:extLst>
      <p:ext uri="{BB962C8B-B14F-4D97-AF65-F5344CB8AC3E}">
        <p14:creationId xmlns:p14="http://schemas.microsoft.com/office/powerpoint/2010/main" val="1379835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237EBE-F878-453E-98C5-2585D38F04F9}"/>
              </a:ext>
            </a:extLst>
          </p:cNvPr>
          <p:cNvSpPr txBox="1"/>
          <p:nvPr/>
        </p:nvSpPr>
        <p:spPr>
          <a:xfrm>
            <a:off x="635000" y="571500"/>
            <a:ext cx="889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800" b="1">
                <a:solidFill>
                  <a:srgbClr val="173A6A"/>
                </a:solidFill>
              </a:rPr>
              <a:t>실행 계획과 역할 분담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C5C5E6-0F9D-481F-9227-DCF5C8798044}"/>
              </a:ext>
            </a:extLst>
          </p:cNvPr>
          <p:cNvSpPr txBox="1"/>
          <p:nvPr/>
        </p:nvSpPr>
        <p:spPr>
          <a:xfrm>
            <a:off x="10033000" y="635000"/>
            <a:ext cx="177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1F43A3"/>
                </a:solidFill>
              </a:rPr>
              <a:t>10 / ROADMAP</a:t>
            </a:r>
            <a:endParaRPr lang="ko-KR" altLang="en-US" sz="1000" b="1">
              <a:solidFill>
                <a:srgbClr val="1F43A3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7F48D48-84EF-48AF-A280-7DC2EFD39D8D}"/>
              </a:ext>
            </a:extLst>
          </p:cNvPr>
          <p:cNvSpPr/>
          <p:nvPr/>
        </p:nvSpPr>
        <p:spPr>
          <a:xfrm>
            <a:off x="635000" y="1397000"/>
            <a:ext cx="10922000" cy="25400"/>
          </a:xfrm>
          <a:prstGeom prst="rect">
            <a:avLst/>
          </a:prstGeom>
          <a:solidFill>
            <a:srgbClr val="C7D3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화살표: 오각형 4">
            <a:extLst>
              <a:ext uri="{FF2B5EF4-FFF2-40B4-BE49-F238E27FC236}">
                <a16:creationId xmlns:a16="http://schemas.microsoft.com/office/drawing/2014/main" id="{C59E8D58-268F-4F77-AD39-7B5D36A0BD12}"/>
              </a:ext>
            </a:extLst>
          </p:cNvPr>
          <p:cNvSpPr/>
          <p:nvPr/>
        </p:nvSpPr>
        <p:spPr>
          <a:xfrm>
            <a:off x="762000" y="1778000"/>
            <a:ext cx="2667000" cy="889000"/>
          </a:xfrm>
          <a:prstGeom prst="homePlate">
            <a:avLst/>
          </a:prstGeom>
          <a:solidFill>
            <a:srgbClr val="173A6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B4DA86-1569-43B3-ADAC-A9F7BAED7431}"/>
              </a:ext>
            </a:extLst>
          </p:cNvPr>
          <p:cNvSpPr txBox="1"/>
          <p:nvPr/>
        </p:nvSpPr>
        <p:spPr>
          <a:xfrm>
            <a:off x="914400" y="1905000"/>
            <a:ext cx="228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C7D3E8"/>
                </a:solidFill>
              </a:rPr>
              <a:t>W1-2</a:t>
            </a:r>
            <a:endParaRPr lang="ko-KR" altLang="en-US" sz="1100" b="1">
              <a:solidFill>
                <a:srgbClr val="C7D3E8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C9FC58-2B30-4243-ADA1-B613997C4242}"/>
              </a:ext>
            </a:extLst>
          </p:cNvPr>
          <p:cNvSpPr txBox="1"/>
          <p:nvPr/>
        </p:nvSpPr>
        <p:spPr>
          <a:xfrm>
            <a:off x="914400" y="2184400"/>
            <a:ext cx="228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FFFFFF"/>
                </a:solidFill>
              </a:rPr>
              <a:t>제안 발표</a:t>
            </a:r>
          </a:p>
        </p:txBody>
      </p:sp>
      <p:sp>
        <p:nvSpPr>
          <p:cNvPr id="8" name="화살표: 오각형 7">
            <a:extLst>
              <a:ext uri="{FF2B5EF4-FFF2-40B4-BE49-F238E27FC236}">
                <a16:creationId xmlns:a16="http://schemas.microsoft.com/office/drawing/2014/main" id="{F02682CF-C15A-4FFB-A9BE-527B45A56434}"/>
              </a:ext>
            </a:extLst>
          </p:cNvPr>
          <p:cNvSpPr/>
          <p:nvPr/>
        </p:nvSpPr>
        <p:spPr>
          <a:xfrm>
            <a:off x="3505200" y="1778000"/>
            <a:ext cx="2667000" cy="889000"/>
          </a:xfrm>
          <a:prstGeom prst="homePlate">
            <a:avLst/>
          </a:prstGeom>
          <a:solidFill>
            <a:srgbClr val="1F43A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3FAC82-4DED-4F43-933B-BFA2D7CF43C8}"/>
              </a:ext>
            </a:extLst>
          </p:cNvPr>
          <p:cNvSpPr txBox="1"/>
          <p:nvPr/>
        </p:nvSpPr>
        <p:spPr>
          <a:xfrm>
            <a:off x="3657600" y="1905000"/>
            <a:ext cx="228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C7D3E8"/>
                </a:solidFill>
              </a:rPr>
              <a:t>W3-5</a:t>
            </a:r>
            <a:endParaRPr lang="ko-KR" altLang="en-US" sz="1100" b="1">
              <a:solidFill>
                <a:srgbClr val="C7D3E8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8A7A6C-4A99-4ED0-A4B4-2E19E3D60B67}"/>
              </a:ext>
            </a:extLst>
          </p:cNvPr>
          <p:cNvSpPr txBox="1"/>
          <p:nvPr/>
        </p:nvSpPr>
        <p:spPr>
          <a:xfrm>
            <a:off x="3657600" y="2184400"/>
            <a:ext cx="228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FFFFFF"/>
                </a:solidFill>
              </a:rPr>
              <a:t>데이터 수집</a:t>
            </a:r>
            <a:r>
              <a:rPr lang="en-US" altLang="ko-KR" sz="1400" b="1">
                <a:solidFill>
                  <a:srgbClr val="FFFFFF"/>
                </a:solidFill>
              </a:rPr>
              <a:t>·</a:t>
            </a:r>
            <a:r>
              <a:rPr lang="ko-KR" altLang="en-US" sz="1400" b="1">
                <a:solidFill>
                  <a:srgbClr val="FFFFFF"/>
                </a:solidFill>
              </a:rPr>
              <a:t>인덱싱</a:t>
            </a:r>
          </a:p>
        </p:txBody>
      </p:sp>
      <p:sp>
        <p:nvSpPr>
          <p:cNvPr id="11" name="화살표: 오각형 10">
            <a:extLst>
              <a:ext uri="{FF2B5EF4-FFF2-40B4-BE49-F238E27FC236}">
                <a16:creationId xmlns:a16="http://schemas.microsoft.com/office/drawing/2014/main" id="{2B965677-16A9-4856-8853-9FAA1869A46A}"/>
              </a:ext>
            </a:extLst>
          </p:cNvPr>
          <p:cNvSpPr/>
          <p:nvPr/>
        </p:nvSpPr>
        <p:spPr>
          <a:xfrm>
            <a:off x="6248400" y="1778000"/>
            <a:ext cx="2667000" cy="889000"/>
          </a:xfrm>
          <a:prstGeom prst="homePlate">
            <a:avLst/>
          </a:prstGeom>
          <a:solidFill>
            <a:srgbClr val="0E73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81D084-277B-464E-8FAF-FE0BE7177272}"/>
              </a:ext>
            </a:extLst>
          </p:cNvPr>
          <p:cNvSpPr txBox="1"/>
          <p:nvPr/>
        </p:nvSpPr>
        <p:spPr>
          <a:xfrm>
            <a:off x="6400800" y="1905000"/>
            <a:ext cx="228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C7D3E8"/>
                </a:solidFill>
              </a:rPr>
              <a:t>W6-9</a:t>
            </a:r>
            <a:endParaRPr lang="ko-KR" altLang="en-US" sz="1100" b="1">
              <a:solidFill>
                <a:srgbClr val="C7D3E8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410DA4-9427-4CC1-9668-538E4CC571F0}"/>
              </a:ext>
            </a:extLst>
          </p:cNvPr>
          <p:cNvSpPr txBox="1"/>
          <p:nvPr/>
        </p:nvSpPr>
        <p:spPr>
          <a:xfrm>
            <a:off x="6400800" y="2184400"/>
            <a:ext cx="228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FFFFFF"/>
                </a:solidFill>
              </a:rPr>
              <a:t>프로토타입</a:t>
            </a:r>
            <a:r>
              <a:rPr lang="en-US" altLang="ko-KR" sz="1400" b="1">
                <a:solidFill>
                  <a:srgbClr val="FFFFFF"/>
                </a:solidFill>
              </a:rPr>
              <a:t>·</a:t>
            </a:r>
            <a:r>
              <a:rPr lang="ko-KR" altLang="en-US" sz="1400" b="1">
                <a:solidFill>
                  <a:srgbClr val="FFFFFF"/>
                </a:solidFill>
              </a:rPr>
              <a:t>통합</a:t>
            </a:r>
          </a:p>
        </p:txBody>
      </p:sp>
      <p:sp>
        <p:nvSpPr>
          <p:cNvPr id="14" name="화살표: 오각형 13">
            <a:extLst>
              <a:ext uri="{FF2B5EF4-FFF2-40B4-BE49-F238E27FC236}">
                <a16:creationId xmlns:a16="http://schemas.microsoft.com/office/drawing/2014/main" id="{3DF75F5B-EBFE-471A-A809-0B9872F4CDAB}"/>
              </a:ext>
            </a:extLst>
          </p:cNvPr>
          <p:cNvSpPr/>
          <p:nvPr/>
        </p:nvSpPr>
        <p:spPr>
          <a:xfrm>
            <a:off x="8991600" y="1778000"/>
            <a:ext cx="2667000" cy="889000"/>
          </a:xfrm>
          <a:prstGeom prst="homePlate">
            <a:avLst/>
          </a:prstGeom>
          <a:solidFill>
            <a:srgbClr val="17DD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04B551-A1C8-4C64-AFBF-1A5AB099F9EB}"/>
              </a:ext>
            </a:extLst>
          </p:cNvPr>
          <p:cNvSpPr txBox="1"/>
          <p:nvPr/>
        </p:nvSpPr>
        <p:spPr>
          <a:xfrm>
            <a:off x="9144000" y="1905000"/>
            <a:ext cx="228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173A6A"/>
                </a:solidFill>
              </a:rPr>
              <a:t>W10-12</a:t>
            </a:r>
            <a:endParaRPr lang="ko-KR" altLang="en-US" sz="1100" b="1">
              <a:solidFill>
                <a:srgbClr val="173A6A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66AB56-FD00-4CB1-80A3-F439232120F9}"/>
              </a:ext>
            </a:extLst>
          </p:cNvPr>
          <p:cNvSpPr txBox="1"/>
          <p:nvPr/>
        </p:nvSpPr>
        <p:spPr>
          <a:xfrm>
            <a:off x="9144000" y="2184400"/>
            <a:ext cx="228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173A6A"/>
                </a:solidFill>
              </a:rPr>
              <a:t>평가</a:t>
            </a:r>
            <a:r>
              <a:rPr lang="en-US" altLang="ko-KR" sz="1400" b="1">
                <a:solidFill>
                  <a:srgbClr val="173A6A"/>
                </a:solidFill>
              </a:rPr>
              <a:t>·</a:t>
            </a:r>
            <a:r>
              <a:rPr lang="ko-KR" altLang="en-US" sz="1400" b="1">
                <a:solidFill>
                  <a:srgbClr val="173A6A"/>
                </a:solidFill>
              </a:rPr>
              <a:t>최종 발표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06CC4D-475E-4EBB-A87E-BF9F63C40087}"/>
              </a:ext>
            </a:extLst>
          </p:cNvPr>
          <p:cNvSpPr txBox="1"/>
          <p:nvPr/>
        </p:nvSpPr>
        <p:spPr>
          <a:xfrm>
            <a:off x="762000" y="3048000"/>
            <a:ext cx="508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173A6A"/>
                </a:solidFill>
              </a:rPr>
              <a:t>역할 분담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041CF7C8-18F7-4DBC-9953-69C360B870DB}"/>
              </a:ext>
            </a:extLst>
          </p:cNvPr>
          <p:cNvSpPr/>
          <p:nvPr/>
        </p:nvSpPr>
        <p:spPr>
          <a:xfrm>
            <a:off x="762000" y="3556000"/>
            <a:ext cx="2057400" cy="2540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7D3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8D1A2A57-A8D1-4C47-B36E-B075F8B6D77F}"/>
              </a:ext>
            </a:extLst>
          </p:cNvPr>
          <p:cNvSpPr/>
          <p:nvPr/>
        </p:nvSpPr>
        <p:spPr>
          <a:xfrm>
            <a:off x="1511300" y="3759200"/>
            <a:ext cx="558800" cy="558800"/>
          </a:xfrm>
          <a:prstGeom prst="diamond">
            <a:avLst/>
          </a:prstGeom>
          <a:solidFill>
            <a:srgbClr val="1F43A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</a:rPr>
              <a:t>01</a:t>
            </a:r>
            <a:endParaRPr lang="ko-KR" altLang="en-US" sz="1300" b="1">
              <a:solidFill>
                <a:srgbClr val="FFFFFF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36CDC0-734C-4F07-BEE4-6C541AF0953F}"/>
              </a:ext>
            </a:extLst>
          </p:cNvPr>
          <p:cNvSpPr txBox="1"/>
          <p:nvPr/>
        </p:nvSpPr>
        <p:spPr>
          <a:xfrm>
            <a:off x="863600" y="4572000"/>
            <a:ext cx="1854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173A6A"/>
                </a:solidFill>
              </a:rPr>
              <a:t>정책</a:t>
            </a:r>
            <a:r>
              <a:rPr lang="en-US" altLang="ko-KR" sz="1400" b="1">
                <a:solidFill>
                  <a:srgbClr val="173A6A"/>
                </a:solidFill>
              </a:rPr>
              <a:t>·</a:t>
            </a:r>
            <a:r>
              <a:rPr lang="ko-KR" altLang="en-US" sz="1400" b="1">
                <a:solidFill>
                  <a:srgbClr val="173A6A"/>
                </a:solidFill>
              </a:rPr>
              <a:t>도메인 데이터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6050C6-56B7-4F66-8925-F9BEB5FB9DE3}"/>
              </a:ext>
            </a:extLst>
          </p:cNvPr>
          <p:cNvSpPr txBox="1"/>
          <p:nvPr/>
        </p:nvSpPr>
        <p:spPr>
          <a:xfrm>
            <a:off x="863600" y="5334000"/>
            <a:ext cx="18542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666666"/>
                </a:solidFill>
              </a:rPr>
              <a:t>수집 </a:t>
            </a:r>
            <a:r>
              <a:rPr lang="en-US" altLang="ko-KR" sz="1200">
                <a:solidFill>
                  <a:srgbClr val="666666"/>
                </a:solidFill>
              </a:rPr>
              <a:t>/ </a:t>
            </a:r>
            <a:r>
              <a:rPr lang="ko-KR" altLang="en-US" sz="1200">
                <a:solidFill>
                  <a:srgbClr val="666666"/>
                </a:solidFill>
              </a:rPr>
              <a:t>인덱싱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6D31C53-B90D-42D7-8C5D-EF8A48E5530A}"/>
              </a:ext>
            </a:extLst>
          </p:cNvPr>
          <p:cNvSpPr/>
          <p:nvPr/>
        </p:nvSpPr>
        <p:spPr>
          <a:xfrm>
            <a:off x="2921000" y="3556000"/>
            <a:ext cx="2057400" cy="2540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7D3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다이아몬드 22">
            <a:extLst>
              <a:ext uri="{FF2B5EF4-FFF2-40B4-BE49-F238E27FC236}">
                <a16:creationId xmlns:a16="http://schemas.microsoft.com/office/drawing/2014/main" id="{E0E6E79D-9648-431A-871E-F3135EC192C7}"/>
              </a:ext>
            </a:extLst>
          </p:cNvPr>
          <p:cNvSpPr/>
          <p:nvPr/>
        </p:nvSpPr>
        <p:spPr>
          <a:xfrm>
            <a:off x="3670300" y="3759200"/>
            <a:ext cx="558800" cy="558800"/>
          </a:xfrm>
          <a:prstGeom prst="diamond">
            <a:avLst/>
          </a:prstGeom>
          <a:solidFill>
            <a:srgbClr val="1F43A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</a:rPr>
              <a:t>02</a:t>
            </a:r>
            <a:endParaRPr lang="ko-KR" altLang="en-US" sz="1300" b="1">
              <a:solidFill>
                <a:srgbClr val="FFFFFF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CBC8A4-DE49-4FB2-9303-D362B8390012}"/>
              </a:ext>
            </a:extLst>
          </p:cNvPr>
          <p:cNvSpPr txBox="1"/>
          <p:nvPr/>
        </p:nvSpPr>
        <p:spPr>
          <a:xfrm>
            <a:off x="3022600" y="4572000"/>
            <a:ext cx="1854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173A6A"/>
                </a:solidFill>
              </a:rPr>
              <a:t>채용 데이터</a:t>
            </a:r>
            <a:r>
              <a:rPr lang="en-US" altLang="ko-KR" sz="1400" b="1">
                <a:solidFill>
                  <a:srgbClr val="173A6A"/>
                </a:solidFill>
              </a:rPr>
              <a:t>·API</a:t>
            </a:r>
            <a:endParaRPr lang="ko-KR" altLang="en-US" sz="1400" b="1">
              <a:solidFill>
                <a:srgbClr val="173A6A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315A26-7A41-4A06-AA53-4DEE382749FA}"/>
              </a:ext>
            </a:extLst>
          </p:cNvPr>
          <p:cNvSpPr txBox="1"/>
          <p:nvPr/>
        </p:nvSpPr>
        <p:spPr>
          <a:xfrm>
            <a:off x="3022600" y="5334000"/>
            <a:ext cx="18542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666666"/>
                </a:solidFill>
              </a:rPr>
              <a:t>수집 </a:t>
            </a:r>
            <a:r>
              <a:rPr lang="en-US" altLang="ko-KR" sz="1200">
                <a:solidFill>
                  <a:srgbClr val="666666"/>
                </a:solidFill>
              </a:rPr>
              <a:t>/ </a:t>
            </a:r>
            <a:r>
              <a:rPr lang="ko-KR" altLang="en-US" sz="1200">
                <a:solidFill>
                  <a:srgbClr val="666666"/>
                </a:solidFill>
              </a:rPr>
              <a:t>통합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AE93E5FB-A3D0-4C5B-B9BF-A645B4630375}"/>
              </a:ext>
            </a:extLst>
          </p:cNvPr>
          <p:cNvSpPr/>
          <p:nvPr/>
        </p:nvSpPr>
        <p:spPr>
          <a:xfrm>
            <a:off x="5080000" y="3556000"/>
            <a:ext cx="2057400" cy="2540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7D3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다이아몬드 26">
            <a:extLst>
              <a:ext uri="{FF2B5EF4-FFF2-40B4-BE49-F238E27FC236}">
                <a16:creationId xmlns:a16="http://schemas.microsoft.com/office/drawing/2014/main" id="{869FDB17-C8E9-4AA7-84B1-3D425735899E}"/>
              </a:ext>
            </a:extLst>
          </p:cNvPr>
          <p:cNvSpPr/>
          <p:nvPr/>
        </p:nvSpPr>
        <p:spPr>
          <a:xfrm>
            <a:off x="5829300" y="3759200"/>
            <a:ext cx="558800" cy="558800"/>
          </a:xfrm>
          <a:prstGeom prst="diamond">
            <a:avLst/>
          </a:prstGeom>
          <a:solidFill>
            <a:srgbClr val="1F43A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</a:rPr>
              <a:t>03</a:t>
            </a:r>
            <a:endParaRPr lang="ko-KR" altLang="en-US" sz="1300" b="1">
              <a:solidFill>
                <a:srgbClr val="FFFFFF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4B39EB-C320-41C6-9281-9348F486174C}"/>
              </a:ext>
            </a:extLst>
          </p:cNvPr>
          <p:cNvSpPr txBox="1"/>
          <p:nvPr/>
        </p:nvSpPr>
        <p:spPr>
          <a:xfrm>
            <a:off x="5181600" y="4572000"/>
            <a:ext cx="1854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173A6A"/>
                </a:solidFill>
              </a:rPr>
              <a:t>자소서</a:t>
            </a:r>
            <a:r>
              <a:rPr lang="en-US" altLang="ko-KR" sz="1400" b="1">
                <a:solidFill>
                  <a:srgbClr val="173A6A"/>
                </a:solidFill>
              </a:rPr>
              <a:t>·</a:t>
            </a:r>
            <a:r>
              <a:rPr lang="ko-KR" altLang="en-US" sz="1400" b="1">
                <a:solidFill>
                  <a:srgbClr val="173A6A"/>
                </a:solidFill>
              </a:rPr>
              <a:t>평가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B5F623A-B0D9-4DDA-9491-27AB18A4785A}"/>
              </a:ext>
            </a:extLst>
          </p:cNvPr>
          <p:cNvSpPr txBox="1"/>
          <p:nvPr/>
        </p:nvSpPr>
        <p:spPr>
          <a:xfrm>
            <a:off x="5181600" y="5334000"/>
            <a:ext cx="18542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>
                <a:solidFill>
                  <a:srgbClr val="666666"/>
                </a:solidFill>
              </a:rPr>
              <a:t>RAG / </a:t>
            </a:r>
            <a:r>
              <a:rPr lang="ko-KR" altLang="en-US" sz="1200">
                <a:solidFill>
                  <a:srgbClr val="666666"/>
                </a:solidFill>
              </a:rPr>
              <a:t>피드백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12A72BB2-AC97-408F-A14E-3EE30570F8DE}"/>
              </a:ext>
            </a:extLst>
          </p:cNvPr>
          <p:cNvSpPr/>
          <p:nvPr/>
        </p:nvSpPr>
        <p:spPr>
          <a:xfrm>
            <a:off x="7239000" y="3556000"/>
            <a:ext cx="2057400" cy="2540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7D3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1" name="다이아몬드 30">
            <a:extLst>
              <a:ext uri="{FF2B5EF4-FFF2-40B4-BE49-F238E27FC236}">
                <a16:creationId xmlns:a16="http://schemas.microsoft.com/office/drawing/2014/main" id="{0FA0DD18-1221-4BBB-95BE-5E4231B8DBF9}"/>
              </a:ext>
            </a:extLst>
          </p:cNvPr>
          <p:cNvSpPr/>
          <p:nvPr/>
        </p:nvSpPr>
        <p:spPr>
          <a:xfrm>
            <a:off x="7988300" y="3759200"/>
            <a:ext cx="558800" cy="558800"/>
          </a:xfrm>
          <a:prstGeom prst="diamond">
            <a:avLst/>
          </a:prstGeom>
          <a:solidFill>
            <a:srgbClr val="1F43A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</a:rPr>
              <a:t>04</a:t>
            </a:r>
            <a:endParaRPr lang="ko-KR" altLang="en-US" sz="1300" b="1">
              <a:solidFill>
                <a:srgbClr val="FFFFFF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DF3DE6E-D4D4-41EB-9F2B-321BF7FC5F18}"/>
              </a:ext>
            </a:extLst>
          </p:cNvPr>
          <p:cNvSpPr txBox="1"/>
          <p:nvPr/>
        </p:nvSpPr>
        <p:spPr>
          <a:xfrm>
            <a:off x="7340600" y="4572000"/>
            <a:ext cx="1854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 b="1">
                <a:solidFill>
                  <a:srgbClr val="173A6A"/>
                </a:solidFill>
              </a:rPr>
              <a:t>UI · </a:t>
            </a:r>
            <a:r>
              <a:rPr lang="ko-KR" altLang="en-US" sz="1400" b="1">
                <a:solidFill>
                  <a:srgbClr val="173A6A"/>
                </a:solidFill>
              </a:rPr>
              <a:t>사용자 테스트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1C16FCE-30FE-4AE6-B02F-AE521AB08CEF}"/>
              </a:ext>
            </a:extLst>
          </p:cNvPr>
          <p:cNvSpPr txBox="1"/>
          <p:nvPr/>
        </p:nvSpPr>
        <p:spPr>
          <a:xfrm>
            <a:off x="7340600" y="5334000"/>
            <a:ext cx="18542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666666"/>
                </a:solidFill>
              </a:rPr>
              <a:t>디자인 </a:t>
            </a:r>
            <a:r>
              <a:rPr lang="en-US" altLang="ko-KR" sz="1200">
                <a:solidFill>
                  <a:srgbClr val="666666"/>
                </a:solidFill>
              </a:rPr>
              <a:t>/ </a:t>
            </a:r>
            <a:r>
              <a:rPr lang="ko-KR" altLang="en-US" sz="1200">
                <a:solidFill>
                  <a:srgbClr val="666666"/>
                </a:solidFill>
              </a:rPr>
              <a:t>검증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AFC08C0D-9563-44C5-9954-C92DAA9A999B}"/>
              </a:ext>
            </a:extLst>
          </p:cNvPr>
          <p:cNvSpPr/>
          <p:nvPr/>
        </p:nvSpPr>
        <p:spPr>
          <a:xfrm>
            <a:off x="9398000" y="3556000"/>
            <a:ext cx="2057400" cy="2540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7D3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5" name="다이아몬드 34">
            <a:extLst>
              <a:ext uri="{FF2B5EF4-FFF2-40B4-BE49-F238E27FC236}">
                <a16:creationId xmlns:a16="http://schemas.microsoft.com/office/drawing/2014/main" id="{FF39F9D5-F436-4F6A-AFE9-F0A3BA68DF4F}"/>
              </a:ext>
            </a:extLst>
          </p:cNvPr>
          <p:cNvSpPr/>
          <p:nvPr/>
        </p:nvSpPr>
        <p:spPr>
          <a:xfrm>
            <a:off x="10147300" y="3759200"/>
            <a:ext cx="558800" cy="558800"/>
          </a:xfrm>
          <a:prstGeom prst="diamond">
            <a:avLst/>
          </a:prstGeom>
          <a:solidFill>
            <a:srgbClr val="1F43A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</a:rPr>
              <a:t>05</a:t>
            </a:r>
            <a:endParaRPr lang="ko-KR" altLang="en-US" sz="1300" b="1">
              <a:solidFill>
                <a:srgbClr val="FFFFFF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DA7F3F4-7F43-49A5-BFF1-B4040C91B395}"/>
              </a:ext>
            </a:extLst>
          </p:cNvPr>
          <p:cNvSpPr txBox="1"/>
          <p:nvPr/>
        </p:nvSpPr>
        <p:spPr>
          <a:xfrm>
            <a:off x="9499600" y="4572000"/>
            <a:ext cx="1854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173A6A"/>
                </a:solidFill>
              </a:rPr>
              <a:t>배포 </a:t>
            </a:r>
            <a:r>
              <a:rPr lang="en-US" altLang="ko-KR" sz="1400" b="1">
                <a:solidFill>
                  <a:srgbClr val="173A6A"/>
                </a:solidFill>
              </a:rPr>
              <a:t>· </a:t>
            </a:r>
            <a:r>
              <a:rPr lang="ko-KR" altLang="en-US" sz="1400" b="1">
                <a:solidFill>
                  <a:srgbClr val="173A6A"/>
                </a:solidFill>
              </a:rPr>
              <a:t>통합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A910708-1180-4A60-A9F7-567B1C5C4CCB}"/>
              </a:ext>
            </a:extLst>
          </p:cNvPr>
          <p:cNvSpPr txBox="1"/>
          <p:nvPr/>
        </p:nvSpPr>
        <p:spPr>
          <a:xfrm>
            <a:off x="9499600" y="5334000"/>
            <a:ext cx="18542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666666"/>
                </a:solidFill>
              </a:rPr>
              <a:t>오케스트레이션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ACEB7BC-353B-4281-9088-0338D016E8FA}"/>
              </a:ext>
            </a:extLst>
          </p:cNvPr>
          <p:cNvSpPr txBox="1"/>
          <p:nvPr/>
        </p:nvSpPr>
        <p:spPr>
          <a:xfrm>
            <a:off x="635000" y="63500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>
                <a:solidFill>
                  <a:srgbClr val="7F91AD"/>
                </a:solidFill>
              </a:rPr>
              <a:t>Feasibility │ </a:t>
            </a:r>
            <a:r>
              <a:rPr lang="ko-KR" altLang="en-US" sz="1100">
                <a:solidFill>
                  <a:srgbClr val="7F91AD"/>
                </a:solidFill>
              </a:rPr>
              <a:t>일정</a:t>
            </a:r>
            <a:r>
              <a:rPr lang="en-US" altLang="ko-KR" sz="1100">
                <a:solidFill>
                  <a:srgbClr val="7F91AD"/>
                </a:solidFill>
              </a:rPr>
              <a:t>·</a:t>
            </a:r>
            <a:r>
              <a:rPr lang="ko-KR" altLang="en-US" sz="1100">
                <a:solidFill>
                  <a:srgbClr val="7F91AD"/>
                </a:solidFill>
              </a:rPr>
              <a:t>마일스톤</a:t>
            </a:r>
            <a:r>
              <a:rPr lang="en-US" altLang="ko-KR" sz="1100">
                <a:solidFill>
                  <a:srgbClr val="7F91AD"/>
                </a:solidFill>
              </a:rPr>
              <a:t>·</a:t>
            </a:r>
            <a:r>
              <a:rPr lang="ko-KR" altLang="en-US" sz="1100">
                <a:solidFill>
                  <a:srgbClr val="7F91AD"/>
                </a:solidFill>
              </a:rPr>
              <a:t>역할 분담</a:t>
            </a:r>
          </a:p>
        </p:txBody>
      </p:sp>
    </p:spTree>
    <p:extLst>
      <p:ext uri="{BB962C8B-B14F-4D97-AF65-F5344CB8AC3E}">
        <p14:creationId xmlns:p14="http://schemas.microsoft.com/office/powerpoint/2010/main" val="103318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9AB6AE-9A49-4848-A321-1813C0B2CFF5}"/>
              </a:ext>
            </a:extLst>
          </p:cNvPr>
          <p:cNvSpPr txBox="1"/>
          <p:nvPr/>
        </p:nvSpPr>
        <p:spPr>
          <a:xfrm>
            <a:off x="635000" y="571500"/>
            <a:ext cx="889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800" b="1">
                <a:solidFill>
                  <a:srgbClr val="173A6A"/>
                </a:solidFill>
              </a:rPr>
              <a:t>기대효과와 리스크 대응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CF4E73-AD7F-44C4-9CC2-2181D334BA5D}"/>
              </a:ext>
            </a:extLst>
          </p:cNvPr>
          <p:cNvSpPr txBox="1"/>
          <p:nvPr/>
        </p:nvSpPr>
        <p:spPr>
          <a:xfrm>
            <a:off x="9779000" y="635000"/>
            <a:ext cx="203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1F43A3"/>
                </a:solidFill>
              </a:rPr>
              <a:t>11 / IMPACT &amp; RISK</a:t>
            </a:r>
            <a:endParaRPr lang="ko-KR" altLang="en-US" sz="1000" b="1">
              <a:solidFill>
                <a:srgbClr val="1F43A3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1ACE7AA-E2D4-4C3C-B4C4-F055A212E635}"/>
              </a:ext>
            </a:extLst>
          </p:cNvPr>
          <p:cNvSpPr/>
          <p:nvPr/>
        </p:nvSpPr>
        <p:spPr>
          <a:xfrm>
            <a:off x="635000" y="1397000"/>
            <a:ext cx="10922000" cy="25400"/>
          </a:xfrm>
          <a:prstGeom prst="rect">
            <a:avLst/>
          </a:prstGeom>
          <a:solidFill>
            <a:srgbClr val="C7D3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E85252-67C1-4861-B9CF-0C9E2DACC235}"/>
              </a:ext>
            </a:extLst>
          </p:cNvPr>
          <p:cNvSpPr txBox="1"/>
          <p:nvPr/>
        </p:nvSpPr>
        <p:spPr>
          <a:xfrm>
            <a:off x="762000" y="1651000"/>
            <a:ext cx="381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173A6A"/>
                </a:solidFill>
              </a:rPr>
              <a:t>기대효과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86D6C49-BA6D-4EB6-A86F-F958AFF6A9A0}"/>
              </a:ext>
            </a:extLst>
          </p:cNvPr>
          <p:cNvSpPr/>
          <p:nvPr/>
        </p:nvSpPr>
        <p:spPr>
          <a:xfrm>
            <a:off x="762000" y="2095500"/>
            <a:ext cx="3429000" cy="1841500"/>
          </a:xfrm>
          <a:prstGeom prst="roundRect">
            <a:avLst/>
          </a:prstGeom>
          <a:solidFill>
            <a:srgbClr val="1F43A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27D657-ED25-4C14-AEED-EC0D6EE35D45}"/>
              </a:ext>
            </a:extLst>
          </p:cNvPr>
          <p:cNvSpPr txBox="1"/>
          <p:nvPr/>
        </p:nvSpPr>
        <p:spPr>
          <a:xfrm>
            <a:off x="965200" y="2260600"/>
            <a:ext cx="3022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200" b="1">
                <a:solidFill>
                  <a:srgbClr val="FFFFFF"/>
                </a:solidFill>
              </a:rPr>
              <a:t>탐색 시간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6CED23-5D09-4494-A0E9-06378087071D}"/>
              </a:ext>
            </a:extLst>
          </p:cNvPr>
          <p:cNvSpPr txBox="1"/>
          <p:nvPr/>
        </p:nvSpPr>
        <p:spPr>
          <a:xfrm>
            <a:off x="965200" y="2730500"/>
            <a:ext cx="3022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17DDD4"/>
                </a:solidFill>
              </a:rPr>
              <a:t>단축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7FF970-99B6-4B00-A8BB-D3D1AE711F5C}"/>
              </a:ext>
            </a:extLst>
          </p:cNvPr>
          <p:cNvSpPr txBox="1"/>
          <p:nvPr/>
        </p:nvSpPr>
        <p:spPr>
          <a:xfrm>
            <a:off x="965200" y="3048000"/>
            <a:ext cx="30226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C7D3E8"/>
                </a:solidFill>
              </a:rPr>
              <a:t>흩어진 정책</a:t>
            </a:r>
            <a:r>
              <a:rPr lang="en-US" altLang="ko-KR" sz="1200">
                <a:solidFill>
                  <a:srgbClr val="C7D3E8"/>
                </a:solidFill>
              </a:rPr>
              <a:t>·</a:t>
            </a:r>
            <a:r>
              <a:rPr lang="ko-KR" altLang="en-US" sz="1200">
                <a:solidFill>
                  <a:srgbClr val="C7D3E8"/>
                </a:solidFill>
              </a:rPr>
              <a:t>공고 검색을
하나의 흐름으로 압축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C620CFF-8153-4826-AAE5-3F0ADE45BB5D}"/>
              </a:ext>
            </a:extLst>
          </p:cNvPr>
          <p:cNvSpPr/>
          <p:nvPr/>
        </p:nvSpPr>
        <p:spPr>
          <a:xfrm>
            <a:off x="4381500" y="2095500"/>
            <a:ext cx="3429000" cy="1841500"/>
          </a:xfrm>
          <a:prstGeom prst="roundRect">
            <a:avLst/>
          </a:prstGeom>
          <a:solidFill>
            <a:srgbClr val="1F43A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DF8DC6-C730-446A-AB23-AFA041FB3BFC}"/>
              </a:ext>
            </a:extLst>
          </p:cNvPr>
          <p:cNvSpPr txBox="1"/>
          <p:nvPr/>
        </p:nvSpPr>
        <p:spPr>
          <a:xfrm>
            <a:off x="4584700" y="2260600"/>
            <a:ext cx="3022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200" b="1">
                <a:solidFill>
                  <a:srgbClr val="FFFFFF"/>
                </a:solidFill>
              </a:rPr>
              <a:t>수혜 정책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08CC4D-5C69-4710-BE90-437C137CE6CF}"/>
              </a:ext>
            </a:extLst>
          </p:cNvPr>
          <p:cNvSpPr txBox="1"/>
          <p:nvPr/>
        </p:nvSpPr>
        <p:spPr>
          <a:xfrm>
            <a:off x="4584700" y="2730500"/>
            <a:ext cx="3022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17DDD4"/>
                </a:solidFill>
              </a:rPr>
              <a:t>확대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5A4B74-1790-44E5-AE2C-8EFE82E81472}"/>
              </a:ext>
            </a:extLst>
          </p:cNvPr>
          <p:cNvSpPr txBox="1"/>
          <p:nvPr/>
        </p:nvSpPr>
        <p:spPr>
          <a:xfrm>
            <a:off x="4584700" y="3048000"/>
            <a:ext cx="30226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C7D3E8"/>
                </a:solidFill>
              </a:rPr>
              <a:t>자격 매칭으로
놓치던 정책 발견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33C66C0-1F57-4553-A923-782836D0C436}"/>
              </a:ext>
            </a:extLst>
          </p:cNvPr>
          <p:cNvSpPr/>
          <p:nvPr/>
        </p:nvSpPr>
        <p:spPr>
          <a:xfrm>
            <a:off x="8001000" y="2095500"/>
            <a:ext cx="3429000" cy="1841500"/>
          </a:xfrm>
          <a:prstGeom prst="roundRect">
            <a:avLst/>
          </a:prstGeom>
          <a:solidFill>
            <a:srgbClr val="1F43A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A3D71F-C949-4EB2-9EA7-A98E75513F17}"/>
              </a:ext>
            </a:extLst>
          </p:cNvPr>
          <p:cNvSpPr txBox="1"/>
          <p:nvPr/>
        </p:nvSpPr>
        <p:spPr>
          <a:xfrm>
            <a:off x="8204200" y="2260600"/>
            <a:ext cx="3022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200" b="1">
                <a:solidFill>
                  <a:srgbClr val="FFFFFF"/>
                </a:solidFill>
              </a:rPr>
              <a:t>준비 효율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3504B8-29B0-45DA-AAD7-1EFBE5642E92}"/>
              </a:ext>
            </a:extLst>
          </p:cNvPr>
          <p:cNvSpPr txBox="1"/>
          <p:nvPr/>
        </p:nvSpPr>
        <p:spPr>
          <a:xfrm>
            <a:off x="8204200" y="2730500"/>
            <a:ext cx="3022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17DDD4"/>
                </a:solidFill>
              </a:rPr>
              <a:t>향상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A6E582-C631-4283-B7B0-977BC20C7A2B}"/>
              </a:ext>
            </a:extLst>
          </p:cNvPr>
          <p:cNvSpPr txBox="1"/>
          <p:nvPr/>
        </p:nvSpPr>
        <p:spPr>
          <a:xfrm>
            <a:off x="8204200" y="3048000"/>
            <a:ext cx="30226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C7D3E8"/>
                </a:solidFill>
              </a:rPr>
              <a:t>자소서</a:t>
            </a:r>
            <a:r>
              <a:rPr lang="en-US" altLang="ko-KR" sz="1200">
                <a:solidFill>
                  <a:srgbClr val="C7D3E8"/>
                </a:solidFill>
              </a:rPr>
              <a:t>·</a:t>
            </a:r>
            <a:r>
              <a:rPr lang="ko-KR" altLang="en-US" sz="1200">
                <a:solidFill>
                  <a:srgbClr val="C7D3E8"/>
                </a:solidFill>
              </a:rPr>
              <a:t>일정 자동화로
준비 부담 감소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7AA46E-E9C1-4C38-B543-86021E0B4D19}"/>
              </a:ext>
            </a:extLst>
          </p:cNvPr>
          <p:cNvSpPr txBox="1"/>
          <p:nvPr/>
        </p:nvSpPr>
        <p:spPr>
          <a:xfrm>
            <a:off x="762000" y="4127500"/>
            <a:ext cx="381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173A6A"/>
                </a:solidFill>
              </a:rPr>
              <a:t>리스크 대응</a:t>
            </a: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91A7F35B-9ECE-498B-BB23-8703ED551D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7176364"/>
              </p:ext>
            </p:extLst>
          </p:nvPr>
        </p:nvGraphicFramePr>
        <p:xfrm>
          <a:off x="762000" y="4572000"/>
          <a:ext cx="10668000" cy="162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794581412"/>
                    </a:ext>
                  </a:extLst>
                </a:gridCol>
                <a:gridCol w="7112000">
                  <a:extLst>
                    <a:ext uri="{9D8B030D-6E8A-4147-A177-3AD203B41FA5}">
                      <a16:colId xmlns:a16="http://schemas.microsoft.com/office/drawing/2014/main" val="4235051585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300" b="1">
                          <a:solidFill>
                            <a:srgbClr val="FFFFFF"/>
                          </a:solidFill>
                        </a:rPr>
                        <a:t>리스크</a:t>
                      </a:r>
                    </a:p>
                  </a:txBody>
                  <a:tcPr anchor="ctr">
                    <a:solidFill>
                      <a:srgbClr val="1F43A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300" b="1">
                          <a:solidFill>
                            <a:srgbClr val="FFFFFF"/>
                          </a:solidFill>
                        </a:rPr>
                        <a:t>대응 전략</a:t>
                      </a:r>
                    </a:p>
                  </a:txBody>
                  <a:tcPr anchor="ctr">
                    <a:solidFill>
                      <a:srgbClr val="1F43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68985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300" b="1">
                          <a:solidFill>
                            <a:srgbClr val="173A6A"/>
                          </a:solidFill>
                        </a:rPr>
                        <a:t>크레딧·비용 한계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300" b="0">
                          <a:solidFill>
                            <a:srgbClr val="222222"/>
                          </a:solidFill>
                        </a:rPr>
                        <a:t>캐싱 / 무료 티어 / 경량 모델 우선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09234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300" b="1">
                          <a:solidFill>
                            <a:srgbClr val="173A6A"/>
                          </a:solidFill>
                        </a:rPr>
                        <a:t>외부 사이트 접근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300" b="0">
                          <a:solidFill>
                            <a:srgbClr val="222222"/>
                          </a:solidFill>
                        </a:rPr>
                        <a:t>공공 API · 라이선스 인지형 데이터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6408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300" b="1">
                          <a:solidFill>
                            <a:srgbClr val="173A6A"/>
                          </a:solidFill>
                        </a:rPr>
                        <a:t>긴 문서 · 디버깅 부담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300" b="0">
                          <a:solidFill>
                            <a:srgbClr val="222222"/>
                          </a:solidFill>
                        </a:rPr>
                        <a:t>청킹 · 검색 설계 · 점진적 테스트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825542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985603D1-7B76-4B7E-947E-8B98B1CA2C1F}"/>
              </a:ext>
            </a:extLst>
          </p:cNvPr>
          <p:cNvSpPr txBox="1"/>
          <p:nvPr/>
        </p:nvSpPr>
        <p:spPr>
          <a:xfrm>
            <a:off x="762000" y="64135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7F91AD"/>
                </a:solidFill>
              </a:rPr>
              <a:t>사회적 가치와 구현 리스크를 모두 계획에 반영했습니다</a:t>
            </a:r>
          </a:p>
        </p:txBody>
      </p:sp>
    </p:spTree>
    <p:extLst>
      <p:ext uri="{BB962C8B-B14F-4D97-AF65-F5344CB8AC3E}">
        <p14:creationId xmlns:p14="http://schemas.microsoft.com/office/powerpoint/2010/main" val="95270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D3C52B-3768-4D14-915E-760C0AA70647}"/>
              </a:ext>
            </a:extLst>
          </p:cNvPr>
          <p:cNvSpPr txBox="1"/>
          <p:nvPr/>
        </p:nvSpPr>
        <p:spPr>
          <a:xfrm>
            <a:off x="0" y="1651000"/>
            <a:ext cx="12192000" cy="279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8000" b="1">
                <a:solidFill>
                  <a:srgbClr val="EEF2F8"/>
                </a:solidFill>
              </a:rPr>
              <a:t>Q &amp; A</a:t>
            </a:r>
            <a:endParaRPr lang="ko-KR" altLang="en-US" sz="18000" b="1">
              <a:solidFill>
                <a:srgbClr val="EEF2F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215078-9268-48DE-9B34-C1757F8C3337}"/>
              </a:ext>
            </a:extLst>
          </p:cNvPr>
          <p:cNvSpPr txBox="1"/>
          <p:nvPr/>
        </p:nvSpPr>
        <p:spPr>
          <a:xfrm>
            <a:off x="635000" y="571500"/>
            <a:ext cx="3810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000" b="1">
                <a:solidFill>
                  <a:srgbClr val="173A6A"/>
                </a:solidFill>
              </a:rPr>
              <a:t>YouthPath</a:t>
            </a:r>
            <a:endParaRPr lang="ko-KR" altLang="en-US" sz="2000" b="1">
              <a:solidFill>
                <a:srgbClr val="173A6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4DA952-5865-4C82-BF29-14783097A87B}"/>
              </a:ext>
            </a:extLst>
          </p:cNvPr>
          <p:cNvSpPr txBox="1"/>
          <p:nvPr/>
        </p:nvSpPr>
        <p:spPr>
          <a:xfrm>
            <a:off x="10414000" y="635000"/>
            <a:ext cx="139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1F43A3"/>
                </a:solidFill>
              </a:rPr>
              <a:t>12 / END</a:t>
            </a:r>
            <a:endParaRPr lang="ko-KR" altLang="en-US" sz="1000" b="1">
              <a:solidFill>
                <a:srgbClr val="1F43A3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E16EC2C-28BC-4AB5-8232-B07AFEDA4B86}"/>
              </a:ext>
            </a:extLst>
          </p:cNvPr>
          <p:cNvSpPr/>
          <p:nvPr/>
        </p:nvSpPr>
        <p:spPr>
          <a:xfrm>
            <a:off x="1651000" y="4572000"/>
            <a:ext cx="8890000" cy="1651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1F43A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4F1F2A-09C6-4DDC-ACE9-28A163049932}"/>
              </a:ext>
            </a:extLst>
          </p:cNvPr>
          <p:cNvSpPr txBox="1"/>
          <p:nvPr/>
        </p:nvSpPr>
        <p:spPr>
          <a:xfrm>
            <a:off x="2032000" y="4762500"/>
            <a:ext cx="139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0E73F6"/>
                </a:solidFill>
              </a:rPr>
              <a:t>PROBLEM</a:t>
            </a:r>
            <a:endParaRPr lang="ko-KR" altLang="en-US" sz="1100" b="1">
              <a:solidFill>
                <a:srgbClr val="0E73F6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49183D-752A-4414-B430-1DC6B239ACE8}"/>
              </a:ext>
            </a:extLst>
          </p:cNvPr>
          <p:cNvSpPr txBox="1"/>
          <p:nvPr/>
        </p:nvSpPr>
        <p:spPr>
          <a:xfrm>
            <a:off x="3556000" y="4762500"/>
            <a:ext cx="673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173A6A"/>
                </a:solidFill>
              </a:rPr>
              <a:t>흩어진 청년 사회진입 정보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E9395B-53BE-4E0C-91DD-40683FA88D06}"/>
              </a:ext>
            </a:extLst>
          </p:cNvPr>
          <p:cNvSpPr txBox="1"/>
          <p:nvPr/>
        </p:nvSpPr>
        <p:spPr>
          <a:xfrm>
            <a:off x="2032000" y="5219700"/>
            <a:ext cx="139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0E73F6"/>
                </a:solidFill>
              </a:rPr>
              <a:t>SOLUTION</a:t>
            </a:r>
            <a:endParaRPr lang="ko-KR" altLang="en-US" sz="1100" b="1">
              <a:solidFill>
                <a:srgbClr val="0E73F6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29BD14-9653-4863-A06C-E30225005F85}"/>
              </a:ext>
            </a:extLst>
          </p:cNvPr>
          <p:cNvSpPr txBox="1"/>
          <p:nvPr/>
        </p:nvSpPr>
        <p:spPr>
          <a:xfrm>
            <a:off x="3556000" y="5219700"/>
            <a:ext cx="673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173A6A"/>
                </a:solidFill>
              </a:rPr>
              <a:t>정책</a:t>
            </a:r>
            <a:r>
              <a:rPr lang="en-US" altLang="ko-KR" sz="1400">
                <a:solidFill>
                  <a:srgbClr val="173A6A"/>
                </a:solidFill>
              </a:rPr>
              <a:t>·</a:t>
            </a:r>
            <a:r>
              <a:rPr lang="ko-KR" altLang="en-US" sz="1400">
                <a:solidFill>
                  <a:srgbClr val="173A6A"/>
                </a:solidFill>
              </a:rPr>
              <a:t>채용</a:t>
            </a:r>
            <a:r>
              <a:rPr lang="en-US" altLang="ko-KR" sz="1400">
                <a:solidFill>
                  <a:srgbClr val="173A6A"/>
                </a:solidFill>
              </a:rPr>
              <a:t>·</a:t>
            </a:r>
            <a:r>
              <a:rPr lang="ko-KR" altLang="en-US" sz="1400">
                <a:solidFill>
                  <a:srgbClr val="173A6A"/>
                </a:solidFill>
              </a:rPr>
              <a:t>자소서</a:t>
            </a:r>
            <a:r>
              <a:rPr lang="en-US" altLang="ko-KR" sz="1400">
                <a:solidFill>
                  <a:srgbClr val="173A6A"/>
                </a:solidFill>
              </a:rPr>
              <a:t>·</a:t>
            </a:r>
            <a:r>
              <a:rPr lang="ko-KR" altLang="en-US" sz="1400">
                <a:solidFill>
                  <a:srgbClr val="173A6A"/>
                </a:solidFill>
              </a:rPr>
              <a:t>일정을 연결하는 통합 </a:t>
            </a:r>
            <a:r>
              <a:rPr lang="en-US" altLang="ko-KR" sz="1400">
                <a:solidFill>
                  <a:srgbClr val="173A6A"/>
                </a:solidFill>
              </a:rPr>
              <a:t>AI </a:t>
            </a:r>
            <a:r>
              <a:rPr lang="ko-KR" altLang="en-US" sz="1400">
                <a:solidFill>
                  <a:srgbClr val="173A6A"/>
                </a:solidFill>
              </a:rPr>
              <a:t>어시스턴트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DEFA20-8274-4FB2-9DEF-D4089D9E8039}"/>
              </a:ext>
            </a:extLst>
          </p:cNvPr>
          <p:cNvSpPr txBox="1"/>
          <p:nvPr/>
        </p:nvSpPr>
        <p:spPr>
          <a:xfrm>
            <a:off x="2032000" y="5676900"/>
            <a:ext cx="139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0E73F6"/>
                </a:solidFill>
              </a:rPr>
              <a:t>NEXT STEP</a:t>
            </a:r>
            <a:endParaRPr lang="ko-KR" altLang="en-US" sz="1100" b="1">
              <a:solidFill>
                <a:srgbClr val="0E73F6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F60F53-63C5-429B-9E6A-CD21624A42A0}"/>
              </a:ext>
            </a:extLst>
          </p:cNvPr>
          <p:cNvSpPr txBox="1"/>
          <p:nvPr/>
        </p:nvSpPr>
        <p:spPr>
          <a:xfrm>
            <a:off x="3556000" y="5676900"/>
            <a:ext cx="673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173A6A"/>
                </a:solidFill>
              </a:rPr>
              <a:t>프로토타입 구현과 평가 데이터셋 준비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674145-8C26-4125-BCEB-66B3505E5915}"/>
              </a:ext>
            </a:extLst>
          </p:cNvPr>
          <p:cNvSpPr txBox="1"/>
          <p:nvPr/>
        </p:nvSpPr>
        <p:spPr>
          <a:xfrm>
            <a:off x="635000" y="6477000"/>
            <a:ext cx="1092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>
                <a:solidFill>
                  <a:srgbClr val="7F91AD"/>
                </a:solidFill>
              </a:rPr>
              <a:t>Team YouthPath  ·  Deep Learning and Applications</a:t>
            </a:r>
            <a:endParaRPr lang="ko-KR" altLang="en-US" sz="1100">
              <a:solidFill>
                <a:srgbClr val="7F91A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6123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 [1777886731675]">
  <a:themeElements>
    <a:clrScheme name="Office">
      <a:dk1>
        <a:srgbClr val="173A6A"/>
      </a:dk1>
      <a:lt1>
        <a:srgbClr val="FFFFFF"/>
      </a:lt1>
      <a:dk2>
        <a:srgbClr val="1F43A3"/>
      </a:dk2>
      <a:lt2>
        <a:srgbClr val="F4F7FC"/>
      </a:lt2>
      <a:accent1>
        <a:srgbClr val="1F43A3"/>
      </a:accent1>
      <a:accent2>
        <a:srgbClr val="0E73F6"/>
      </a:accent2>
      <a:accent3>
        <a:srgbClr val="17DDD4"/>
      </a:accent3>
      <a:accent4>
        <a:srgbClr val="29C7E8"/>
      </a:accent4>
      <a:accent5>
        <a:srgbClr val="7F91AD"/>
      </a:accent5>
      <a:accent6>
        <a:srgbClr val="C7D3E8"/>
      </a:accent6>
      <a:hlink>
        <a:srgbClr val="467886"/>
      </a:hlink>
      <a:folHlink>
        <a:srgbClr val="96607D"/>
      </a:folHlink>
    </a:clrScheme>
    <a:fontScheme name="Office">
      <a:majorFont>
        <a:latin typeface="Pretendard" panose="02110004020202020204"/>
        <a:ea typeface="Pretendard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110004020202020204"/>
        <a:ea typeface="Pretendard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3E8AC46-16A1-4230-AF43-C9B7D020752F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fc5e1c7c-84cb-4473-8217-2fa16570ae5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916</Words>
  <Application>Microsoft Office PowerPoint</Application>
  <PresentationFormat>와이드스크린</PresentationFormat>
  <Paragraphs>219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Pretendard</vt:lpstr>
      <vt:lpstr>Arial</vt:lpstr>
      <vt:lpstr>Office 테마 [1777886731675]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성래 홍</dc:creator>
  <cp:lastModifiedBy>성래 홍</cp:lastModifiedBy>
  <cp:revision>2</cp:revision>
  <dcterms:created xsi:type="dcterms:W3CDTF">2026-05-04T09:25:31Z</dcterms:created>
  <dcterms:modified xsi:type="dcterms:W3CDTF">2026-05-04T09:36:51Z</dcterms:modified>
</cp:coreProperties>
</file>