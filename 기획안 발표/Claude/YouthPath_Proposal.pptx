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8686800" y="2743200"/>
            <a:ext cx="5029200" cy="5486400"/>
          </a:xfrm>
          <a:prstGeom prst="rtTriangle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7772400" y="-914400"/>
            <a:ext cx="6400800" cy="5943600"/>
          </a:xfrm>
          <a:prstGeom prst="rtTriangle">
            <a:avLst/>
          </a:prstGeom>
          <a:solidFill>
            <a:srgbClr val="DB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 rot="16200000">
            <a:off x="-640080" y="2743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400">
                <a:solidFill>
                  <a:srgbClr val="1C2C5A"/>
                </a:solidFill>
                <a:latin typeface="Pretendard"/>
              </a:rPr>
              <a:t>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411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1C2C5A"/>
                </a:solidFill>
                <a:latin typeface="Pretendard"/>
              </a:rPr>
              <a:t>2026.05.05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0">
                <a:solidFill>
                  <a:srgbClr val="1C2C5A"/>
                </a:solidFill>
                <a:latin typeface="Pretendard"/>
              </a:rPr>
              <a:t>A Multi-Agent Assistant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1C2C5A"/>
                </a:solidFill>
                <a:latin typeface="Pretendard"/>
              </a:rPr>
              <a:t>Youth Social Entry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7C8AAE"/>
                </a:solidFill>
                <a:latin typeface="Pretendard"/>
              </a:rPr>
              <a:t>YOUTHPATH — INITIAL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562356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50" b="0" i="0">
                <a:solidFill>
                  <a:srgbClr val="1C2C5A"/>
                </a:solidFill>
                <a:latin typeface="Pretendard"/>
              </a:rPr>
              <a:t>Hanyang University · Deep Learning Methods and Application</a:t>
            </a:r>
          </a:p>
          <a:p>
            <a:pPr algn="r">
              <a:lnSpc>
                <a:spcPct val="140000"/>
              </a:lnSpc>
            </a:pPr>
            <a:r>
              <a:rPr sz="950" b="0" i="0">
                <a:solidFill>
                  <a:srgbClr val="1C2C5A"/>
                </a:solidFill>
                <a:latin typeface="Pretendard"/>
              </a:rPr>
              <a:t>Five-Person Team</a:t>
            </a:r>
          </a:p>
          <a:p>
            <a:pPr algn="r">
              <a:lnSpc>
                <a:spcPct val="140000"/>
              </a:lnSpc>
            </a:pPr>
            <a:r>
              <a:rPr sz="950" b="0" i="0">
                <a:solidFill>
                  <a:srgbClr val="1C2C5A"/>
                </a:solidFill>
                <a:latin typeface="Pretendard"/>
              </a:rPr>
              <a:t>LLM · RAG · Multi-Agent · MCP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75720" y="6355080"/>
            <a:ext cx="91440" cy="9144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4023360" cy="6784848"/>
          </a:xfrm>
          <a:prstGeom prst="rect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1C2C5A"/>
                </a:solidFill>
                <a:latin typeface="Pretendard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C2C5A"/>
                </a:solidFill>
                <a:latin typeface="Pretendard"/>
              </a:rPr>
              <a:t>YOUTHPATH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502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 spc="200">
                <a:solidFill>
                  <a:srgbClr val="1C2C5A"/>
                </a:solidFill>
                <a:latin typeface="Pretendard"/>
              </a:rPr>
              <a:t>CONTENTS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371600"/>
            <a:ext cx="384048" cy="38404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353312"/>
            <a:ext cx="6675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C5A"/>
                </a:solidFill>
                <a:latin typeface="Pretendard"/>
              </a:rPr>
              <a:t>Problem 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645920"/>
            <a:ext cx="6675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8AAE"/>
                </a:solidFill>
                <a:latin typeface="Pretendard"/>
              </a:rPr>
              <a:t>A fragmented path into society.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084832"/>
            <a:ext cx="384048" cy="38404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08483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066544"/>
            <a:ext cx="6675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C5A"/>
                </a:solidFill>
                <a:latin typeface="Pretendard"/>
              </a:rPr>
              <a:t>Solution and Differentiation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359152"/>
            <a:ext cx="6675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8AAE"/>
                </a:solidFill>
                <a:latin typeface="Pretendard"/>
              </a:rPr>
              <a:t>YouthPath and what makes it different.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798064"/>
            <a:ext cx="384048" cy="38404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79806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779776"/>
            <a:ext cx="6675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C5A"/>
                </a:solidFill>
                <a:latin typeface="Pretendard"/>
              </a:rPr>
              <a:t>System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072384"/>
            <a:ext cx="6675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8AAE"/>
                </a:solidFill>
                <a:latin typeface="Pretendard"/>
              </a:rPr>
              <a:t>A four-layer architecture with a multi-agent core.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511296"/>
            <a:ext cx="384048" cy="38404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351129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493008"/>
            <a:ext cx="6675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C5A"/>
                </a:solidFill>
                <a:latin typeface="Pretendard"/>
              </a:rPr>
              <a:t>Evaluation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785616"/>
            <a:ext cx="6675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8AAE"/>
                </a:solidFill>
                <a:latin typeface="Pretendard"/>
              </a:rPr>
              <a:t>Quantitative and qualitative dual-track evaluation.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4224528"/>
            <a:ext cx="384048" cy="38404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422452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4206240"/>
            <a:ext cx="6675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C5A"/>
                </a:solidFill>
                <a:latin typeface="Pretendard"/>
              </a:rPr>
              <a:t>Execution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4498848"/>
            <a:ext cx="6675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8AAE"/>
                </a:solidFill>
                <a:latin typeface="Pretendard"/>
              </a:rPr>
              <a:t>Team, schedule, and cost.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4937760"/>
            <a:ext cx="384048" cy="38404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49377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4919472"/>
            <a:ext cx="6675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C5A"/>
                </a:solidFill>
                <a:latin typeface="Pretendard"/>
              </a:rPr>
              <a:t>Expected Outcomes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5212080"/>
            <a:ext cx="6675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8AAE"/>
                </a:solidFill>
                <a:latin typeface="Pretendard"/>
              </a:rPr>
              <a:t>User impact and a five-phase roadmap.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1C2C5A"/>
                </a:solidFill>
                <a:latin typeface="Pretendard"/>
              </a:rPr>
              <a:t>02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137392" y="6519672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C2C5A"/>
                </a:solidFill>
                <a:latin typeface="Pretendard"/>
              </a:rPr>
              <a:t>Problem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02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 spc="200">
                <a:solidFill>
                  <a:srgbClr val="1C2C5A"/>
                </a:solidFill>
                <a:latin typeface="Pretendard"/>
              </a:rPr>
              <a:t>PROBLEM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8686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Youth career-entry information is fragmented,</a:t>
            </a:r>
          </a:p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and qualification matching, real-time data, and alerts are missing.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4572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1" i="0">
                <a:solidFill>
                  <a:srgbClr val="1C2C5A"/>
                </a:solidFill>
                <a:latin typeface="Pretendard"/>
              </a:rPr>
              <a:t>~12M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49039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7C8AAE"/>
                </a:solidFill>
                <a:latin typeface="Pretendard"/>
              </a:rPr>
              <a:t>KOREAN YOUTH AGED 19–34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605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C2C5A"/>
                </a:solidFill>
                <a:latin typeface="Pretendard"/>
              </a:rPr>
              <a:t>Average information-search cost: 2 hours.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828800"/>
            <a:ext cx="27889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02996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C2C5A"/>
                </a:solidFill>
                <a:latin typeface="Pretendard"/>
              </a:rPr>
              <a:t>Youth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468880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C8AAE"/>
                </a:solidFill>
                <a:latin typeface="Pretendard"/>
              </a:rPr>
              <a:t>Government24, Ontongchungnyeon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88036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C2C5A"/>
                </a:solidFill>
                <a:latin typeface="Pretendard"/>
              </a:rPr>
              <a:t>List-only search; no eligibility match.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60" y="1828800"/>
            <a:ext cx="27889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02996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C2C5A"/>
                </a:solidFill>
                <a:latin typeface="Pretendard"/>
              </a:rPr>
              <a:t>Job Postings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468880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C8AAE"/>
                </a:solidFill>
                <a:latin typeface="Pretendard"/>
              </a:rPr>
              <a:t>WorkNet, JobKorea, Saramin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88036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C2C5A"/>
                </a:solidFill>
                <a:latin typeface="Pretendard"/>
              </a:rPr>
              <a:t>Per-employer fragmentation; no resume linkage.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4023360"/>
            <a:ext cx="27889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422452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C2C5A"/>
                </a:solidFill>
                <a:latin typeface="Pretendard"/>
              </a:rPr>
              <a:t>Resume &amp; Interview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4663440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C8AAE"/>
                </a:solidFill>
                <a:latin typeface="Pretendard"/>
              </a:rPr>
              <a:t>Standalone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507492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C2C5A"/>
                </a:solidFill>
                <a:latin typeface="Pretendard"/>
              </a:rPr>
              <a:t>No company-specific reference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3960" y="4023360"/>
            <a:ext cx="27889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422452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C2C5A"/>
                </a:solidFill>
                <a:latin typeface="Pretendard"/>
              </a:rPr>
              <a:t>Schedule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4663440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C8AAE"/>
                </a:solidFill>
                <a:latin typeface="Pretendard"/>
              </a:rPr>
              <a:t>Personal calendar apps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507492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C2C5A"/>
                </a:solidFill>
                <a:latin typeface="Pretendard"/>
              </a:rPr>
              <a:t>No automatic deadline sync.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1C2C5A"/>
                </a:solidFill>
                <a:latin typeface="Pretendard"/>
              </a:rPr>
              <a:t>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137392" y="6519672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C2C5A"/>
                </a:solidFill>
                <a:latin typeface="Pretendard"/>
              </a:rPr>
              <a:t>Pain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02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 spc="200">
                <a:solidFill>
                  <a:srgbClr val="1C2C5A"/>
                </a:solidFill>
                <a:latin typeface="Pretendard"/>
              </a:rPr>
              <a:t>PAIN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8686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Four structural problems compound on each other,</a:t>
            </a:r>
          </a:p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so no single existing tool can resolve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51663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502920" cy="50292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21408"/>
            <a:ext cx="4526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C5A"/>
                </a:solidFill>
                <a:latin typeface="Pretendard"/>
              </a:rPr>
              <a:t>Information Fragmentation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97480"/>
            <a:ext cx="4526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2C5A"/>
                </a:solidFill>
                <a:latin typeface="Pretendard"/>
              </a:rPr>
              <a:t>Information lives across 5–6 separate platforms.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56432"/>
            <a:ext cx="4526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7C8AAE"/>
                </a:solidFill>
                <a:latin typeface="Pretendard"/>
              </a:rPr>
              <a:t>~2 HOURS PER TASK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1663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691640"/>
            <a:ext cx="502920" cy="50292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6916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121408"/>
            <a:ext cx="4526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C5A"/>
                </a:solidFill>
                <a:latin typeface="Pretendard"/>
              </a:rPr>
              <a:t>No Qualification Matching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697480"/>
            <a:ext cx="4526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2C5A"/>
                </a:solidFill>
                <a:latin typeface="Pretendard"/>
              </a:rPr>
              <a:t>Policy sites list policies but never decide whether you qualify.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456432"/>
            <a:ext cx="4526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7C8AAE"/>
                </a:solidFill>
                <a:latin typeface="Pretendard"/>
              </a:rPr>
              <a:t>MANUAL ELIGIBILITY CHECK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160520"/>
            <a:ext cx="51663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023360"/>
            <a:ext cx="502920" cy="50292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0233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453128"/>
            <a:ext cx="4526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C5A"/>
                </a:solidFill>
                <a:latin typeface="Pretendard"/>
              </a:rPr>
              <a:t>LLM Knowledge Cutoff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029200"/>
            <a:ext cx="4526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2C5A"/>
                </a:solidFill>
                <a:latin typeface="Pretendard"/>
              </a:rPr>
              <a:t>General-purpose LLMs cannot see new policies, filings, or postings.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788152"/>
            <a:ext cx="4526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7C8AAE"/>
                </a:solidFill>
                <a:latin typeface="Pretendard"/>
              </a:rPr>
              <a:t>STALE ANSWERS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160520"/>
            <a:ext cx="51663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4023360"/>
            <a:ext cx="502920" cy="50292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40233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453128"/>
            <a:ext cx="4526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C2C5A"/>
                </a:solidFill>
                <a:latin typeface="Pretendard"/>
              </a:rPr>
              <a:t>Missed Application Deadlines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029200"/>
            <a:ext cx="4526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2C5A"/>
                </a:solidFill>
                <a:latin typeface="Pretendard"/>
              </a:rPr>
              <a:t>Deadlines are scattered; users miss eligible policies.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788152"/>
            <a:ext cx="4526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7C8AAE"/>
                </a:solidFill>
                <a:latin typeface="Pretendard"/>
              </a:rPr>
              <a:t>NO UNIFIED ALERTS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1C2C5A"/>
                </a:solidFill>
                <a:latin typeface="Pretendard"/>
              </a:rPr>
              <a:t>04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37392" y="6519672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C2C5A"/>
                </a:solidFill>
                <a:latin typeface="Pretendard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02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 spc="200">
                <a:solidFill>
                  <a:srgbClr val="1C2C5A"/>
                </a:solidFill>
                <a:latin typeface="Pretendard"/>
              </a:rPr>
              <a:t>SOLUTION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8686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One profile entry, four domains.</a:t>
            </a:r>
          </a:p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A single interface replaces five to six platform visits.</a:t>
            </a:r>
          </a:p>
        </p:txBody>
      </p:sp>
      <p:sp>
        <p:nvSpPr>
          <p:cNvPr id="7" name="Oval 6"/>
          <p:cNvSpPr/>
          <p:nvPr/>
        </p:nvSpPr>
        <p:spPr>
          <a:xfrm>
            <a:off x="4861864" y="2788920"/>
            <a:ext cx="2468880" cy="2468880"/>
          </a:xfrm>
          <a:prstGeom prst="ellipse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99024" y="2926080"/>
            <a:ext cx="2194560" cy="2194560"/>
          </a:xfrm>
          <a:prstGeom prst="ellipse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99024" y="38587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 spc="300">
                <a:solidFill>
                  <a:srgbClr val="FFFFFF"/>
                </a:solidFill>
                <a:latin typeface="Pretendard"/>
              </a:rPr>
              <a:t>YOUTHPATH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3810304.0" y="2468880.0"/>
            <a:ext cx="1234440.0" cy="502920.0"/>
          </a:xfrm>
          <a:prstGeom prst="line">
            <a:avLst/>
          </a:prstGeom>
          <a:ln w="12700">
            <a:solidFill>
              <a:srgbClr val="1C2C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575864" y="1828800"/>
            <a:ext cx="24688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13024" y="1965960"/>
            <a:ext cx="329184" cy="329184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3024" y="19659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8784" y="19933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C2C5A"/>
                </a:solidFill>
                <a:latin typeface="Pretendard"/>
              </a:rPr>
              <a:t>Policy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3024" y="24231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2C5A"/>
                </a:solidFill>
                <a:latin typeface="Pretendard"/>
              </a:rPr>
              <a:t>Eligibility match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2C5A"/>
                </a:solidFill>
                <a:latin typeface="Pretendard"/>
              </a:rPr>
              <a:t>and application guide.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147864" y="2468880.0"/>
            <a:ext cx="1234440.0" cy="502920.0"/>
          </a:xfrm>
          <a:prstGeom prst="line">
            <a:avLst/>
          </a:prstGeom>
          <a:ln w="12700">
            <a:solidFill>
              <a:srgbClr val="1C2C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147864" y="1828800"/>
            <a:ext cx="24688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85024" y="1965960"/>
            <a:ext cx="329184" cy="329184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5024" y="19659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784" y="19933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C2C5A"/>
                </a:solidFill>
                <a:latin typeface="Pretendard"/>
              </a:rPr>
              <a:t>Job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5024" y="24231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2C5A"/>
                </a:solidFill>
                <a:latin typeface="Pretendard"/>
              </a:rPr>
              <a:t>GitHub-aware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2C5A"/>
                </a:solidFill>
                <a:latin typeface="Pretendard"/>
              </a:rPr>
              <a:t>posting matching.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810304.0" y="5074920"/>
            <a:ext cx="1234440.0" cy="502920.0"/>
          </a:xfrm>
          <a:prstGeom prst="line">
            <a:avLst/>
          </a:prstGeom>
          <a:ln w="12700">
            <a:solidFill>
              <a:srgbClr val="1C2C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575864" y="4937760"/>
            <a:ext cx="24688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3024" y="5074920"/>
            <a:ext cx="329184" cy="329184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3024" y="50749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8784" y="51023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C2C5A"/>
                </a:solidFill>
                <a:latin typeface="Pretendard"/>
              </a:rPr>
              <a:t>Resume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3024" y="55321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2C5A"/>
                </a:solidFill>
                <a:latin typeface="Pretendard"/>
              </a:rPr>
              <a:t>Company-specific coaching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2C5A"/>
                </a:solidFill>
                <a:latin typeface="Pretendard"/>
              </a:rPr>
              <a:t>from DART filings.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47864" y="5074920"/>
            <a:ext cx="1234440.0" cy="502920.0"/>
          </a:xfrm>
          <a:prstGeom prst="line">
            <a:avLst/>
          </a:prstGeom>
          <a:ln w="12700">
            <a:solidFill>
              <a:srgbClr val="1C2C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147864" y="4937760"/>
            <a:ext cx="24688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85024" y="5074920"/>
            <a:ext cx="329184" cy="329184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85024" y="50749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50784" y="51023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C2C5A"/>
                </a:solidFill>
                <a:latin typeface="Pretendard"/>
              </a:rPr>
              <a:t>Calendar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85024" y="55321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2C5A"/>
                </a:solidFill>
                <a:latin typeface="Pretendard"/>
              </a:rPr>
              <a:t>Unified deadline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2C5A"/>
                </a:solidFill>
                <a:latin typeface="Pretendard"/>
              </a:rPr>
              <a:t>alerts.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1C2C5A"/>
                </a:solidFill>
                <a:latin typeface="Pretendard"/>
              </a:rPr>
              <a:t>05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137392" y="6519672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C2C5A"/>
                </a:solidFill>
                <a:latin typeface="Pretendard"/>
              </a:rPr>
              <a:t>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02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 spc="200">
                <a:solidFill>
                  <a:srgbClr val="1C2C5A"/>
                </a:solidFill>
                <a:latin typeface="Pretendard"/>
              </a:rPr>
              <a:t>DIFFERENTIATION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8686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Existing tools cover only part of one domain.</a:t>
            </a:r>
          </a:p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YouthPath integrates all four through hybrid RAG, multi-agent, MCP, and matching.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7040880" cy="84124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7452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FFFFFF"/>
                </a:solidFill>
                <a:latin typeface="Pretendard"/>
              </a:rPr>
              <a:t>EXISTING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7712" y="1874520"/>
            <a:ext cx="23774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FFFFFF"/>
                </a:solidFill>
                <a:latin typeface="Pretendard"/>
              </a:rPr>
              <a:t>LIMITATION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8032" y="1874520"/>
            <a:ext cx="2743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FFFFFF"/>
                </a:solidFill>
                <a:latin typeface="Pretendard"/>
              </a:rPr>
              <a:t>YOUTHPATH DIFFERENTIATOR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34056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C2C5A"/>
                </a:solidFill>
                <a:latin typeface="Pretendard"/>
              </a:rPr>
              <a:t>Government24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7712" y="2734056"/>
            <a:ext cx="23774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C2C5A"/>
                </a:solidFill>
                <a:latin typeface="Pretendard"/>
              </a:rPr>
              <a:t>Keyword search; no eligibility decision.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2734056"/>
            <a:ext cx="2743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C2C5A"/>
                </a:solidFill>
                <a:latin typeface="Pretendard"/>
              </a:rPr>
              <a:t>Profile-based eligibility match.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21328"/>
            <a:ext cx="7040880" cy="6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575304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C2C5A"/>
                </a:solidFill>
                <a:latin typeface="Pretendard"/>
              </a:rPr>
              <a:t>JobKorea AI 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7712" y="3575304"/>
            <a:ext cx="23774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C2C5A"/>
                </a:solidFill>
                <a:latin typeface="Pretendard"/>
              </a:rPr>
              <a:t>Postings only; no resume linkage.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575304"/>
            <a:ext cx="2743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C2C5A"/>
                </a:solidFill>
                <a:latin typeface="Pretendard"/>
              </a:rPr>
              <a:t>Postings + resume + interview unified.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62576"/>
            <a:ext cx="7040880" cy="6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416552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C2C5A"/>
                </a:solidFill>
                <a:latin typeface="Pretendard"/>
              </a:rPr>
              <a:t>ChatGPT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7712" y="4416552"/>
            <a:ext cx="23774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C2C5A"/>
                </a:solidFill>
                <a:latin typeface="Pretendard"/>
              </a:rPr>
              <a:t>Knowledge cutoff; cannot see new filings.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2" y="4416552"/>
            <a:ext cx="2743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C2C5A"/>
                </a:solidFill>
                <a:latin typeface="Pretendard"/>
              </a:rPr>
              <a:t>RAG and MCP for live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303824"/>
            <a:ext cx="7040880" cy="6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257800"/>
            <a:ext cx="1371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C2C5A"/>
                </a:solidFill>
                <a:latin typeface="Pretendard"/>
              </a:rPr>
              <a:t>Personal Calendar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7712" y="5257800"/>
            <a:ext cx="23774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C2C5A"/>
                </a:solidFill>
                <a:latin typeface="Pretendard"/>
              </a:rPr>
              <a:t>Manual entry required.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32" y="5257800"/>
            <a:ext cx="2743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C2C5A"/>
                </a:solidFill>
                <a:latin typeface="Pretendard"/>
              </a:rPr>
              <a:t>Automatic deadline sync from agents.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145072"/>
            <a:ext cx="7040880" cy="6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79" y="1783080"/>
            <a:ext cx="3657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39" y="1920240"/>
            <a:ext cx="329184" cy="329184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39" y="192024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19" y="1947672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C2C5A"/>
                </a:solidFill>
                <a:latin typeface="Pretendard"/>
              </a:rPr>
              <a:t>Hybrid RAG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22860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C8AAE"/>
                </a:solidFill>
                <a:latin typeface="Pretendard"/>
              </a:rPr>
              <a:t>Static + Dynamic indexing.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2807208"/>
            <a:ext cx="3657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2439" y="2944368"/>
            <a:ext cx="329184" cy="329184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2439" y="294436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9" y="297180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C2C5A"/>
                </a:solidFill>
                <a:latin typeface="Pretendard"/>
              </a:rPr>
              <a:t>Multi-Agent Orchestration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19" y="331012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C8AAE"/>
                </a:solidFill>
                <a:latin typeface="Pretendard"/>
              </a:rPr>
              <a:t>Router + four domain experts.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79" y="3831336"/>
            <a:ext cx="3657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92439" y="3968496"/>
            <a:ext cx="329184" cy="329184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92439" y="396849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19" y="3995928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C2C5A"/>
                </a:solidFill>
                <a:latin typeface="Pretendard"/>
              </a:rPr>
              <a:t>MCP Integration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19" y="433425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C8AAE"/>
                </a:solidFill>
                <a:latin typeface="Pretendard"/>
              </a:rPr>
              <a:t>Five external APIs unified.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4855464"/>
            <a:ext cx="3657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92439" y="4992624"/>
            <a:ext cx="329184" cy="329184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92439" y="499262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19" y="502005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C2C5A"/>
                </a:solidFill>
                <a:latin typeface="Pretendard"/>
              </a:rPr>
              <a:t>Personalized Matching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19" y="535838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C8AAE"/>
                </a:solidFill>
                <a:latin typeface="Pretendard"/>
              </a:rPr>
              <a:t>Profile-to-eligibility automation.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1C2C5A"/>
                </a:solidFill>
                <a:latin typeface="Pretendard"/>
              </a:rPr>
              <a:t>06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137392" y="6519672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C2C5A"/>
                </a:solidFill>
                <a:latin typeface="Pretendard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02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 spc="200">
                <a:solidFill>
                  <a:srgbClr val="1C2C5A"/>
                </a:solidFill>
                <a:latin typeface="Pretendard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8686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A four-layer design where each layer</a:t>
            </a:r>
          </a:p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is joined by standard protocols (MCP, HTTP).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9167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1148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200">
                <a:solidFill>
                  <a:srgbClr val="1C2C5A"/>
                </a:solidFill>
                <a:latin typeface="Pretendard"/>
              </a:rPr>
              <a:t>L1 /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783080"/>
            <a:ext cx="61264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C2C5A"/>
                </a:solidFill>
                <a:latin typeface="Pretendard"/>
              </a:rPr>
              <a:t>Streamlit  ·  Profile Form  ·  Unified Dashboard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84748" y="2761488"/>
            <a:ext cx="219456" cy="128016"/>
          </a:xfrm>
          <a:prstGeom prst="downArrow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907792"/>
            <a:ext cx="11091672" cy="96012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07792"/>
            <a:ext cx="41148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200">
                <a:solidFill>
                  <a:srgbClr val="FFFFFF"/>
                </a:solidFill>
                <a:latin typeface="Pretendard"/>
              </a:rPr>
              <a:t>L2 / MULTI-AGENT ORCHESTRATION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907792"/>
            <a:ext cx="61264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Pretendard"/>
              </a:rPr>
              <a:t>LangGraph  ·  Router  ·  4 Sub-Agents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84748" y="3886200"/>
            <a:ext cx="219456" cy="128016"/>
          </a:xfrm>
          <a:prstGeom prst="downArrow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032504"/>
            <a:ext cx="11091672" cy="96012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32504"/>
            <a:ext cx="41148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200">
                <a:solidFill>
                  <a:srgbClr val="FFFFFF"/>
                </a:solidFill>
                <a:latin typeface="Pretendard"/>
              </a:rPr>
              <a:t>L3 / DATA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4032504"/>
            <a:ext cx="61264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Pretendard"/>
              </a:rPr>
              <a:t>Static RAG  ·  Dynamic RAG  ·  5 MCP Servers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84748" y="5010912"/>
            <a:ext cx="219456" cy="128016"/>
          </a:xfrm>
          <a:prstGeom prst="downArrow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157216"/>
            <a:ext cx="1109167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57216"/>
            <a:ext cx="41148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200">
                <a:solidFill>
                  <a:srgbClr val="1C2C5A"/>
                </a:solidFill>
                <a:latin typeface="Pretendard"/>
              </a:rPr>
              <a:t>L4 / 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5157216"/>
            <a:ext cx="61264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C2C5A"/>
                </a:solidFill>
                <a:latin typeface="Pretendard"/>
              </a:rPr>
              <a:t>AWS EC2  ·  AWS S3  ·  LUXIA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1C2C5A"/>
                </a:solidFill>
                <a:latin typeface="Pretendard"/>
              </a:rPr>
              <a:t>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137392" y="6519672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C2C5A"/>
                </a:solidFill>
                <a:latin typeface="Pretendard"/>
              </a:rPr>
              <a:t>Multi-Agent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02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 spc="200">
                <a:solidFill>
                  <a:srgbClr val="1C2C5A"/>
                </a:solidFill>
                <a:latin typeface="Pretendard"/>
              </a:rPr>
              <a:t>MULTI-AGENT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8686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A supervisor pattern: the Router classifies queries</a:t>
            </a:r>
          </a:p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and delegates to four domain experts.</a:t>
            </a:r>
          </a:p>
        </p:txBody>
      </p:sp>
      <p:sp>
        <p:nvSpPr>
          <p:cNvPr id="7" name="Oval 6"/>
          <p:cNvSpPr/>
          <p:nvPr/>
        </p:nvSpPr>
        <p:spPr>
          <a:xfrm>
            <a:off x="1280160" y="3017520"/>
            <a:ext cx="1828800" cy="1828800"/>
          </a:xfrm>
          <a:prstGeom prst="ellipse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6576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Pretendard"/>
              </a:rPr>
              <a:t>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9776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Pretendard"/>
              </a:rP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343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C9D1E5"/>
                </a:solidFill>
                <a:latin typeface="Pretendard"/>
              </a:rPr>
              <a:t>Classifies user query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108960" y="2308860.0"/>
            <a:ext cx="2880360" cy="1623060.0"/>
          </a:xfrm>
          <a:prstGeom prst="line">
            <a:avLst/>
          </a:prstGeom>
          <a:ln w="15240">
            <a:solidFill>
              <a:srgbClr val="1C2C5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943600" y="1828800"/>
            <a:ext cx="56692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993392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C2C5A"/>
                </a:solidFill>
                <a:latin typeface="Pretendard"/>
              </a:rPr>
              <a:t>Policy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5915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C8AAE"/>
                </a:solidFill>
                <a:latin typeface="Pretendard"/>
              </a:rPr>
              <a:t>Eligibility match  ·  Static RAG + Ontongchungnyeon MCP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108960" y="3433572.0"/>
            <a:ext cx="2880360" cy="498348.0"/>
          </a:xfrm>
          <a:prstGeom prst="line">
            <a:avLst/>
          </a:prstGeom>
          <a:ln w="15240">
            <a:solidFill>
              <a:srgbClr val="1C2C5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943600" y="2953512"/>
            <a:ext cx="56692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118104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C2C5A"/>
                </a:solidFill>
                <a:latin typeface="Pretendard"/>
              </a:rPr>
              <a:t>Job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48386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C8AAE"/>
                </a:solidFill>
                <a:latin typeface="Pretendard"/>
              </a:rPr>
              <a:t>Posting match  ·  WorkNet MCP + GitHub analysis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08960" y="3931920"/>
            <a:ext cx="2880360" cy="626364.0"/>
          </a:xfrm>
          <a:prstGeom prst="line">
            <a:avLst/>
          </a:prstGeom>
          <a:ln w="15240">
            <a:solidFill>
              <a:srgbClr val="1C2C5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943600" y="4078224"/>
            <a:ext cx="56692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242816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C2C5A"/>
                </a:solidFill>
                <a:latin typeface="Pretendard"/>
              </a:rPr>
              <a:t>Resume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608576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C8AAE"/>
                </a:solidFill>
                <a:latin typeface="Pretendard"/>
              </a:rPr>
              <a:t>Company coaching  ·  Dynamic RAG + DART MCP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08960" y="3931920"/>
            <a:ext cx="2880360" cy="1751076.0"/>
          </a:xfrm>
          <a:prstGeom prst="line">
            <a:avLst/>
          </a:prstGeom>
          <a:ln w="15240">
            <a:solidFill>
              <a:srgbClr val="1C2C5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943600" y="5202936"/>
            <a:ext cx="56692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536752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C2C5A"/>
                </a:solidFill>
                <a:latin typeface="Pretendard"/>
              </a:rPr>
              <a:t>Calendar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73328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C8AAE"/>
                </a:solidFill>
                <a:latin typeface="Pretendard"/>
              </a:rPr>
              <a:t>Deadline aggregation across 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1C2C5A"/>
                </a:solidFill>
                <a:latin typeface="Pretendard"/>
              </a:rPr>
              <a:t>08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137392" y="6519672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C2C5A"/>
                </a:solidFill>
                <a:latin typeface="Pretendard"/>
              </a:rPr>
              <a:t>Hybrid RAG and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02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 spc="200">
                <a:solidFill>
                  <a:srgbClr val="1C2C5A"/>
                </a:solidFill>
                <a:latin typeface="Pretendard"/>
              </a:rPr>
              <a:t>DATA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8686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Static and Dynamic RAG split by update frequency,</a:t>
            </a:r>
          </a:p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external APIs unified through MCP.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3304" y="1828800"/>
            <a:ext cx="6000" cy="420624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1C2C5A"/>
                </a:solidFill>
                <a:latin typeface="Pretendard"/>
              </a:rPr>
              <a:t>STATIC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28800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1C2C5A"/>
                </a:solidFill>
                <a:latin typeface="Pretendard"/>
              </a:rPr>
              <a:t>DYNAMIC RAG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2468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7C8AAE"/>
                </a:solidFill>
                <a:latin typeface="Pretendard"/>
              </a:rP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2C5A"/>
                </a:solidFill>
                <a:latin typeface="Pretendard"/>
              </a:rPr>
              <a:t>Policy docs / Resumes / NCS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240280"/>
            <a:ext cx="2468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37744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7C8AAE"/>
                </a:solidFill>
                <a:latin typeface="Pretendard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65176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2C5A"/>
                </a:solidFill>
                <a:latin typeface="Pretendard"/>
              </a:rPr>
              <a:t>DART filings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93008"/>
            <a:ext cx="2468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30168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7C8AAE"/>
                </a:solidFill>
                <a:latin typeface="Pretendard"/>
              </a:rPr>
              <a:t>CADENCE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04488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2C5A"/>
                </a:solidFill>
                <a:latin typeface="Pretendard"/>
              </a:rPr>
              <a:t>Weekly to yearly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3493008"/>
            <a:ext cx="2468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3630168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7C8AAE"/>
                </a:solidFill>
                <a:latin typeface="Pretendard"/>
              </a:rPr>
              <a:t>CADENCE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904488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2C5A"/>
                </a:solidFill>
                <a:latin typeface="Pretendard"/>
              </a:rPr>
              <a:t>Per-request, runtime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45736"/>
            <a:ext cx="2468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882896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7C8AAE"/>
                </a:solidFill>
                <a:latin typeface="Pretendard"/>
              </a:rP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57216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2C5A"/>
                </a:solidFill>
                <a:latin typeface="Pretendard"/>
              </a:rPr>
              <a:t>Pre-indexed (Chroma + bge-m3)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4745736"/>
            <a:ext cx="2468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4882896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7C8AAE"/>
                </a:solidFill>
                <a:latin typeface="Pretendard"/>
              </a:rPr>
              <a:t>METHOD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5157216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2C5A"/>
                </a:solidFill>
                <a:latin typeface="Pretendard"/>
              </a:rPr>
              <a:t>Indexed at request, ephemeral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828800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1C2C5A"/>
                </a:solidFill>
                <a:latin typeface="Pretendard"/>
              </a:rPr>
              <a:t>MCP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78892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7C8AAE"/>
                </a:solidFill>
                <a:latin typeface="Pretendard"/>
              </a:rPr>
              <a:t>MODEL CONTEXT PROTOCOL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383280"/>
            <a:ext cx="1554480" cy="384048"/>
          </a:xfrm>
          <a:prstGeom prst="rect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38328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C2C5A"/>
                </a:solidFill>
                <a:latin typeface="Pretendard"/>
              </a:rPr>
              <a:t>Ontongchungnyeon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3383280"/>
            <a:ext cx="1554480" cy="384048"/>
          </a:xfrm>
          <a:prstGeom prst="rect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338328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C2C5A"/>
                </a:solidFill>
                <a:latin typeface="Pretendard"/>
              </a:rPr>
              <a:t>Public Data Portal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92640" y="3383280"/>
            <a:ext cx="1554480" cy="384048"/>
          </a:xfrm>
          <a:prstGeom prst="rect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0" y="338328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C2C5A"/>
                </a:solidFill>
                <a:latin typeface="Pretendard"/>
              </a:rPr>
              <a:t>WorkNet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858768"/>
            <a:ext cx="1554480" cy="384048"/>
          </a:xfrm>
          <a:prstGeom prst="rect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858768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C2C5A"/>
                </a:solidFill>
                <a:latin typeface="Pretendard"/>
              </a:rPr>
              <a:t>DART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3858768"/>
            <a:ext cx="1554480" cy="384048"/>
          </a:xfrm>
          <a:prstGeom prst="rect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3858768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C2C5A"/>
                </a:solidFill>
                <a:latin typeface="Pretendard"/>
              </a:rPr>
              <a:t>Naver News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943600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C8AAE"/>
                </a:solidFill>
                <a:latin typeface="Pretendard"/>
              </a:rPr>
              <a:t>RAG over fine-tuning: live data updates, source citation, $50 budget feasible.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1C2C5A"/>
                </a:solidFill>
                <a:latin typeface="Pretendard"/>
              </a:rPr>
              <a:t>09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37392" y="6519672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C2C5A"/>
                </a:solidFill>
                <a:latin typeface="Pretendard"/>
              </a:rPr>
              <a:t>Dataset and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02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 spc="200">
                <a:solidFill>
                  <a:srgbClr val="1C2C5A"/>
                </a:solidFill>
                <a:latin typeface="Pretendard"/>
              </a:rPr>
              <a:t>DATASET &amp;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8686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Seven open-license datasets,</a:t>
            </a:r>
          </a:p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quantitative and qualitative dual-track evaluation.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6035040" cy="53721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37160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200">
                <a:solidFill>
                  <a:srgbClr val="FFFFFF"/>
                </a:solidFill>
                <a:latin typeface="Pretendard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1828800"/>
            <a:ext cx="164592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200">
                <a:solidFill>
                  <a:srgbClr val="FFFFFF"/>
                </a:solidFill>
                <a:latin typeface="Pretendard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1648" y="1828800"/>
            <a:ext cx="137160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200">
                <a:solidFill>
                  <a:srgbClr val="FFFFFF"/>
                </a:solidFill>
                <a:latin typeface="Pretendard"/>
              </a:rPr>
              <a:t>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6128" y="1828800"/>
            <a:ext cx="91440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200">
                <a:solidFill>
                  <a:srgbClr val="FFFFFF"/>
                </a:solidFill>
                <a:latin typeface="Pretendard"/>
              </a:rPr>
              <a:t>LICENSE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66010"/>
            <a:ext cx="137160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C2C5A"/>
                </a:solidFill>
                <a:latin typeface="Pretendard"/>
              </a:rPr>
              <a:t>Youth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2366010"/>
            <a:ext cx="164592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Ontongchungnyeon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2366010"/>
            <a:ext cx="137160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Static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366010"/>
            <a:ext cx="91440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KOGL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17290"/>
            <a:ext cx="6035040" cy="6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903220"/>
            <a:ext cx="137160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C2C5A"/>
                </a:solidFill>
                <a:latin typeface="Pretendard"/>
              </a:rPr>
              <a:t>Government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2903220"/>
            <a:ext cx="164592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Public Data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1648" y="2903220"/>
            <a:ext cx="137160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Static 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96128" y="2903220"/>
            <a:ext cx="91440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KOGL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854500"/>
            <a:ext cx="6035040" cy="6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440430"/>
            <a:ext cx="137160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C2C5A"/>
                </a:solidFill>
                <a:latin typeface="Pretendard"/>
              </a:rPr>
              <a:t>Job Postings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2848" y="3440430"/>
            <a:ext cx="164592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WorkNet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1648" y="3440430"/>
            <a:ext cx="137160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Tool Use (live)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128" y="3440430"/>
            <a:ext cx="91440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KOGL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391710"/>
            <a:ext cx="6035040" cy="6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977640"/>
            <a:ext cx="137160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C2C5A"/>
                </a:solidFill>
                <a:latin typeface="Pretendard"/>
              </a:rPr>
              <a:t>Corporate Filings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3977640"/>
            <a:ext cx="164592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DART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41648" y="3977640"/>
            <a:ext cx="137160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Dynamic RAG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128" y="3977640"/>
            <a:ext cx="91440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Free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928920"/>
            <a:ext cx="6035040" cy="6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514850"/>
            <a:ext cx="137160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C2C5A"/>
                </a:solidFill>
                <a:latin typeface="Pretendard"/>
              </a:rPr>
              <a:t>Accepted Resumes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12848" y="4514850"/>
            <a:ext cx="164592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Public posts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41648" y="4514850"/>
            <a:ext cx="137160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Static RAG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96128" y="4514850"/>
            <a:ext cx="91440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Public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466130"/>
            <a:ext cx="6035040" cy="6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052060"/>
            <a:ext cx="137160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C2C5A"/>
                </a:solidFill>
                <a:latin typeface="Pretendard"/>
              </a:rPr>
              <a:t>NCS Standards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12848" y="5052060"/>
            <a:ext cx="164592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NCS competency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41648" y="5052060"/>
            <a:ext cx="137160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Static RAG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96128" y="5052060"/>
            <a:ext cx="91440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KOGL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003340"/>
            <a:ext cx="6035040" cy="6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5589270"/>
            <a:ext cx="137160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C2C5A"/>
                </a:solidFill>
                <a:latin typeface="Pretendard"/>
              </a:rPr>
              <a:t>Eval Q&amp;A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12848" y="5589270"/>
            <a:ext cx="164592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Built in-house, n=50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41648" y="5589270"/>
            <a:ext cx="137160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Benchmark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96128" y="5589270"/>
            <a:ext cx="914400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Internal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540550"/>
            <a:ext cx="6035040" cy="6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49440" y="1783080"/>
            <a:ext cx="4690872" cy="45720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0" y="178308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300">
                <a:solidFill>
                  <a:srgbClr val="FFFFFF"/>
                </a:solidFill>
                <a:latin typeface="Pretendard"/>
              </a:rPr>
              <a:t>QUANTITATIVE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49440" y="2240280"/>
            <a:ext cx="469087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23760" y="233172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C2C5A"/>
                </a:solidFill>
                <a:latin typeface="Pretendard"/>
              </a:rPr>
              <a:t>Precision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9760" y="233172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C2C5A"/>
                </a:solidFill>
                <a:latin typeface="Pretendard"/>
              </a:rPr>
              <a:t>≥ 0.85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266090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C2C5A"/>
                </a:solidFill>
                <a:latin typeface="Pretendard"/>
              </a:rPr>
              <a:t>Recall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9760" y="266090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C2C5A"/>
                </a:solidFill>
                <a:latin typeface="Pretendard"/>
              </a:rPr>
              <a:t>≥ 0.80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299008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C2C5A"/>
                </a:solidFill>
                <a:latin typeface="Pretendard"/>
              </a:rPr>
              <a:t>Citation Accuracy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09760" y="299008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C2C5A"/>
                </a:solidFill>
                <a:latin typeface="Pretendard"/>
              </a:rPr>
              <a:t>≥ 0.90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60" y="331927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C2C5A"/>
                </a:solidFill>
                <a:latin typeface="Pretendard"/>
              </a:rPr>
              <a:t>Response Time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9760" y="331927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C2C5A"/>
                </a:solidFill>
                <a:latin typeface="Pretendard"/>
              </a:rPr>
              <a:t>≤ 5s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49440" y="4023360"/>
            <a:ext cx="469087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23760" y="402336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300">
                <a:solidFill>
                  <a:srgbClr val="1C2C5A"/>
                </a:solidFill>
                <a:latin typeface="Pretendard"/>
              </a:rPr>
              <a:t>QUALITATIVE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49440" y="4480560"/>
            <a:ext cx="469087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223760" y="4709160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06640" y="4590288"/>
            <a:ext cx="40507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C2C5A"/>
                </a:solidFill>
                <a:latin typeface="Pretendard"/>
              </a:rPr>
              <a:t>User Survey (n = 20, 5-point Likert)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23760" y="5093208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06640" y="4974336"/>
            <a:ext cx="40507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C2C5A"/>
                </a:solidFill>
                <a:latin typeface="Pretendard"/>
              </a:rPr>
              <a:t>LLM-as-Judge (GPT-4o-mini scoring)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23760" y="5477256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06640" y="5358384"/>
            <a:ext cx="40507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C2C5A"/>
                </a:solidFill>
                <a:latin typeface="Pretendard"/>
              </a:rPr>
              <a:t>Head-to-Head vs ChatGPT and Government24+JobKorea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1C2C5A"/>
                </a:solidFill>
                <a:latin typeface="Pretendard"/>
              </a:rPr>
              <a:t>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137392" y="6519672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C2C5A"/>
                </a:solidFill>
                <a:latin typeface="Pretendard"/>
              </a:rPr>
              <a:t>Execution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02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 spc="200">
                <a:solidFill>
                  <a:srgbClr val="1C2C5A"/>
                </a:solidFill>
                <a:latin typeface="Pretendard"/>
              </a:rPr>
              <a:t>TEAM · SCHEDULE ·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8686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Five domain experts, seven-week roadmap,</a:t>
            </a:r>
          </a:p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total budget under $52.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91672" cy="51816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011680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FFFFFF"/>
                </a:solidFill>
                <a:latin typeface="Pretendard"/>
              </a:rPr>
              <a:t>WORKSTREAM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783080"/>
            <a:ext cx="1271016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W10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14216" y="1783080"/>
            <a:ext cx="1271016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W11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5232" y="1783080"/>
            <a:ext cx="1271016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W12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1783080"/>
            <a:ext cx="1271016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W13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7264" y="1783080"/>
            <a:ext cx="1271016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W14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1783080"/>
            <a:ext cx="1271016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W15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9296" y="1783080"/>
            <a:ext cx="1271016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W16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301240"/>
            <a:ext cx="2011680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C2C5A"/>
                </a:solidFill>
                <a:latin typeface="Pretendard"/>
              </a:rPr>
              <a:t>A · Policy + Static RAG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14216" y="230124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59936" y="239268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85232" y="230124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30952" y="2392680"/>
            <a:ext cx="1179576" cy="33528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6248" y="230124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01968" y="239268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27264" y="230124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72984" y="239268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98280" y="230124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369296" y="230124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2301240"/>
            <a:ext cx="11091672" cy="3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2819400"/>
            <a:ext cx="2011680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C2C5A"/>
                </a:solidFill>
                <a:latin typeface="Pretendard"/>
              </a:rPr>
              <a:t>B · Job + DART/MCP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14216" y="281940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59936" y="291084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5232" y="281940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30952" y="291084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56248" y="281940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01968" y="2910840"/>
            <a:ext cx="1179576" cy="33528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27264" y="281940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72984" y="291084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98280" y="281940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369296" y="281940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2819400"/>
            <a:ext cx="11091672" cy="3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3337560"/>
            <a:ext cx="2011680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C2C5A"/>
                </a:solidFill>
                <a:latin typeface="Pretendard"/>
              </a:rPr>
              <a:t>C · Resume + Evaluation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14216" y="333756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59936" y="342900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285232" y="333756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330952" y="342900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56248" y="333756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601968" y="342900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827264" y="333756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872984" y="342900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98280" y="333756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44000" y="3429000"/>
            <a:ext cx="1179576" cy="33528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369296" y="333756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8640" y="3337560"/>
            <a:ext cx="11091672" cy="3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3855720"/>
            <a:ext cx="2011680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C2C5A"/>
                </a:solidFill>
                <a:latin typeface="Pretendard"/>
              </a:rPr>
              <a:t>D · Frontend + UX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14216" y="385572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85232" y="385572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0952" y="394716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556248" y="385572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601968" y="394716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827264" y="385572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872984" y="3947160"/>
            <a:ext cx="1179576" cy="33528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098280" y="385572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44000" y="394716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369296" y="385572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8640" y="3855720"/>
            <a:ext cx="11091672" cy="3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4373880"/>
            <a:ext cx="2011680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C2C5A"/>
                </a:solidFill>
                <a:latin typeface="Pretendard"/>
              </a:rPr>
              <a:t>E · Backend + LangGraph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14216" y="437388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059936" y="446532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285232" y="437388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330952" y="446532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6248" y="437388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01968" y="4465320"/>
            <a:ext cx="1179576" cy="33528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827264" y="437388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872984" y="4465320"/>
            <a:ext cx="1179576" cy="33528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098280" y="437388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144000" y="446532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369296" y="437388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48640" y="4373880"/>
            <a:ext cx="11091672" cy="3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48640" y="4892040"/>
            <a:ext cx="11091672" cy="3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507492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C2C5A"/>
                </a:solidFill>
                <a:latin typeface="Pretendard"/>
              </a:rPr>
              <a:t>~$52 total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585216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C5A"/>
                </a:solidFill>
                <a:latin typeface="Pretendard"/>
              </a:rPr>
              <a:t>LUXIA $50 (course-provided)  +  GPT-4o-mini $2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" y="612648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C8AAE"/>
                </a:solidFill>
                <a:latin typeface="Pretendard"/>
              </a:rPr>
              <a:t>AWS Academy / open-source tooling at $0.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772400" y="5074920"/>
            <a:ext cx="38404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01000" y="518464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1C2C5A"/>
                </a:solidFill>
                <a:latin typeface="Pretendard"/>
              </a:rPr>
              <a:t>KEY RISKS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01000" y="5687568"/>
            <a:ext cx="54864" cy="54864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138160" y="5577840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LUXIA credit exhaustion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829800" y="5687568"/>
            <a:ext cx="54864" cy="54864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966960" y="5577840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DART filing size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01000" y="6053328"/>
            <a:ext cx="54864" cy="54864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138160" y="5943600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Multi-agent debugging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829800" y="6053328"/>
            <a:ext cx="54864" cy="54864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966960" y="5943600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Dataset licensing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1C2C5A"/>
                </a:solidFill>
                <a:latin typeface="Pretendard"/>
              </a:rPr>
              <a:t>11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137392" y="6519672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C2C5A"/>
                </a:solidFill>
                <a:latin typeface="Pretendard"/>
              </a:rPr>
              <a:t>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02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 spc="200">
                <a:solidFill>
                  <a:srgbClr val="1C2C5A"/>
                </a:solidFill>
                <a:latin typeface="Pretendard"/>
              </a:rPr>
              <a:t>EXPECTED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8686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User impact and technical capability,</a:t>
            </a:r>
          </a:p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extensible through a five-phase roadmap.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4572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0" b="1" i="0">
                <a:solidFill>
                  <a:srgbClr val="1C2C5A"/>
                </a:solidFill>
                <a:latin typeface="Pretendard"/>
              </a:rPr>
              <a:t>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4048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7C8AAE"/>
                </a:solidFill>
                <a:latin typeface="Pretendard"/>
              </a:rPr>
              <a:t>REDUCTION IN INFORMATION-SEARCH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251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C2C5A"/>
                </a:solidFill>
                <a:latin typeface="Pretendard"/>
              </a:rPr>
              <a:t>2 hours  →  5 minutes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C2C5A"/>
                </a:solidFill>
                <a:latin typeface="Pretendard"/>
              </a:rPr>
              <a:t>Across ~12M Korean youth in scope.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828800"/>
            <a:ext cx="57607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01168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1C2C5A"/>
                </a:solidFill>
                <a:latin typeface="Pretendard"/>
              </a:rPr>
              <a:t>TECHNICAL OUTCOMES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587752"/>
            <a:ext cx="73152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C2C5A"/>
                </a:solidFill>
                <a:latin typeface="Pretendard"/>
              </a:rPr>
              <a:t>Integrated LLM + RAG + Multi-Agent + MCP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999232"/>
            <a:ext cx="73152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880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C2C5A"/>
                </a:solidFill>
                <a:latin typeface="Pretendard"/>
              </a:rPr>
              <a:t>Hybrid RAG (Static + Dynamic) in practice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410712"/>
            <a:ext cx="73152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291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C2C5A"/>
                </a:solidFill>
                <a:latin typeface="Pretendard"/>
              </a:rPr>
              <a:t>Korean-domain LUXIA usage at production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206240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7C8AAE"/>
                </a:solidFill>
                <a:latin typeface="Pretendard"/>
              </a:rPr>
              <a:t>FUTURE ROADMAP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4617720"/>
            <a:ext cx="1033271" cy="777240"/>
          </a:xfrm>
          <a:prstGeom prst="rect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709160"/>
            <a:ext cx="103327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7C8AAE"/>
                </a:solidFill>
                <a:latin typeface="Pretendard"/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983480"/>
            <a:ext cx="10332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C2C5A"/>
                </a:solidFill>
                <a:latin typeface="Pretendard"/>
              </a:rPr>
              <a:t>Multilingual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76871" y="5006340.0"/>
            <a:ext cx="109728" cy="0.0"/>
          </a:xfrm>
          <a:prstGeom prst="line">
            <a:avLst/>
          </a:prstGeom>
          <a:ln w="9525">
            <a:solidFill>
              <a:srgbClr val="7C8A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086599" y="4617720"/>
            <a:ext cx="1033271" cy="777240"/>
          </a:xfrm>
          <a:prstGeom prst="rect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599" y="4709160"/>
            <a:ext cx="103327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7C8AAE"/>
                </a:solidFill>
                <a:latin typeface="Pretendard"/>
              </a:rPr>
              <a:t>Phase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599" y="4983480"/>
            <a:ext cx="10332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C2C5A"/>
                </a:solidFill>
                <a:latin typeface="Pretendard"/>
              </a:rPr>
              <a:t>Voice (Whisper)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119870" y="5006340.0"/>
            <a:ext cx="109728" cy="0.0"/>
          </a:xfrm>
          <a:prstGeom prst="line">
            <a:avLst/>
          </a:prstGeom>
          <a:ln w="9525">
            <a:solidFill>
              <a:srgbClr val="7C8A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229598" y="4617720"/>
            <a:ext cx="1033271" cy="777240"/>
          </a:xfrm>
          <a:prstGeom prst="rect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8" y="4709160"/>
            <a:ext cx="103327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7C8AAE"/>
                </a:solidFill>
                <a:latin typeface="Pretendard"/>
              </a:rP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8" y="4983480"/>
            <a:ext cx="10332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C2C5A"/>
                </a:solidFill>
                <a:latin typeface="Pretendard"/>
              </a:rPr>
              <a:t>Mobile App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262869" y="5006340.0"/>
            <a:ext cx="109728" cy="0.0"/>
          </a:xfrm>
          <a:prstGeom prst="line">
            <a:avLst/>
          </a:prstGeom>
          <a:ln w="9525">
            <a:solidFill>
              <a:srgbClr val="7C8A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9372597" y="4617720"/>
            <a:ext cx="1033271" cy="777240"/>
          </a:xfrm>
          <a:prstGeom prst="rect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597" y="4709160"/>
            <a:ext cx="103327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7C8AAE"/>
                </a:solidFill>
                <a:latin typeface="Pretendard"/>
              </a:rPr>
              <a:t>Phase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597" y="4983480"/>
            <a:ext cx="10332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C2C5A"/>
                </a:solidFill>
                <a:latin typeface="Pretendard"/>
              </a:rPr>
              <a:t>KakaoTalk Bot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405868" y="5006340.0"/>
            <a:ext cx="109728" cy="0.0"/>
          </a:xfrm>
          <a:prstGeom prst="line">
            <a:avLst/>
          </a:prstGeom>
          <a:ln w="9525">
            <a:solidFill>
              <a:srgbClr val="7C8A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0515596" y="4617720"/>
            <a:ext cx="1033271" cy="777240"/>
          </a:xfrm>
          <a:prstGeom prst="rect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596" y="4709160"/>
            <a:ext cx="103327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7C8AAE"/>
                </a:solidFill>
                <a:latin typeface="Pretendard"/>
              </a:rPr>
              <a:t>Phase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596" y="4983480"/>
            <a:ext cx="10332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C2C5A"/>
                </a:solidFill>
                <a:latin typeface="Pretendard"/>
              </a:rPr>
              <a:t>Learning Match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1C2C5A"/>
                </a:solidFill>
                <a:latin typeface="Pretendard"/>
              </a:rPr>
              <a:t>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137392" y="6519672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-914400" y="2743200"/>
            <a:ext cx="5029200" cy="5486400"/>
          </a:xfrm>
          <a:prstGeom prst="rtTriangle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-1828800" y="-914400"/>
            <a:ext cx="6400800" cy="5943600"/>
          </a:xfrm>
          <a:prstGeom prst="rtTriangle">
            <a:avLst/>
          </a:prstGeom>
          <a:solidFill>
            <a:srgbClr val="DB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502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 spc="300">
                <a:solidFill>
                  <a:srgbClr val="1C2C5A"/>
                </a:solidFill>
                <a:latin typeface="Pretendard"/>
              </a:rP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0" b="1" i="0">
                <a:solidFill>
                  <a:srgbClr val="1C2C5A"/>
                </a:solidFill>
                <a:latin typeface="Pretendard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0" i="0">
                <a:solidFill>
                  <a:srgbClr val="1C2C5A"/>
                </a:solidFill>
                <a:latin typeface="Pretendard"/>
              </a:rPr>
              <a:t>for Your Attention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400">
                <a:solidFill>
                  <a:srgbClr val="7C8AAE"/>
                </a:solidFill>
                <a:latin typeface="Pretendard"/>
              </a:rPr>
              <a:t>QUESTIONS AND DISCUSSION WELCOME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943600"/>
            <a:ext cx="11091672" cy="6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0807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2C5A"/>
                </a:solidFill>
                <a:latin typeface="Pretendard"/>
              </a:rPr>
              <a:t>Hanyang University · Deep Learning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2C5A"/>
                </a:solidFill>
                <a:latin typeface="Pretendard"/>
              </a:rPr>
              <a:t>Five-Person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60807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C2C5A"/>
                </a:solidFill>
                <a:latin typeface="Pretendard"/>
              </a:rPr>
              <a:t>Team contact: [team@hanyang.ac.kr]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60807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C2C5A"/>
                </a:solidFill>
                <a:latin typeface="Pretendard"/>
              </a:rPr>
              <a:t>Online Q&amp;A by May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