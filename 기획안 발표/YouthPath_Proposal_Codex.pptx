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3" r:id="rId2"/>
    <p:sldId id="283" r:id="rId3"/>
    <p:sldId id="289" r:id="rId4"/>
    <p:sldId id="298" r:id="rId5"/>
    <p:sldId id="309" r:id="rId6"/>
    <p:sldId id="317" r:id="rId7"/>
    <p:sldId id="332" r:id="rId8"/>
    <p:sldId id="340" r:id="rId9"/>
    <p:sldId id="348" r:id="rId10"/>
    <p:sldId id="360" r:id="rId11"/>
    <p:sldId id="370" r:id="rId12"/>
    <p:sldId id="379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0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57" y="31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9A845F-7E51-147C-B922-7B9910C08C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569EE3-8838-CD8D-BADD-D536C8914C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4B55A8-65E9-EB31-EEEB-35C7A5BD4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F820-0E93-4798-8115-E9D7E72805B0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D4B3CC-DCBF-4ACC-1983-490D1C1B8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C87C11-98A3-43AB-9020-46E299C11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765B-2738-4BFB-AF3E-A30E131243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5121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8B6F9F-AD1A-4B71-0258-02EBFDE17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B0D499-5175-8B01-3672-87B869EF3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F07972-A171-E594-8ED3-9426BCB92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F820-0E93-4798-8115-E9D7E72805B0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898CE2-A7E1-58D6-8589-EBD97A4DF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AEF099-ADBC-5E2D-285A-BE8B7B829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765B-2738-4BFB-AF3E-A30E131243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953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8165D1-322E-9727-CAC0-6314BFBF0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CCB023-35CA-1C20-37A1-8EA5B5546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C13A26-4FA2-B360-6930-32252A94B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F820-0E93-4798-8115-E9D7E72805B0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A61D77-B723-A8C3-9578-687A2AF39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89C5A5-E265-34BC-939C-01018B994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765B-2738-4BFB-AF3E-A30E131243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006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0BAD1E-4DBC-D6D2-304F-29C887A7B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0C2A25-62DF-6D65-3C50-285A02E63A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CD97056-0C66-114D-A01D-24C10824D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26A1955-EFC5-9BF5-44D1-81A7ED2B8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F820-0E93-4798-8115-E9D7E72805B0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72FBD5-D160-314E-A5A2-B1638F7BE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C2E293-4348-E660-ADA4-531960E9F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765B-2738-4BFB-AF3E-A30E131243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7448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AD0484-8F38-9B2A-AF97-A80361AC8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61820D-4450-2C5D-7D9A-75AD81F64F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8A0132A-3EDF-D57E-285A-DBC93C4FB4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46879B8-EA02-7FA8-F2CE-A12219F9B5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A8D96CE-7E8B-4113-BA3A-4F041A90E4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EC79279-2E48-8A0D-4799-82B9FA18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F820-0E93-4798-8115-E9D7E72805B0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F9025ED-CCF9-CD94-EDA4-53219BA88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D2CF807-C080-F060-51CF-7BE9DEC1C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765B-2738-4BFB-AF3E-A30E131243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5649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E05835-694D-9889-9951-5CAC1D3A4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39901C2-243A-76F7-FDFE-FB9EE96CF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F820-0E93-4798-8115-E9D7E72805B0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03E623C-3B18-28A8-1A2D-DDB0592F6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1F1D3C4-F5B1-E5DF-A69C-266725E3B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765B-2738-4BFB-AF3E-A30E131243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8519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067EEA9-D8D8-1BA1-172E-62D084FB3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F820-0E93-4798-8115-E9D7E72805B0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91F0D8F-13BC-21F1-3703-07D73D456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CA1689-F1D7-D9EF-7045-0F5FD4059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765B-2738-4BFB-AF3E-A30E131243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1506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078EDB-CD6E-6CB1-A7DC-DBE4F0A72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A70C49-83A1-2718-5A88-F292A07D6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9C99FD9-6DAF-96C5-634E-58DBBD1E8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1243E3-CB51-0559-8F9D-6BEAC2A71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F820-0E93-4798-8115-E9D7E72805B0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0185C5-4E3C-8FA4-A210-27EBE1618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5266DC-4C24-5321-19DC-D21633BD0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765B-2738-4BFB-AF3E-A30E131243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4457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97560A-1492-83C5-83D7-50371178F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4C43CB6-F371-7B36-2D54-ABA227381B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EE68F7-23C4-06F6-C912-B33B2ABB2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00CBDE-3D75-CB1A-3427-EA391D4AF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F820-0E93-4798-8115-E9D7E72805B0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B558CD-7312-BE10-15F4-C0ABA8B34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EB0F6A-F64F-5D9A-8FAD-B26D56374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765B-2738-4BFB-AF3E-A30E131243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2029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C1FA7F-6991-6070-70FB-416B40D0F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22AF70F-2764-D97E-8CD7-BA8101C54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C54383-FFA2-47B8-B462-91F66DC7F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F820-0E93-4798-8115-E9D7E72805B0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1C7F95-1D91-20DC-12B5-53DA60378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88566A-B26C-E7B3-2D11-374263920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765B-2738-4BFB-AF3E-A30E131243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437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6C74A2D-DE32-7248-94FB-C02FDF05FD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054B5-E615-EB10-837C-B280B5CCA4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AFCC22-FD00-8196-408D-1C7E18149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F820-0E93-4798-8115-E9D7E72805B0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1541C5-4F3E-76E6-3CF2-713E15E86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9B4E35-F08E-262A-126F-1B84ABA9A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E765B-2738-4BFB-AF3E-A30E131243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0848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422CF73-E8A8-280C-FA1D-6CE044709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553DBB-8A36-7BB6-E6CF-89198735B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7C7FAF-3B71-F0B0-16AB-EB8FAE45BE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F6F820-0E93-4798-8115-E9D7E72805B0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743C32-C053-D51C-47E5-54504F1BC2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1FF342-D338-3989-7000-FAAB77DD2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DE765B-2738-4BFB-AF3E-A30E131243F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00" name="TopAccentBar"/>
          <p:cNvSpPr/>
          <p:nvPr userDrawn="1"/>
        </p:nvSpPr>
        <p:spPr>
          <a:xfrm>
            <a:off x="457200" y="177800"/>
            <a:ext cx="1651000" cy="50800"/>
          </a:xfrm>
          <a:prstGeom prst="rect">
            <a:avLst/>
          </a:prstGeom>
          <a:solidFill>
            <a:srgbClr val="1446A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TopLine"/>
          <p:cNvSpPr/>
          <p:nvPr userDrawn="1"/>
        </p:nvSpPr>
        <p:spPr>
          <a:xfrm>
            <a:off x="457200" y="279400"/>
            <a:ext cx="11277600" cy="1270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2" name="BottomLine"/>
          <p:cNvSpPr/>
          <p:nvPr userDrawn="1"/>
        </p:nvSpPr>
        <p:spPr>
          <a:xfrm>
            <a:off x="457200" y="6540500"/>
            <a:ext cx="11277600" cy="12700"/>
          </a:xfrm>
          <a:prstGeom prst="rect">
            <a:avLst/>
          </a:prstGeom>
          <a:solidFill>
            <a:srgbClr val="1446A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642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6.svg"/><Relationship Id="rId7" Type="http://schemas.openxmlformats.org/officeDocument/2006/relationships/image" Target="../media/image3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Relationship Id="rId9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28.svg"/><Relationship Id="rId3" Type="http://schemas.openxmlformats.org/officeDocument/2006/relationships/image" Target="../media/image7.svg"/><Relationship Id="rId7" Type="http://schemas.openxmlformats.org/officeDocument/2006/relationships/image" Target="../media/image23.svg"/><Relationship Id="rId12" Type="http://schemas.openxmlformats.org/officeDocument/2006/relationships/image" Target="../media/image27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26.svg"/><Relationship Id="rId5" Type="http://schemas.openxmlformats.org/officeDocument/2006/relationships/image" Target="../media/image22.svg"/><Relationship Id="rId10" Type="http://schemas.openxmlformats.org/officeDocument/2006/relationships/image" Target="../media/image25.svg"/><Relationship Id="rId4" Type="http://schemas.openxmlformats.org/officeDocument/2006/relationships/image" Target="../media/image21.svg"/><Relationship Id="rId9" Type="http://schemas.openxmlformats.org/officeDocument/2006/relationships/image" Target="../media/image13.svg"/><Relationship Id="rId14" Type="http://schemas.openxmlformats.org/officeDocument/2006/relationships/image" Target="../media/image2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32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svg"/><Relationship Id="rId5" Type="http://schemas.openxmlformats.org/officeDocument/2006/relationships/image" Target="../media/image30.svg"/><Relationship Id="rId4" Type="http://schemas.openxmlformats.org/officeDocument/2006/relationships/image" Target="../media/image1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svg"/><Relationship Id="rId5" Type="http://schemas.openxmlformats.org/officeDocument/2006/relationships/image" Target="../media/image34.sv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20.svg"/><Relationship Id="rId7" Type="http://schemas.openxmlformats.org/officeDocument/2006/relationships/image" Target="../media/image3.svg"/><Relationship Id="rId2" Type="http://schemas.openxmlformats.org/officeDocument/2006/relationships/image" Target="../media/image3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11" Type="http://schemas.openxmlformats.org/officeDocument/2006/relationships/image" Target="../media/image14.svg"/><Relationship Id="rId5" Type="http://schemas.openxmlformats.org/officeDocument/2006/relationships/image" Target="../media/image37.svg"/><Relationship Id="rId10" Type="http://schemas.openxmlformats.org/officeDocument/2006/relationships/image" Target="../media/image39.svg"/><Relationship Id="rId4" Type="http://schemas.openxmlformats.org/officeDocument/2006/relationships/image" Target="../media/image22.svg"/><Relationship Id="rId9" Type="http://schemas.openxmlformats.org/officeDocument/2006/relationships/image" Target="../media/image3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1.svg"/><Relationship Id="rId7" Type="http://schemas.openxmlformats.org/officeDocument/2006/relationships/image" Target="../media/image25.svg"/><Relationship Id="rId2" Type="http://schemas.openxmlformats.org/officeDocument/2006/relationships/image" Target="../media/image4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svg"/><Relationship Id="rId5" Type="http://schemas.openxmlformats.org/officeDocument/2006/relationships/image" Target="../media/image43.svg"/><Relationship Id="rId4" Type="http://schemas.openxmlformats.org/officeDocument/2006/relationships/image" Target="../media/image42.svg"/><Relationship Id="rId9" Type="http://schemas.openxmlformats.org/officeDocument/2006/relationships/image" Target="../media/image1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ageNum"/>
          <p:cNvSpPr txBox="1"/>
          <p:nvPr/>
        </p:nvSpPr>
        <p:spPr>
          <a:xfrm>
            <a:off x="10414000" y="406400"/>
            <a:ext cx="1397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en-US" sz="1400" b="1" dirty="0">
                <a:solidFill>
                  <a:srgbClr val="0E2559"/>
                </a:solidFill>
              </a:rPr>
              <a:t>01</a:t>
            </a:r>
            <a:r>
              <a:rPr lang="en-US" sz="1400" dirty="0">
                <a:solidFill>
                  <a:srgbClr val="7A8AA8"/>
                </a:solidFill>
              </a:rPr>
              <a:t> / 12</a:t>
            </a:r>
          </a:p>
        </p:txBody>
      </p:sp>
      <p:sp>
        <p:nvSpPr>
          <p:cNvPr id="101" name="Title"/>
          <p:cNvSpPr txBox="1"/>
          <p:nvPr/>
        </p:nvSpPr>
        <p:spPr>
          <a:xfrm>
            <a:off x="762000" y="1651000"/>
            <a:ext cx="6604000" cy="1397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8000" b="1" dirty="0">
                <a:solidFill>
                  <a:srgbClr val="0E2559"/>
                </a:solidFill>
              </a:rPr>
              <a:t>YouthPath</a:t>
            </a:r>
          </a:p>
        </p:txBody>
      </p:sp>
      <p:sp>
        <p:nvSpPr>
          <p:cNvPr id="102" name="Subtitle"/>
          <p:cNvSpPr txBox="1"/>
          <p:nvPr/>
        </p:nvSpPr>
        <p:spPr>
          <a:xfrm>
            <a:off x="787400" y="3149600"/>
            <a:ext cx="6604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2400" b="1" dirty="0">
                <a:solidFill>
                  <a:srgbClr val="184ED2"/>
                </a:solidFill>
              </a:rPr>
              <a:t>Total Assistant for Youth Career Entry</a:t>
            </a:r>
          </a:p>
        </p:txBody>
      </p:sp>
      <p:sp>
        <p:nvSpPr>
          <p:cNvPr id="103" name="AccentLine"/>
          <p:cNvSpPr/>
          <p:nvPr/>
        </p:nvSpPr>
        <p:spPr>
          <a:xfrm>
            <a:off x="787400" y="3759200"/>
            <a:ext cx="635000" cy="38100"/>
          </a:xfrm>
          <a:prstGeom prst="rect">
            <a:avLst/>
          </a:prstGeom>
          <a:solidFill>
            <a:srgbClr val="4DB8E8"/>
          </a:solidFill>
          <a:ln>
            <a:noFill/>
          </a:ln>
        </p:spPr>
        <p:txBody>
          <a:bodyPr wrap="square" lIns="45720" tIns="45720" rIns="45720" bIns="45720" anchor="t"/>
          <a:lstStyle/>
          <a:p>
            <a:endParaRPr lang="en-US"/>
          </a:p>
        </p:txBody>
      </p:sp>
      <p:sp>
        <p:nvSpPr>
          <p:cNvPr id="104" name="Desc"/>
          <p:cNvSpPr txBox="1"/>
          <p:nvPr/>
        </p:nvSpPr>
        <p:spPr>
          <a:xfrm>
            <a:off x="787400" y="3962400"/>
            <a:ext cx="6096000" cy="127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500" dirty="0">
                <a:solidFill>
                  <a:srgbClr val="3A4A66"/>
                </a:solidFill>
              </a:rPr>
              <a:t>A generative AI service that connects policy matching,</a:t>
            </a:r>
          </a:p>
          <a:p>
            <a:r>
              <a:rPr lang="en-US" sz="1500" dirty="0">
                <a:solidFill>
                  <a:srgbClr val="3A4A66"/>
                </a:solidFill>
              </a:rPr>
              <a:t>job recommendations, resume coaching,</a:t>
            </a:r>
          </a:p>
          <a:p>
            <a:r>
              <a:rPr lang="en-US" sz="1500" dirty="0">
                <a:solidFill>
                  <a:srgbClr val="3A4A66"/>
                </a:solidFill>
              </a:rPr>
              <a:t>and deadline management.</a:t>
            </a:r>
          </a:p>
        </p:txBody>
      </p:sp>
      <p:sp>
        <p:nvSpPr>
          <p:cNvPr id="122" name="Footer"/>
          <p:cNvSpPr txBox="1"/>
          <p:nvPr/>
        </p:nvSpPr>
        <p:spPr>
          <a:xfrm>
            <a:off x="457200" y="6629400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000" dirty="0">
                <a:solidFill>
                  <a:srgbClr val="3A4A66"/>
                </a:solidFill>
              </a:rPr>
              <a:t>Deep Learning and Applications Project Proposal</a:t>
            </a:r>
            <a:r>
              <a:rPr lang="en-US" sz="1000" dirty="0">
                <a:solidFill>
                  <a:srgbClr val="BFD4F5"/>
                </a:solidFill>
              </a:rPr>
              <a:t>    |    </a:t>
            </a:r>
            <a:r>
              <a:rPr lang="en-US" sz="1000" dirty="0">
                <a:solidFill>
                  <a:srgbClr val="3A4A66"/>
                </a:solidFill>
              </a:rPr>
              <a:t>Team aaa</a:t>
            </a:r>
            <a:r>
              <a:rPr lang="en-US" sz="1000" dirty="0">
                <a:solidFill>
                  <a:srgbClr val="BFD4F5"/>
                </a:solidFill>
              </a:rPr>
              <a:t>    |    </a:t>
            </a:r>
            <a:r>
              <a:rPr lang="en-US" sz="1000" dirty="0">
                <a:solidFill>
                  <a:srgbClr val="3A4A66"/>
                </a:solidFill>
              </a:rPr>
              <a:t>2026</a:t>
            </a:r>
          </a:p>
        </p:txBody>
      </p:sp>
      <p:pic>
        <p:nvPicPr>
          <p:cNvPr id="2" name="그림 1" descr="YouthPath,&#10;&#10;AI 생성 콘텐츠는 정확하지 않을 수 있습니다.">
            <a:extLst>
              <a:ext uri="{FF2B5EF4-FFF2-40B4-BE49-F238E27FC236}">
                <a16:creationId xmlns:a16="http://schemas.microsoft.com/office/drawing/2014/main" id="{A103945B-83A7-9389-3F71-7A0E10AF4C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000" t="14000" r="2000" b="12000"/>
          <a:stretch>
            <a:fillRect/>
          </a:stretch>
        </p:blipFill>
        <p:spPr>
          <a:xfrm>
            <a:off x="7112000" y="1033975"/>
            <a:ext cx="4826000" cy="4655625"/>
          </a:xfrm>
          <a:prstGeom prst="rect">
            <a:avLst/>
          </a:prstGeom>
        </p:spPr>
      </p:pic>
      <p:sp>
        <p:nvSpPr>
          <p:cNvPr id="200" name="FeatCard0"/>
          <p:cNvSpPr/>
          <p:nvPr/>
        </p:nvSpPr>
        <p:spPr>
          <a:xfrm>
            <a:off x="762000" y="5270500"/>
            <a:ext cx="1270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D4F5"/>
            </a:solidFill>
          </a:ln>
        </p:spPr>
        <p:txBody>
          <a:bodyPr wrap="square" lIns="45720" tIns="45720" rIns="45720" bIns="45720" anchor="t"/>
          <a:lstStyle/>
          <a:p>
            <a:endParaRPr lang="en-US"/>
          </a:p>
        </p:txBody>
      </p:sp>
      <p:sp>
        <p:nvSpPr>
          <p:cNvPr id="201" name="FeatLabel0"/>
          <p:cNvSpPr txBox="1"/>
          <p:nvPr/>
        </p:nvSpPr>
        <p:spPr>
          <a:xfrm>
            <a:off x="762000" y="5905500"/>
            <a:ext cx="1270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100" b="1" dirty="0">
                <a:solidFill>
                  <a:srgbClr val="0E2559"/>
                </a:solidFill>
              </a:rPr>
              <a:t>Policy</a:t>
            </a:r>
          </a:p>
          <a:p>
            <a:pPr algn="ctr"/>
            <a:r>
              <a:rPr lang="en-US" sz="1100" b="1" dirty="0">
                <a:solidFill>
                  <a:srgbClr val="0E2559"/>
                </a:solidFill>
              </a:rPr>
              <a:t>Matching</a:t>
            </a:r>
          </a:p>
        </p:txBody>
      </p:sp>
      <p:sp>
        <p:nvSpPr>
          <p:cNvPr id="202" name="FeatCard1"/>
          <p:cNvSpPr/>
          <p:nvPr/>
        </p:nvSpPr>
        <p:spPr>
          <a:xfrm>
            <a:off x="2209800" y="5270500"/>
            <a:ext cx="1270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D4F5"/>
            </a:solidFill>
          </a:ln>
        </p:spPr>
        <p:txBody>
          <a:bodyPr wrap="square" lIns="45720" tIns="45720" rIns="45720" bIns="45720" anchor="t"/>
          <a:lstStyle/>
          <a:p>
            <a:endParaRPr lang="en-US"/>
          </a:p>
        </p:txBody>
      </p:sp>
      <p:sp>
        <p:nvSpPr>
          <p:cNvPr id="203" name="FeatLabel1"/>
          <p:cNvSpPr txBox="1"/>
          <p:nvPr/>
        </p:nvSpPr>
        <p:spPr>
          <a:xfrm>
            <a:off x="2209800" y="5905500"/>
            <a:ext cx="1270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100" b="1" dirty="0">
                <a:solidFill>
                  <a:srgbClr val="0E2559"/>
                </a:solidFill>
              </a:rPr>
              <a:t>Job</a:t>
            </a:r>
          </a:p>
          <a:p>
            <a:pPr algn="ctr"/>
            <a:r>
              <a:rPr lang="en-US" sz="1100" b="1" dirty="0">
                <a:solidFill>
                  <a:srgbClr val="0E2559"/>
                </a:solidFill>
              </a:rPr>
              <a:t>Search</a:t>
            </a:r>
          </a:p>
        </p:txBody>
      </p:sp>
      <p:sp>
        <p:nvSpPr>
          <p:cNvPr id="204" name="FeatCard2"/>
          <p:cNvSpPr/>
          <p:nvPr/>
        </p:nvSpPr>
        <p:spPr>
          <a:xfrm>
            <a:off x="3657600" y="5270500"/>
            <a:ext cx="1270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D4F5"/>
            </a:solidFill>
          </a:ln>
        </p:spPr>
        <p:txBody>
          <a:bodyPr wrap="square" lIns="45720" tIns="45720" rIns="45720" bIns="45720" anchor="t"/>
          <a:lstStyle/>
          <a:p>
            <a:endParaRPr lang="en-US"/>
          </a:p>
        </p:txBody>
      </p:sp>
      <p:sp>
        <p:nvSpPr>
          <p:cNvPr id="205" name="FeatLabel2"/>
          <p:cNvSpPr txBox="1"/>
          <p:nvPr/>
        </p:nvSpPr>
        <p:spPr>
          <a:xfrm>
            <a:off x="3657600" y="5905500"/>
            <a:ext cx="1270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100" b="1" dirty="0">
                <a:solidFill>
                  <a:srgbClr val="0E2559"/>
                </a:solidFill>
              </a:rPr>
              <a:t>Resume</a:t>
            </a:r>
          </a:p>
          <a:p>
            <a:pPr algn="ctr"/>
            <a:r>
              <a:rPr lang="en-US" sz="1100" b="1" dirty="0">
                <a:solidFill>
                  <a:srgbClr val="0E2559"/>
                </a:solidFill>
              </a:rPr>
              <a:t>Coaching</a:t>
            </a:r>
          </a:p>
        </p:txBody>
      </p:sp>
      <p:sp>
        <p:nvSpPr>
          <p:cNvPr id="206" name="FeatCard3"/>
          <p:cNvSpPr/>
          <p:nvPr/>
        </p:nvSpPr>
        <p:spPr>
          <a:xfrm>
            <a:off x="5105400" y="5270500"/>
            <a:ext cx="1270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D4F5"/>
            </a:solidFill>
          </a:ln>
        </p:spPr>
        <p:txBody>
          <a:bodyPr wrap="square" lIns="45720" tIns="45720" rIns="45720" bIns="45720" anchor="t"/>
          <a:lstStyle/>
          <a:p>
            <a:endParaRPr lang="en-US"/>
          </a:p>
        </p:txBody>
      </p:sp>
      <p:sp>
        <p:nvSpPr>
          <p:cNvPr id="207" name="FeatLabel3"/>
          <p:cNvSpPr txBox="1"/>
          <p:nvPr/>
        </p:nvSpPr>
        <p:spPr>
          <a:xfrm>
            <a:off x="5105400" y="5905500"/>
            <a:ext cx="1270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100" b="1" dirty="0">
                <a:solidFill>
                  <a:srgbClr val="0E2559"/>
                </a:solidFill>
              </a:rPr>
              <a:t>Schedule</a:t>
            </a:r>
          </a:p>
          <a:p>
            <a:pPr algn="ctr"/>
            <a:r>
              <a:rPr lang="en-US" sz="1100" b="1" dirty="0">
                <a:solidFill>
                  <a:srgbClr val="0E2559"/>
                </a:solidFill>
              </a:rPr>
              <a:t>Alerts</a:t>
            </a:r>
          </a:p>
        </p:txBody>
      </p:sp>
      <p:pic>
        <p:nvPicPr>
          <p:cNvPr id="208" name="Graphic 20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0" y="5397500"/>
            <a:ext cx="355600" cy="355600"/>
          </a:xfrm>
          <a:prstGeom prst="rect">
            <a:avLst/>
          </a:prstGeom>
        </p:spPr>
      </p:pic>
      <p:pic>
        <p:nvPicPr>
          <p:cNvPr id="209" name="Graphic 20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67000" y="5397500"/>
            <a:ext cx="355600" cy="355600"/>
          </a:xfrm>
          <a:prstGeom prst="rect">
            <a:avLst/>
          </a:prstGeom>
        </p:spPr>
      </p:pic>
      <p:pic>
        <p:nvPicPr>
          <p:cNvPr id="210" name="Graphic 2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64000" y="5372100"/>
            <a:ext cx="355600" cy="355600"/>
          </a:xfrm>
          <a:prstGeom prst="rect">
            <a:avLst/>
          </a:prstGeom>
        </p:spPr>
      </p:pic>
      <p:pic>
        <p:nvPicPr>
          <p:cNvPr id="211" name="Graphic 2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67200" y="5511800"/>
            <a:ext cx="254000" cy="254000"/>
          </a:xfrm>
          <a:prstGeom prst="rect">
            <a:avLst/>
          </a:prstGeom>
        </p:spPr>
      </p:pic>
      <p:pic>
        <p:nvPicPr>
          <p:cNvPr id="212" name="Graphic 2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62600" y="53975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348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ection"/>
          <p:cNvSpPr txBox="1"/>
          <p:nvPr/>
        </p:nvSpPr>
        <p:spPr>
          <a:xfrm>
            <a:off x="9906000" y="406400"/>
            <a:ext cx="1905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en-US" sz="1100" b="1" dirty="0">
                <a:solidFill>
                  <a:srgbClr val="184ED2"/>
                </a:solidFill>
              </a:rPr>
              <a:t>PROBLEM</a:t>
            </a:r>
            <a:r>
              <a:rPr lang="en-US" sz="1100" dirty="0">
                <a:solidFill>
                  <a:srgbClr val="BFD4F5"/>
                </a:solidFill>
              </a:rPr>
              <a:t>    |    </a:t>
            </a:r>
            <a:r>
              <a:rPr lang="en-US" sz="1100" b="1" dirty="0">
                <a:solidFill>
                  <a:srgbClr val="0E2559"/>
                </a:solidFill>
              </a:rPr>
              <a:t>02</a:t>
            </a:r>
          </a:p>
        </p:txBody>
      </p:sp>
      <p:sp>
        <p:nvSpPr>
          <p:cNvPr id="101" name="Title"/>
          <p:cNvSpPr txBox="1"/>
          <p:nvPr/>
        </p:nvSpPr>
        <p:spPr>
          <a:xfrm>
            <a:off x="609600" y="762000"/>
            <a:ext cx="9652000" cy="114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3600" b="1" dirty="0">
                <a:solidFill>
                  <a:srgbClr val="0E2559"/>
                </a:solidFill>
              </a:rPr>
              <a:t>Why young job seekers need</a:t>
            </a:r>
          </a:p>
          <a:p>
            <a:r>
              <a:rPr lang="en-US" sz="3600" b="1" dirty="0">
                <a:solidFill>
                  <a:srgbClr val="0E2559"/>
                </a:solidFill>
              </a:rPr>
              <a:t>an integrated assistant</a:t>
            </a:r>
          </a:p>
        </p:txBody>
      </p:sp>
      <p:sp>
        <p:nvSpPr>
          <p:cNvPr id="102" name="CardTop0"/>
          <p:cNvSpPr/>
          <p:nvPr/>
        </p:nvSpPr>
        <p:spPr>
          <a:xfrm>
            <a:off x="723900" y="2540000"/>
            <a:ext cx="3429000" cy="177800"/>
          </a:xfrm>
          <a:prstGeom prst="roundRect">
            <a:avLst>
              <a:gd name="adj" fmla="val 30000"/>
            </a:avLst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3" name="CardTopMask0"/>
          <p:cNvSpPr/>
          <p:nvPr/>
        </p:nvSpPr>
        <p:spPr>
          <a:xfrm>
            <a:off x="723900" y="2641600"/>
            <a:ext cx="3429000" cy="101600"/>
          </a:xfrm>
          <a:prstGeom prst="rect">
            <a:avLst/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4" name="Card0"/>
          <p:cNvSpPr/>
          <p:nvPr/>
        </p:nvSpPr>
        <p:spPr>
          <a:xfrm>
            <a:off x="723900" y="2717800"/>
            <a:ext cx="3429000" cy="3378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5" name="CardTitle0"/>
          <p:cNvSpPr txBox="1"/>
          <p:nvPr/>
        </p:nvSpPr>
        <p:spPr>
          <a:xfrm>
            <a:off x="850900" y="4127500"/>
            <a:ext cx="3175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800" b="1" dirty="0">
                <a:solidFill>
                  <a:srgbClr val="0E2559"/>
                </a:solidFill>
              </a:rPr>
              <a:t>Scattered Information</a:t>
            </a:r>
          </a:p>
        </p:txBody>
      </p:sp>
      <p:sp>
        <p:nvSpPr>
          <p:cNvPr id="106" name="CardUnderline0"/>
          <p:cNvSpPr/>
          <p:nvPr/>
        </p:nvSpPr>
        <p:spPr>
          <a:xfrm>
            <a:off x="1866900" y="4546600"/>
            <a:ext cx="1143000" cy="19050"/>
          </a:xfrm>
          <a:prstGeom prst="rect">
            <a:avLst/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7" name="CardBody0"/>
          <p:cNvSpPr txBox="1"/>
          <p:nvPr/>
        </p:nvSpPr>
        <p:spPr>
          <a:xfrm>
            <a:off x="952500" y="4699000"/>
            <a:ext cx="2971800" cy="762000"/>
          </a:xfrm>
          <a:prstGeom prst="rect">
            <a:avLst/>
          </a:prstGeom>
          <a:noFill/>
        </p:spPr>
        <p:txBody>
          <a:bodyPr wrap="square" lIns="91440" tIns="0" rIns="91440" bIns="0" anchor="t"/>
          <a:lstStyle/>
          <a:p>
            <a:pPr algn="ctr"/>
            <a:r>
              <a:rPr lang="en-US" sz="1300" dirty="0">
                <a:solidFill>
                  <a:srgbClr val="3A4A66"/>
                </a:solidFill>
              </a:rPr>
              <a:t>Policies, jobs, resumes, and deadlines live across separate platforms.</a:t>
            </a:r>
          </a:p>
        </p:txBody>
      </p:sp>
      <p:sp>
        <p:nvSpPr>
          <p:cNvPr id="108" name="ArrowBox0"/>
          <p:cNvSpPr/>
          <p:nvPr/>
        </p:nvSpPr>
        <p:spPr>
          <a:xfrm>
            <a:off x="952500" y="5486400"/>
            <a:ext cx="2971800" cy="457200"/>
          </a:xfrm>
          <a:prstGeom prst="roundRect">
            <a:avLst>
              <a:gd name="adj" fmla="val 15000"/>
            </a:avLst>
          </a:prstGeom>
          <a:solidFill>
            <a:srgbClr val="E8EFF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9" name="ArrowText0"/>
          <p:cNvSpPr txBox="1"/>
          <p:nvPr/>
        </p:nvSpPr>
        <p:spPr>
          <a:xfrm>
            <a:off x="1282700" y="5588000"/>
            <a:ext cx="2667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b="1" dirty="0">
                <a:solidFill>
                  <a:srgbClr val="1446AF"/>
                </a:solidFill>
              </a:rPr>
              <a:t>Search cost increases</a:t>
            </a:r>
          </a:p>
        </p:txBody>
      </p:sp>
      <p:sp>
        <p:nvSpPr>
          <p:cNvPr id="110" name="CardTop1"/>
          <p:cNvSpPr/>
          <p:nvPr/>
        </p:nvSpPr>
        <p:spPr>
          <a:xfrm>
            <a:off x="4381500" y="2540000"/>
            <a:ext cx="3429000" cy="177800"/>
          </a:xfrm>
          <a:prstGeom prst="roundRect">
            <a:avLst>
              <a:gd name="adj" fmla="val 30000"/>
            </a:avLst>
          </a:prstGeom>
          <a:solidFill>
            <a:srgbClr val="184ED2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1" name="CardTopMask1"/>
          <p:cNvSpPr/>
          <p:nvPr/>
        </p:nvSpPr>
        <p:spPr>
          <a:xfrm>
            <a:off x="4381500" y="2641600"/>
            <a:ext cx="3429000" cy="101600"/>
          </a:xfrm>
          <a:prstGeom prst="rect">
            <a:avLst/>
          </a:prstGeom>
          <a:solidFill>
            <a:srgbClr val="184ED2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2" name="Card1"/>
          <p:cNvSpPr/>
          <p:nvPr/>
        </p:nvSpPr>
        <p:spPr>
          <a:xfrm>
            <a:off x="4381500" y="2717800"/>
            <a:ext cx="3429000" cy="3378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3" name="CardTitle1"/>
          <p:cNvSpPr txBox="1"/>
          <p:nvPr/>
        </p:nvSpPr>
        <p:spPr>
          <a:xfrm>
            <a:off x="4508500" y="4127500"/>
            <a:ext cx="3175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800" b="1" dirty="0">
                <a:solidFill>
                  <a:srgbClr val="0E2559"/>
                </a:solidFill>
              </a:rPr>
              <a:t>Eligibility Ambiguity</a:t>
            </a:r>
          </a:p>
        </p:txBody>
      </p:sp>
      <p:sp>
        <p:nvSpPr>
          <p:cNvPr id="114" name="CardUnderline1"/>
          <p:cNvSpPr/>
          <p:nvPr/>
        </p:nvSpPr>
        <p:spPr>
          <a:xfrm>
            <a:off x="5524500" y="4546600"/>
            <a:ext cx="1143000" cy="19050"/>
          </a:xfrm>
          <a:prstGeom prst="rect">
            <a:avLst/>
          </a:prstGeom>
          <a:solidFill>
            <a:srgbClr val="184ED2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5" name="CardBody1"/>
          <p:cNvSpPr txBox="1"/>
          <p:nvPr/>
        </p:nvSpPr>
        <p:spPr>
          <a:xfrm>
            <a:off x="4610100" y="4699000"/>
            <a:ext cx="2971800" cy="762000"/>
          </a:xfrm>
          <a:prstGeom prst="rect">
            <a:avLst/>
          </a:prstGeom>
          <a:noFill/>
        </p:spPr>
        <p:txBody>
          <a:bodyPr wrap="square" lIns="91440" tIns="0" rIns="91440" bIns="0" anchor="t"/>
          <a:lstStyle/>
          <a:p>
            <a:pPr algn="ctr"/>
            <a:r>
              <a:rPr lang="en-US" sz="1300" dirty="0">
                <a:solidFill>
                  <a:srgbClr val="3A4A66"/>
                </a:solidFill>
              </a:rPr>
              <a:t>It is hard to quickly know which programs fit a specific profile.</a:t>
            </a:r>
          </a:p>
        </p:txBody>
      </p:sp>
      <p:sp>
        <p:nvSpPr>
          <p:cNvPr id="116" name="ArrowBox1"/>
          <p:cNvSpPr/>
          <p:nvPr/>
        </p:nvSpPr>
        <p:spPr>
          <a:xfrm>
            <a:off x="4610100" y="5486400"/>
            <a:ext cx="2971800" cy="457200"/>
          </a:xfrm>
          <a:prstGeom prst="roundRect">
            <a:avLst>
              <a:gd name="adj" fmla="val 15000"/>
            </a:avLst>
          </a:prstGeom>
          <a:solidFill>
            <a:srgbClr val="E8EFF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7" name="ArrowText1"/>
          <p:cNvSpPr txBox="1"/>
          <p:nvPr/>
        </p:nvSpPr>
        <p:spPr>
          <a:xfrm>
            <a:off x="4940300" y="5588000"/>
            <a:ext cx="2667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b="1" dirty="0">
                <a:solidFill>
                  <a:srgbClr val="184ED2"/>
                </a:solidFill>
              </a:rPr>
              <a:t>Personalized guidance is missing</a:t>
            </a:r>
          </a:p>
        </p:txBody>
      </p:sp>
      <p:sp>
        <p:nvSpPr>
          <p:cNvPr id="118" name="CardTop2"/>
          <p:cNvSpPr/>
          <p:nvPr/>
        </p:nvSpPr>
        <p:spPr>
          <a:xfrm>
            <a:off x="8039100" y="2540000"/>
            <a:ext cx="3429000" cy="177800"/>
          </a:xfrm>
          <a:prstGeom prst="roundRect">
            <a:avLst>
              <a:gd name="adj" fmla="val 30000"/>
            </a:avLst>
          </a:prstGeom>
          <a:solidFill>
            <a:srgbClr val="4DB8E8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9" name="CardTopMask2"/>
          <p:cNvSpPr/>
          <p:nvPr/>
        </p:nvSpPr>
        <p:spPr>
          <a:xfrm>
            <a:off x="8039100" y="2641600"/>
            <a:ext cx="3429000" cy="101600"/>
          </a:xfrm>
          <a:prstGeom prst="rect">
            <a:avLst/>
          </a:prstGeom>
          <a:solidFill>
            <a:srgbClr val="4DB8E8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0" name="Card2"/>
          <p:cNvSpPr/>
          <p:nvPr/>
        </p:nvSpPr>
        <p:spPr>
          <a:xfrm>
            <a:off x="8039100" y="2717800"/>
            <a:ext cx="3429000" cy="3378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1" name="CardTitle2"/>
          <p:cNvSpPr txBox="1"/>
          <p:nvPr/>
        </p:nvSpPr>
        <p:spPr>
          <a:xfrm>
            <a:off x="8166100" y="4127500"/>
            <a:ext cx="3175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800" b="1" dirty="0">
                <a:solidFill>
                  <a:srgbClr val="0E2559"/>
                </a:solidFill>
              </a:rPr>
              <a:t>Missed Deadlines</a:t>
            </a:r>
          </a:p>
        </p:txBody>
      </p:sp>
      <p:sp>
        <p:nvSpPr>
          <p:cNvPr id="122" name="CardUnderline2"/>
          <p:cNvSpPr/>
          <p:nvPr/>
        </p:nvSpPr>
        <p:spPr>
          <a:xfrm>
            <a:off x="9182100" y="4546600"/>
            <a:ext cx="1143000" cy="19050"/>
          </a:xfrm>
          <a:prstGeom prst="rect">
            <a:avLst/>
          </a:prstGeom>
          <a:solidFill>
            <a:srgbClr val="4DB8E8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3" name="CardBody2"/>
          <p:cNvSpPr txBox="1"/>
          <p:nvPr/>
        </p:nvSpPr>
        <p:spPr>
          <a:xfrm>
            <a:off x="8267700" y="4699000"/>
            <a:ext cx="2971800" cy="762000"/>
          </a:xfrm>
          <a:prstGeom prst="rect">
            <a:avLst/>
          </a:prstGeom>
          <a:noFill/>
        </p:spPr>
        <p:txBody>
          <a:bodyPr wrap="square" lIns="91440" tIns="0" rIns="91440" bIns="0" anchor="t"/>
          <a:lstStyle/>
          <a:p>
            <a:pPr algn="ctr"/>
            <a:r>
              <a:rPr lang="en-US" sz="1300" dirty="0">
                <a:solidFill>
                  <a:srgbClr val="3A4A66"/>
                </a:solidFill>
              </a:rPr>
              <a:t>Application and hiring schedules are fragmented, so opportunities are easy to miss.</a:t>
            </a:r>
          </a:p>
        </p:txBody>
      </p:sp>
      <p:sp>
        <p:nvSpPr>
          <p:cNvPr id="124" name="ArrowBox2"/>
          <p:cNvSpPr/>
          <p:nvPr/>
        </p:nvSpPr>
        <p:spPr>
          <a:xfrm>
            <a:off x="8267700" y="5486400"/>
            <a:ext cx="2971800" cy="457200"/>
          </a:xfrm>
          <a:prstGeom prst="roundRect">
            <a:avLst>
              <a:gd name="adj" fmla="val 15000"/>
            </a:avLst>
          </a:prstGeom>
          <a:solidFill>
            <a:srgbClr val="E8EFF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5" name="ArrowText2"/>
          <p:cNvSpPr txBox="1"/>
          <p:nvPr/>
        </p:nvSpPr>
        <p:spPr>
          <a:xfrm>
            <a:off x="8597900" y="5588000"/>
            <a:ext cx="2667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b="1" dirty="0">
                <a:solidFill>
                  <a:srgbClr val="0E2559"/>
                </a:solidFill>
              </a:rPr>
              <a:t>Execution timing is lost</a:t>
            </a:r>
          </a:p>
        </p:txBody>
      </p:sp>
      <p:sp>
        <p:nvSpPr>
          <p:cNvPr id="126" name="Footer"/>
          <p:cNvSpPr txBox="1"/>
          <p:nvPr/>
        </p:nvSpPr>
        <p:spPr>
          <a:xfrm>
            <a:off x="457200" y="6654800"/>
            <a:ext cx="762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000" dirty="0">
                <a:solidFill>
                  <a:srgbClr val="184ED2"/>
                </a:solidFill>
              </a:rPr>
              <a:t>Proposal criterion: Problem definition and motivation</a:t>
            </a:r>
          </a:p>
        </p:txBody>
      </p:sp>
      <p:pic>
        <p:nvPicPr>
          <p:cNvPr id="127" name="Graphic 12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49400" y="2921000"/>
            <a:ext cx="965200" cy="965200"/>
          </a:xfrm>
          <a:prstGeom prst="rect">
            <a:avLst/>
          </a:prstGeom>
        </p:spPr>
      </p:pic>
      <p:pic>
        <p:nvPicPr>
          <p:cNvPr id="128" name="Graphic 12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07000" y="2921000"/>
            <a:ext cx="965200" cy="965200"/>
          </a:xfrm>
          <a:prstGeom prst="rect">
            <a:avLst/>
          </a:prstGeom>
        </p:spPr>
      </p:pic>
      <p:pic>
        <p:nvPicPr>
          <p:cNvPr id="129" name="Graphic 12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64600" y="2921000"/>
            <a:ext cx="965200" cy="965200"/>
          </a:xfrm>
          <a:prstGeom prst="rect">
            <a:avLst/>
          </a:prstGeom>
        </p:spPr>
      </p:pic>
      <p:pic>
        <p:nvPicPr>
          <p:cNvPr id="130" name="Graphic 13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3600" y="5575300"/>
            <a:ext cx="228600" cy="228600"/>
          </a:xfrm>
          <a:prstGeom prst="rect">
            <a:avLst/>
          </a:prstGeom>
        </p:spPr>
      </p:pic>
      <p:pic>
        <p:nvPicPr>
          <p:cNvPr id="131" name="Graphic 13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21200" y="5575300"/>
            <a:ext cx="228600" cy="228600"/>
          </a:xfrm>
          <a:prstGeom prst="rect">
            <a:avLst/>
          </a:prstGeom>
        </p:spPr>
      </p:pic>
      <p:pic>
        <p:nvPicPr>
          <p:cNvPr id="132" name="Graphic 13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78800" y="5575300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005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ection"/>
          <p:cNvSpPr txBox="1"/>
          <p:nvPr/>
        </p:nvSpPr>
        <p:spPr>
          <a:xfrm>
            <a:off x="9906000" y="406400"/>
            <a:ext cx="1905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en-US" sz="1100" b="1" dirty="0">
                <a:solidFill>
                  <a:srgbClr val="184ED2"/>
                </a:solidFill>
              </a:rPr>
              <a:t>RELATED WORK</a:t>
            </a:r>
            <a:r>
              <a:rPr lang="en-US" sz="1100" dirty="0">
                <a:solidFill>
                  <a:srgbClr val="BFD4F5"/>
                </a:solidFill>
              </a:rPr>
              <a:t>    |    </a:t>
            </a:r>
            <a:r>
              <a:rPr lang="en-US" sz="1100" b="1" dirty="0">
                <a:solidFill>
                  <a:srgbClr val="0E2559"/>
                </a:solidFill>
              </a:rPr>
              <a:t>03</a:t>
            </a:r>
          </a:p>
        </p:txBody>
      </p:sp>
      <p:sp>
        <p:nvSpPr>
          <p:cNvPr id="101" name="Title"/>
          <p:cNvSpPr txBox="1"/>
          <p:nvPr/>
        </p:nvSpPr>
        <p:spPr>
          <a:xfrm>
            <a:off x="609600" y="762000"/>
            <a:ext cx="9652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3600" b="1" dirty="0">
                <a:solidFill>
                  <a:srgbClr val="0E2559"/>
                </a:solidFill>
              </a:rPr>
              <a:t>Gaps in existing services</a:t>
            </a:r>
          </a:p>
        </p:txBody>
      </p:sp>
      <p:sp>
        <p:nvSpPr>
          <p:cNvPr id="102" name="TableBg"/>
          <p:cNvSpPr/>
          <p:nvPr/>
        </p:nvSpPr>
        <p:spPr>
          <a:xfrm>
            <a:off x="635000" y="2032000"/>
            <a:ext cx="10922000" cy="4191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3" name="HeaderBar"/>
          <p:cNvSpPr/>
          <p:nvPr/>
        </p:nvSpPr>
        <p:spPr>
          <a:xfrm>
            <a:off x="635000" y="2032000"/>
            <a:ext cx="10922000" cy="635000"/>
          </a:xfrm>
          <a:prstGeom prst="roundRect">
            <a:avLst>
              <a:gd name="adj" fmla="val 6000"/>
            </a:avLst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4" name="HeaderMask"/>
          <p:cNvSpPr/>
          <p:nvPr/>
        </p:nvSpPr>
        <p:spPr>
          <a:xfrm>
            <a:off x="635000" y="2349500"/>
            <a:ext cx="10922000" cy="317500"/>
          </a:xfrm>
          <a:prstGeom prst="rect">
            <a:avLst/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5" name="H0"/>
          <p:cNvSpPr txBox="1"/>
          <p:nvPr/>
        </p:nvSpPr>
        <p:spPr>
          <a:xfrm>
            <a:off x="635000" y="2222500"/>
            <a:ext cx="2794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106" name="H1"/>
          <p:cNvSpPr txBox="1"/>
          <p:nvPr/>
        </p:nvSpPr>
        <p:spPr>
          <a:xfrm>
            <a:off x="3429000" y="2222500"/>
            <a:ext cx="2540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Strength</a:t>
            </a:r>
          </a:p>
        </p:txBody>
      </p:sp>
      <p:sp>
        <p:nvSpPr>
          <p:cNvPr id="107" name="H2"/>
          <p:cNvSpPr txBox="1"/>
          <p:nvPr/>
        </p:nvSpPr>
        <p:spPr>
          <a:xfrm>
            <a:off x="5969000" y="2222500"/>
            <a:ext cx="2794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Limitation</a:t>
            </a:r>
          </a:p>
        </p:txBody>
      </p:sp>
      <p:sp>
        <p:nvSpPr>
          <p:cNvPr id="108" name="H3"/>
          <p:cNvSpPr txBox="1"/>
          <p:nvPr/>
        </p:nvSpPr>
        <p:spPr>
          <a:xfrm>
            <a:off x="8763000" y="2222500"/>
            <a:ext cx="2794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YouthPath Improvement</a:t>
            </a:r>
          </a:p>
        </p:txBody>
      </p:sp>
      <p:sp>
        <p:nvSpPr>
          <p:cNvPr id="109" name="R0C0"/>
          <p:cNvSpPr txBox="1"/>
          <p:nvPr/>
        </p:nvSpPr>
        <p:spPr>
          <a:xfrm>
            <a:off x="1333500" y="2971800"/>
            <a:ext cx="2032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400" b="1" dirty="0">
                <a:solidFill>
                  <a:srgbClr val="0E2559"/>
                </a:solidFill>
              </a:rPr>
              <a:t>OnTong Youth</a:t>
            </a:r>
          </a:p>
        </p:txBody>
      </p:sp>
      <p:sp>
        <p:nvSpPr>
          <p:cNvPr id="110" name="R0C1"/>
          <p:cNvSpPr txBox="1"/>
          <p:nvPr/>
        </p:nvSpPr>
        <p:spPr>
          <a:xfrm>
            <a:off x="3530600" y="2895600"/>
            <a:ext cx="23368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300" dirty="0">
                <a:solidFill>
                  <a:srgbClr val="3A4A66"/>
                </a:solidFill>
              </a:rPr>
              <a:t>Integrated policy information</a:t>
            </a:r>
          </a:p>
        </p:txBody>
      </p:sp>
      <p:sp>
        <p:nvSpPr>
          <p:cNvPr id="111" name="R0C2"/>
          <p:cNvSpPr txBox="1"/>
          <p:nvPr/>
        </p:nvSpPr>
        <p:spPr>
          <a:xfrm>
            <a:off x="6070600" y="2895600"/>
            <a:ext cx="25908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300" dirty="0">
                <a:solidFill>
                  <a:srgbClr val="3A4A66"/>
                </a:solidFill>
              </a:rPr>
              <a:t>Weak personal context</a:t>
            </a:r>
          </a:p>
        </p:txBody>
      </p:sp>
      <p:sp>
        <p:nvSpPr>
          <p:cNvPr id="112" name="R0C3"/>
          <p:cNvSpPr txBox="1"/>
          <p:nvPr/>
        </p:nvSpPr>
        <p:spPr>
          <a:xfrm>
            <a:off x="8864600" y="2895600"/>
            <a:ext cx="25908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300" b="1" dirty="0">
                <a:solidFill>
                  <a:srgbClr val="184ED2"/>
                </a:solidFill>
              </a:rPr>
              <a:t>Profile-based policy matching</a:t>
            </a:r>
          </a:p>
        </p:txBody>
      </p:sp>
      <p:sp>
        <p:nvSpPr>
          <p:cNvPr id="113" name="Sep1"/>
          <p:cNvSpPr/>
          <p:nvPr/>
        </p:nvSpPr>
        <p:spPr>
          <a:xfrm>
            <a:off x="762000" y="3556000"/>
            <a:ext cx="10668000" cy="635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4" name="R1C0"/>
          <p:cNvSpPr txBox="1"/>
          <p:nvPr/>
        </p:nvSpPr>
        <p:spPr>
          <a:xfrm>
            <a:off x="1333500" y="3860800"/>
            <a:ext cx="2032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400" b="1" dirty="0">
                <a:solidFill>
                  <a:srgbClr val="0E2559"/>
                </a:solidFill>
              </a:rPr>
              <a:t>WorkNet / JobKorea</a:t>
            </a:r>
          </a:p>
        </p:txBody>
      </p:sp>
      <p:sp>
        <p:nvSpPr>
          <p:cNvPr id="115" name="R1C1"/>
          <p:cNvSpPr txBox="1"/>
          <p:nvPr/>
        </p:nvSpPr>
        <p:spPr>
          <a:xfrm>
            <a:off x="3530600" y="3784600"/>
            <a:ext cx="23368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300" dirty="0">
                <a:solidFill>
                  <a:srgbClr val="3A4A66"/>
                </a:solidFill>
              </a:rPr>
              <a:t>Rich job listings</a:t>
            </a:r>
          </a:p>
        </p:txBody>
      </p:sp>
      <p:sp>
        <p:nvSpPr>
          <p:cNvPr id="116" name="R1C2"/>
          <p:cNvSpPr txBox="1"/>
          <p:nvPr/>
        </p:nvSpPr>
        <p:spPr>
          <a:xfrm>
            <a:off x="6070600" y="3784600"/>
            <a:ext cx="25908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300" dirty="0">
                <a:solidFill>
                  <a:srgbClr val="3A4A66"/>
                </a:solidFill>
              </a:rPr>
              <a:t>Separated from policy and schedules</a:t>
            </a:r>
          </a:p>
        </p:txBody>
      </p:sp>
      <p:sp>
        <p:nvSpPr>
          <p:cNvPr id="117" name="R1C3"/>
          <p:cNvSpPr txBox="1"/>
          <p:nvPr/>
        </p:nvSpPr>
        <p:spPr>
          <a:xfrm>
            <a:off x="8864600" y="3784600"/>
            <a:ext cx="25908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300" b="1" dirty="0">
                <a:solidFill>
                  <a:srgbClr val="184ED2"/>
                </a:solidFill>
              </a:rPr>
              <a:t>Connect jobs and policies</a:t>
            </a:r>
          </a:p>
        </p:txBody>
      </p:sp>
      <p:sp>
        <p:nvSpPr>
          <p:cNvPr id="118" name="Sep2"/>
          <p:cNvSpPr/>
          <p:nvPr/>
        </p:nvSpPr>
        <p:spPr>
          <a:xfrm>
            <a:off x="762000" y="4445000"/>
            <a:ext cx="10668000" cy="635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9" name="R2C0"/>
          <p:cNvSpPr txBox="1"/>
          <p:nvPr/>
        </p:nvSpPr>
        <p:spPr>
          <a:xfrm>
            <a:off x="1333500" y="4749800"/>
            <a:ext cx="2032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400" b="1" dirty="0">
                <a:solidFill>
                  <a:srgbClr val="0E2559"/>
                </a:solidFill>
              </a:rPr>
              <a:t>General LLM</a:t>
            </a:r>
          </a:p>
        </p:txBody>
      </p:sp>
      <p:sp>
        <p:nvSpPr>
          <p:cNvPr id="120" name="R2C1"/>
          <p:cNvSpPr txBox="1"/>
          <p:nvPr/>
        </p:nvSpPr>
        <p:spPr>
          <a:xfrm>
            <a:off x="3530600" y="4673600"/>
            <a:ext cx="23368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300" dirty="0">
                <a:solidFill>
                  <a:srgbClr val="3A4A66"/>
                </a:solidFill>
              </a:rPr>
              <a:t>Natural language consultation</a:t>
            </a:r>
          </a:p>
        </p:txBody>
      </p:sp>
      <p:sp>
        <p:nvSpPr>
          <p:cNvPr id="121" name="R2C2"/>
          <p:cNvSpPr txBox="1"/>
          <p:nvPr/>
        </p:nvSpPr>
        <p:spPr>
          <a:xfrm>
            <a:off x="6070600" y="4673600"/>
            <a:ext cx="25908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300" dirty="0">
                <a:solidFill>
                  <a:srgbClr val="3A4A66"/>
                </a:solidFill>
              </a:rPr>
              <a:t>Unstable recency and sources</a:t>
            </a:r>
          </a:p>
        </p:txBody>
      </p:sp>
      <p:sp>
        <p:nvSpPr>
          <p:cNvPr id="122" name="R2C3"/>
          <p:cNvSpPr txBox="1"/>
          <p:nvPr/>
        </p:nvSpPr>
        <p:spPr>
          <a:xfrm>
            <a:off x="8864600" y="4673600"/>
            <a:ext cx="25908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300" b="1" dirty="0">
                <a:solidFill>
                  <a:srgbClr val="184ED2"/>
                </a:solidFill>
              </a:rPr>
              <a:t>RAG-based grounded answers</a:t>
            </a:r>
          </a:p>
        </p:txBody>
      </p:sp>
      <p:sp>
        <p:nvSpPr>
          <p:cNvPr id="123" name="Sep3"/>
          <p:cNvSpPr/>
          <p:nvPr/>
        </p:nvSpPr>
        <p:spPr>
          <a:xfrm>
            <a:off x="762000" y="5334000"/>
            <a:ext cx="10668000" cy="635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4" name="R3C0"/>
          <p:cNvSpPr txBox="1"/>
          <p:nvPr/>
        </p:nvSpPr>
        <p:spPr>
          <a:xfrm>
            <a:off x="1333500" y="5638800"/>
            <a:ext cx="2032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400" b="1" dirty="0">
                <a:solidFill>
                  <a:srgbClr val="0E2559"/>
                </a:solidFill>
              </a:rPr>
              <a:t>Personal Calendar</a:t>
            </a:r>
          </a:p>
        </p:txBody>
      </p:sp>
      <p:sp>
        <p:nvSpPr>
          <p:cNvPr id="125" name="R3C1"/>
          <p:cNvSpPr txBox="1"/>
          <p:nvPr/>
        </p:nvSpPr>
        <p:spPr>
          <a:xfrm>
            <a:off x="3530600" y="5562600"/>
            <a:ext cx="23368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300" dirty="0">
                <a:solidFill>
                  <a:srgbClr val="3A4A66"/>
                </a:solidFill>
              </a:rPr>
              <a:t>Schedule management</a:t>
            </a:r>
          </a:p>
        </p:txBody>
      </p:sp>
      <p:sp>
        <p:nvSpPr>
          <p:cNvPr id="126" name="R3C2"/>
          <p:cNvSpPr txBox="1"/>
          <p:nvPr/>
        </p:nvSpPr>
        <p:spPr>
          <a:xfrm>
            <a:off x="6070600" y="5562600"/>
            <a:ext cx="25908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300" dirty="0">
                <a:solidFill>
                  <a:srgbClr val="3A4A66"/>
                </a:solidFill>
              </a:rPr>
              <a:t>Disconnected from opportunity search</a:t>
            </a:r>
          </a:p>
        </p:txBody>
      </p:sp>
      <p:sp>
        <p:nvSpPr>
          <p:cNvPr id="127" name="R3C3"/>
          <p:cNvSpPr txBox="1"/>
          <p:nvPr/>
        </p:nvSpPr>
        <p:spPr>
          <a:xfrm>
            <a:off x="8864600" y="5562600"/>
            <a:ext cx="25908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300" b="1" dirty="0">
                <a:solidFill>
                  <a:srgbClr val="184ED2"/>
                </a:solidFill>
              </a:rPr>
              <a:t>Automatic deadline registration</a:t>
            </a:r>
          </a:p>
        </p:txBody>
      </p:sp>
      <p:sp>
        <p:nvSpPr>
          <p:cNvPr id="128" name="Footer"/>
          <p:cNvSpPr txBox="1"/>
          <p:nvPr/>
        </p:nvSpPr>
        <p:spPr>
          <a:xfrm>
            <a:off x="457200" y="6654800"/>
            <a:ext cx="762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000" dirty="0">
                <a:solidFill>
                  <a:srgbClr val="184ED2"/>
                </a:solidFill>
              </a:rPr>
              <a:t>Proposal criterion: Related work and differentiation</a:t>
            </a:r>
          </a:p>
        </p:txBody>
      </p:sp>
      <p:pic>
        <p:nvPicPr>
          <p:cNvPr id="129" name="Graphic 12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3600" y="2819400"/>
            <a:ext cx="406400" cy="406400"/>
          </a:xfrm>
          <a:prstGeom prst="rect">
            <a:avLst/>
          </a:prstGeom>
        </p:spPr>
      </p:pic>
      <p:pic>
        <p:nvPicPr>
          <p:cNvPr id="130" name="Graphic 13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3600" y="3708400"/>
            <a:ext cx="406400" cy="406400"/>
          </a:xfrm>
          <a:prstGeom prst="rect">
            <a:avLst/>
          </a:prstGeom>
        </p:spPr>
      </p:pic>
      <p:pic>
        <p:nvPicPr>
          <p:cNvPr id="131" name="Graphic 13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3600" y="4597400"/>
            <a:ext cx="406400" cy="406400"/>
          </a:xfrm>
          <a:prstGeom prst="rect">
            <a:avLst/>
          </a:prstGeom>
        </p:spPr>
      </p:pic>
      <p:pic>
        <p:nvPicPr>
          <p:cNvPr id="132" name="Graphic 13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3600" y="54864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987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ection"/>
          <p:cNvSpPr txBox="1"/>
          <p:nvPr/>
        </p:nvSpPr>
        <p:spPr>
          <a:xfrm>
            <a:off x="9906000" y="406400"/>
            <a:ext cx="1905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en-US" sz="1100" b="1" dirty="0">
                <a:solidFill>
                  <a:srgbClr val="184ED2"/>
                </a:solidFill>
              </a:rPr>
              <a:t>SOLUTION</a:t>
            </a:r>
            <a:r>
              <a:rPr lang="en-US" sz="1100" dirty="0">
                <a:solidFill>
                  <a:srgbClr val="BFD4F5"/>
                </a:solidFill>
              </a:rPr>
              <a:t>    |    </a:t>
            </a:r>
            <a:r>
              <a:rPr lang="en-US" sz="1100" b="1" dirty="0">
                <a:solidFill>
                  <a:srgbClr val="0E2559"/>
                </a:solidFill>
              </a:rPr>
              <a:t>04</a:t>
            </a:r>
          </a:p>
        </p:txBody>
      </p:sp>
      <p:sp>
        <p:nvSpPr>
          <p:cNvPr id="101" name="Title"/>
          <p:cNvSpPr txBox="1"/>
          <p:nvPr/>
        </p:nvSpPr>
        <p:spPr>
          <a:xfrm>
            <a:off x="609600" y="762000"/>
            <a:ext cx="9652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3600" b="1" dirty="0">
                <a:solidFill>
                  <a:srgbClr val="0E2559"/>
                </a:solidFill>
              </a:rPr>
              <a:t>The integrated YouthPath experience</a:t>
            </a:r>
          </a:p>
        </p:txBody>
      </p:sp>
      <p:sp>
        <p:nvSpPr>
          <p:cNvPr id="102" name="Hub"/>
          <p:cNvSpPr/>
          <p:nvPr/>
        </p:nvSpPr>
        <p:spPr>
          <a:xfrm>
            <a:off x="5207000" y="2730500"/>
            <a:ext cx="1778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446AF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3" name="HubTitle"/>
          <p:cNvSpPr txBox="1"/>
          <p:nvPr/>
        </p:nvSpPr>
        <p:spPr>
          <a:xfrm>
            <a:off x="5207000" y="3365500"/>
            <a:ext cx="1778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700" b="1" dirty="0">
                <a:solidFill>
                  <a:srgbClr val="0E2559"/>
                </a:solidFill>
              </a:rPr>
              <a:t>User Profile</a:t>
            </a:r>
          </a:p>
        </p:txBody>
      </p:sp>
      <p:sp>
        <p:nvSpPr>
          <p:cNvPr id="104" name="HubUL"/>
          <p:cNvSpPr/>
          <p:nvPr/>
        </p:nvSpPr>
        <p:spPr>
          <a:xfrm>
            <a:off x="5588000" y="3771900"/>
            <a:ext cx="1016000" cy="19050"/>
          </a:xfrm>
          <a:prstGeom prst="rect">
            <a:avLst/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5" name="HubSub"/>
          <p:cNvSpPr txBox="1"/>
          <p:nvPr/>
        </p:nvSpPr>
        <p:spPr>
          <a:xfrm>
            <a:off x="5308600" y="3873500"/>
            <a:ext cx="15748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100" dirty="0">
                <a:solidFill>
                  <a:srgbClr val="3A4A66"/>
                </a:solidFill>
              </a:rPr>
              <a:t>major · experience ·</a:t>
            </a:r>
          </a:p>
          <a:p>
            <a:pPr algn="ctr"/>
            <a:r>
              <a:rPr lang="en-US" sz="1100" dirty="0">
                <a:solidFill>
                  <a:srgbClr val="3A4A66"/>
                </a:solidFill>
              </a:rPr>
              <a:t>region · target role</a:t>
            </a:r>
          </a:p>
        </p:txBody>
      </p:sp>
      <p:sp>
        <p:nvSpPr>
          <p:cNvPr id="106" name="Card_NW"/>
          <p:cNvSpPr/>
          <p:nvPr/>
        </p:nvSpPr>
        <p:spPr>
          <a:xfrm>
            <a:off x="635000" y="2159000"/>
            <a:ext cx="31750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7" name="CTitle_NW"/>
          <p:cNvSpPr txBox="1"/>
          <p:nvPr/>
        </p:nvSpPr>
        <p:spPr>
          <a:xfrm>
            <a:off x="1625600" y="2387600"/>
            <a:ext cx="20828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500" b="1" dirty="0">
                <a:solidFill>
                  <a:srgbClr val="0E2559"/>
                </a:solidFill>
              </a:rPr>
              <a:t>1. Policy Matching</a:t>
            </a:r>
          </a:p>
        </p:txBody>
      </p:sp>
      <p:sp>
        <p:nvSpPr>
          <p:cNvPr id="108" name="CUL_NW"/>
          <p:cNvSpPr/>
          <p:nvPr/>
        </p:nvSpPr>
        <p:spPr>
          <a:xfrm>
            <a:off x="1625600" y="2844800"/>
            <a:ext cx="2006600" cy="1524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9" name="CBody_NW"/>
          <p:cNvSpPr txBox="1"/>
          <p:nvPr/>
        </p:nvSpPr>
        <p:spPr>
          <a:xfrm>
            <a:off x="1625600" y="2946400"/>
            <a:ext cx="20828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dirty="0">
                <a:solidFill>
                  <a:srgbClr val="3A4A66"/>
                </a:solidFill>
              </a:rPr>
              <a:t>Interprets eligibility rules and explains likely application fit</a:t>
            </a:r>
          </a:p>
        </p:txBody>
      </p:sp>
      <p:sp>
        <p:nvSpPr>
          <p:cNvPr id="110" name="Card_NE"/>
          <p:cNvSpPr/>
          <p:nvPr/>
        </p:nvSpPr>
        <p:spPr>
          <a:xfrm>
            <a:off x="8382000" y="2159000"/>
            <a:ext cx="31750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1" name="CTitle_NE"/>
          <p:cNvSpPr txBox="1"/>
          <p:nvPr/>
        </p:nvSpPr>
        <p:spPr>
          <a:xfrm>
            <a:off x="9372600" y="2387600"/>
            <a:ext cx="20828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500" b="1" dirty="0">
                <a:solidFill>
                  <a:srgbClr val="0E2559"/>
                </a:solidFill>
              </a:rPr>
              <a:t>2. Job Recommendation</a:t>
            </a:r>
          </a:p>
        </p:txBody>
      </p:sp>
      <p:sp>
        <p:nvSpPr>
          <p:cNvPr id="112" name="CUL_NE"/>
          <p:cNvSpPr/>
          <p:nvPr/>
        </p:nvSpPr>
        <p:spPr>
          <a:xfrm>
            <a:off x="9372600" y="2844800"/>
            <a:ext cx="2006600" cy="1524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3" name="CBody_NE"/>
          <p:cNvSpPr txBox="1"/>
          <p:nvPr/>
        </p:nvSpPr>
        <p:spPr>
          <a:xfrm>
            <a:off x="9372600" y="2946400"/>
            <a:ext cx="20828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dirty="0">
                <a:solidFill>
                  <a:srgbClr val="3A4A66"/>
                </a:solidFill>
              </a:rPr>
              <a:t>Recommends postings by role, region, and experience</a:t>
            </a:r>
          </a:p>
        </p:txBody>
      </p:sp>
      <p:sp>
        <p:nvSpPr>
          <p:cNvPr id="114" name="Card_SW"/>
          <p:cNvSpPr/>
          <p:nvPr/>
        </p:nvSpPr>
        <p:spPr>
          <a:xfrm>
            <a:off x="635000" y="4191000"/>
            <a:ext cx="31750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5" name="CTitle_SW"/>
          <p:cNvSpPr txBox="1"/>
          <p:nvPr/>
        </p:nvSpPr>
        <p:spPr>
          <a:xfrm>
            <a:off x="1625600" y="4419600"/>
            <a:ext cx="20828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500" b="1" dirty="0">
                <a:solidFill>
                  <a:srgbClr val="0E2559"/>
                </a:solidFill>
              </a:rPr>
              <a:t>3. Resume &amp; Interview Coaching</a:t>
            </a:r>
          </a:p>
        </p:txBody>
      </p:sp>
      <p:sp>
        <p:nvSpPr>
          <p:cNvPr id="116" name="CUL_SW"/>
          <p:cNvSpPr/>
          <p:nvPr/>
        </p:nvSpPr>
        <p:spPr>
          <a:xfrm>
            <a:off x="1625600" y="4876800"/>
            <a:ext cx="2006600" cy="1524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7" name="CBody_SW"/>
          <p:cNvSpPr txBox="1"/>
          <p:nvPr/>
        </p:nvSpPr>
        <p:spPr>
          <a:xfrm>
            <a:off x="1625600" y="4978400"/>
            <a:ext cx="20828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dirty="0">
                <a:solidFill>
                  <a:srgbClr val="3A4A66"/>
                </a:solidFill>
              </a:rPr>
              <a:t>Gives role-aware feedback and improvement suggestions</a:t>
            </a:r>
          </a:p>
        </p:txBody>
      </p:sp>
      <p:sp>
        <p:nvSpPr>
          <p:cNvPr id="118" name="Card_SE"/>
          <p:cNvSpPr/>
          <p:nvPr/>
        </p:nvSpPr>
        <p:spPr>
          <a:xfrm>
            <a:off x="8382000" y="4191000"/>
            <a:ext cx="31750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9" name="CTitle_SE"/>
          <p:cNvSpPr txBox="1"/>
          <p:nvPr/>
        </p:nvSpPr>
        <p:spPr>
          <a:xfrm>
            <a:off x="9372600" y="4419600"/>
            <a:ext cx="20828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500" b="1" dirty="0">
                <a:solidFill>
                  <a:srgbClr val="0E2559"/>
                </a:solidFill>
              </a:rPr>
              <a:t>4. Calendar &amp; Deadline Alerts</a:t>
            </a:r>
          </a:p>
        </p:txBody>
      </p:sp>
      <p:sp>
        <p:nvSpPr>
          <p:cNvPr id="120" name="CUL_SE"/>
          <p:cNvSpPr/>
          <p:nvPr/>
        </p:nvSpPr>
        <p:spPr>
          <a:xfrm>
            <a:off x="9372600" y="4876800"/>
            <a:ext cx="2006600" cy="1524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1" name="CBody_SE"/>
          <p:cNvSpPr txBox="1"/>
          <p:nvPr/>
        </p:nvSpPr>
        <p:spPr>
          <a:xfrm>
            <a:off x="9372600" y="4978400"/>
            <a:ext cx="20828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dirty="0">
                <a:solidFill>
                  <a:srgbClr val="3A4A66"/>
                </a:solidFill>
              </a:rPr>
              <a:t>Connects policy and hiring deadlines into the user schedule</a:t>
            </a:r>
          </a:p>
        </p:txBody>
      </p:sp>
      <p:cxnSp>
        <p:nvCxnSpPr>
          <p:cNvPr id="200" name="L1"/>
          <p:cNvCxnSpPr/>
          <p:nvPr/>
        </p:nvCxnSpPr>
        <p:spPr>
          <a:xfrm flipH="1">
            <a:off x="4508500" y="3175000"/>
            <a:ext cx="698500" cy="0"/>
          </a:xfrm>
          <a:prstGeom prst="line">
            <a:avLst/>
          </a:prstGeom>
          <a:ln w="12700">
            <a:solidFill>
              <a:srgbClr val="184ED2"/>
            </a:solidFill>
          </a:ln>
        </p:spPr>
      </p:cxnSp>
      <p:cxnSp>
        <p:nvCxnSpPr>
          <p:cNvPr id="201" name="L2"/>
          <p:cNvCxnSpPr/>
          <p:nvPr/>
        </p:nvCxnSpPr>
        <p:spPr>
          <a:xfrm flipV="1">
            <a:off x="4508500" y="2984500"/>
            <a:ext cx="0" cy="190500"/>
          </a:xfrm>
          <a:prstGeom prst="line">
            <a:avLst/>
          </a:prstGeom>
          <a:ln w="12700">
            <a:solidFill>
              <a:srgbClr val="184ED2"/>
            </a:solidFill>
          </a:ln>
        </p:spPr>
      </p:cxnSp>
      <p:cxnSp>
        <p:nvCxnSpPr>
          <p:cNvPr id="202" name="L3"/>
          <p:cNvCxnSpPr/>
          <p:nvPr/>
        </p:nvCxnSpPr>
        <p:spPr>
          <a:xfrm flipH="1">
            <a:off x="3810000" y="2984500"/>
            <a:ext cx="698500" cy="0"/>
          </a:xfrm>
          <a:prstGeom prst="line">
            <a:avLst/>
          </a:prstGeom>
          <a:ln w="12700">
            <a:solidFill>
              <a:srgbClr val="184ED2"/>
            </a:solidFill>
          </a:ln>
        </p:spPr>
      </p:cxnSp>
      <p:sp>
        <p:nvSpPr>
          <p:cNvPr id="203" name="Dot"/>
          <p:cNvSpPr/>
          <p:nvPr/>
        </p:nvSpPr>
        <p:spPr>
          <a:xfrm>
            <a:off x="5162550" y="3130550"/>
            <a:ext cx="88900" cy="88900"/>
          </a:xfrm>
          <a:prstGeom prst="ellipse">
            <a:avLst/>
          </a:prstGeom>
          <a:solidFill>
            <a:srgbClr val="184ED2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210" name="L1"/>
          <p:cNvCxnSpPr/>
          <p:nvPr/>
        </p:nvCxnSpPr>
        <p:spPr>
          <a:xfrm>
            <a:off x="6985000" y="3175000"/>
            <a:ext cx="698500" cy="0"/>
          </a:xfrm>
          <a:prstGeom prst="line">
            <a:avLst/>
          </a:prstGeom>
          <a:ln w="12700">
            <a:solidFill>
              <a:srgbClr val="184ED2"/>
            </a:solidFill>
          </a:ln>
        </p:spPr>
      </p:cxnSp>
      <p:cxnSp>
        <p:nvCxnSpPr>
          <p:cNvPr id="211" name="L2"/>
          <p:cNvCxnSpPr/>
          <p:nvPr/>
        </p:nvCxnSpPr>
        <p:spPr>
          <a:xfrm flipV="1">
            <a:off x="7683500" y="2984500"/>
            <a:ext cx="0" cy="190500"/>
          </a:xfrm>
          <a:prstGeom prst="line">
            <a:avLst/>
          </a:prstGeom>
          <a:ln w="12700">
            <a:solidFill>
              <a:srgbClr val="184ED2"/>
            </a:solidFill>
          </a:ln>
        </p:spPr>
      </p:cxnSp>
      <p:cxnSp>
        <p:nvCxnSpPr>
          <p:cNvPr id="212" name="L3"/>
          <p:cNvCxnSpPr/>
          <p:nvPr/>
        </p:nvCxnSpPr>
        <p:spPr>
          <a:xfrm>
            <a:off x="7683500" y="2984500"/>
            <a:ext cx="698500" cy="0"/>
          </a:xfrm>
          <a:prstGeom prst="line">
            <a:avLst/>
          </a:prstGeom>
          <a:ln w="12700">
            <a:solidFill>
              <a:srgbClr val="184ED2"/>
            </a:solidFill>
          </a:ln>
        </p:spPr>
      </p:cxnSp>
      <p:sp>
        <p:nvSpPr>
          <p:cNvPr id="213" name="Dot"/>
          <p:cNvSpPr/>
          <p:nvPr/>
        </p:nvSpPr>
        <p:spPr>
          <a:xfrm>
            <a:off x="6940550" y="3130550"/>
            <a:ext cx="88900" cy="88900"/>
          </a:xfrm>
          <a:prstGeom prst="ellipse">
            <a:avLst/>
          </a:prstGeom>
          <a:solidFill>
            <a:srgbClr val="184ED2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220" name="L1"/>
          <p:cNvCxnSpPr/>
          <p:nvPr/>
        </p:nvCxnSpPr>
        <p:spPr>
          <a:xfrm flipH="1">
            <a:off x="4508500" y="3937000"/>
            <a:ext cx="698500" cy="0"/>
          </a:xfrm>
          <a:prstGeom prst="line">
            <a:avLst/>
          </a:prstGeom>
          <a:ln w="12700">
            <a:solidFill>
              <a:srgbClr val="184ED2"/>
            </a:solidFill>
          </a:ln>
        </p:spPr>
      </p:cxnSp>
      <p:cxnSp>
        <p:nvCxnSpPr>
          <p:cNvPr id="221" name="L2"/>
          <p:cNvCxnSpPr/>
          <p:nvPr/>
        </p:nvCxnSpPr>
        <p:spPr>
          <a:xfrm>
            <a:off x="4508500" y="3937000"/>
            <a:ext cx="0" cy="1079500"/>
          </a:xfrm>
          <a:prstGeom prst="line">
            <a:avLst/>
          </a:prstGeom>
          <a:ln w="12700">
            <a:solidFill>
              <a:srgbClr val="184ED2"/>
            </a:solidFill>
          </a:ln>
        </p:spPr>
      </p:cxnSp>
      <p:cxnSp>
        <p:nvCxnSpPr>
          <p:cNvPr id="222" name="L3"/>
          <p:cNvCxnSpPr/>
          <p:nvPr/>
        </p:nvCxnSpPr>
        <p:spPr>
          <a:xfrm flipH="1">
            <a:off x="3810000" y="5016500"/>
            <a:ext cx="698500" cy="0"/>
          </a:xfrm>
          <a:prstGeom prst="line">
            <a:avLst/>
          </a:prstGeom>
          <a:ln w="12700">
            <a:solidFill>
              <a:srgbClr val="184ED2"/>
            </a:solidFill>
          </a:ln>
        </p:spPr>
      </p:cxnSp>
      <p:sp>
        <p:nvSpPr>
          <p:cNvPr id="223" name="Dot"/>
          <p:cNvSpPr/>
          <p:nvPr/>
        </p:nvSpPr>
        <p:spPr>
          <a:xfrm>
            <a:off x="5162550" y="3892550"/>
            <a:ext cx="88900" cy="88900"/>
          </a:xfrm>
          <a:prstGeom prst="ellipse">
            <a:avLst/>
          </a:prstGeom>
          <a:solidFill>
            <a:srgbClr val="184ED2"/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230" name="L1"/>
          <p:cNvCxnSpPr/>
          <p:nvPr/>
        </p:nvCxnSpPr>
        <p:spPr>
          <a:xfrm>
            <a:off x="6985000" y="3937000"/>
            <a:ext cx="698500" cy="0"/>
          </a:xfrm>
          <a:prstGeom prst="line">
            <a:avLst/>
          </a:prstGeom>
          <a:ln w="12700">
            <a:solidFill>
              <a:srgbClr val="184ED2"/>
            </a:solidFill>
          </a:ln>
        </p:spPr>
      </p:cxnSp>
      <p:cxnSp>
        <p:nvCxnSpPr>
          <p:cNvPr id="231" name="L2"/>
          <p:cNvCxnSpPr/>
          <p:nvPr/>
        </p:nvCxnSpPr>
        <p:spPr>
          <a:xfrm>
            <a:off x="7683500" y="3937000"/>
            <a:ext cx="0" cy="1079500"/>
          </a:xfrm>
          <a:prstGeom prst="line">
            <a:avLst/>
          </a:prstGeom>
          <a:ln w="12700">
            <a:solidFill>
              <a:srgbClr val="184ED2"/>
            </a:solidFill>
          </a:ln>
        </p:spPr>
      </p:cxnSp>
      <p:cxnSp>
        <p:nvCxnSpPr>
          <p:cNvPr id="232" name="L3"/>
          <p:cNvCxnSpPr/>
          <p:nvPr/>
        </p:nvCxnSpPr>
        <p:spPr>
          <a:xfrm>
            <a:off x="7683500" y="5016500"/>
            <a:ext cx="698500" cy="0"/>
          </a:xfrm>
          <a:prstGeom prst="line">
            <a:avLst/>
          </a:prstGeom>
          <a:ln w="12700">
            <a:solidFill>
              <a:srgbClr val="184ED2"/>
            </a:solidFill>
          </a:ln>
        </p:spPr>
      </p:cxnSp>
      <p:sp>
        <p:nvSpPr>
          <p:cNvPr id="233" name="Dot"/>
          <p:cNvSpPr/>
          <p:nvPr/>
        </p:nvSpPr>
        <p:spPr>
          <a:xfrm>
            <a:off x="6940550" y="3892550"/>
            <a:ext cx="88900" cy="88900"/>
          </a:xfrm>
          <a:prstGeom prst="ellipse">
            <a:avLst/>
          </a:prstGeom>
          <a:solidFill>
            <a:srgbClr val="184ED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2" name="CTA"/>
          <p:cNvSpPr/>
          <p:nvPr/>
        </p:nvSpPr>
        <p:spPr>
          <a:xfrm>
            <a:off x="1143000" y="6070600"/>
            <a:ext cx="9906000" cy="508000"/>
          </a:xfrm>
          <a:prstGeom prst="roundRect">
            <a:avLst>
              <a:gd name="adj" fmla="val 25000"/>
            </a:avLst>
          </a:prstGeom>
          <a:solidFill>
            <a:srgbClr val="E8EFFB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3" name="CTACircle"/>
          <p:cNvSpPr/>
          <p:nvPr/>
        </p:nvSpPr>
        <p:spPr>
          <a:xfrm>
            <a:off x="1346200" y="6172200"/>
            <a:ext cx="304800" cy="304800"/>
          </a:xfrm>
          <a:prstGeom prst="ellipse">
            <a:avLst/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4" name="CTASep"/>
          <p:cNvSpPr/>
          <p:nvPr/>
        </p:nvSpPr>
        <p:spPr>
          <a:xfrm>
            <a:off x="1828800" y="6210300"/>
            <a:ext cx="12700" cy="22860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5" name="CTAText"/>
          <p:cNvSpPr txBox="1"/>
          <p:nvPr/>
        </p:nvSpPr>
        <p:spPr>
          <a:xfrm>
            <a:off x="2032000" y="6146800"/>
            <a:ext cx="8890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700" b="1" dirty="0">
                <a:solidFill>
                  <a:srgbClr val="0E2559"/>
                </a:solidFill>
              </a:rPr>
              <a:t>Turn scattered opportunities into one actionable workflow</a:t>
            </a:r>
          </a:p>
        </p:txBody>
      </p:sp>
      <p:sp>
        <p:nvSpPr>
          <p:cNvPr id="126" name="Footer"/>
          <p:cNvSpPr txBox="1"/>
          <p:nvPr/>
        </p:nvSpPr>
        <p:spPr>
          <a:xfrm>
            <a:off x="457200" y="6731000"/>
            <a:ext cx="762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000" dirty="0">
                <a:solidFill>
                  <a:srgbClr val="184ED2"/>
                </a:solidFill>
              </a:rPr>
              <a:t>Proposal criterion: Solution overview</a:t>
            </a:r>
          </a:p>
        </p:txBody>
      </p:sp>
      <p:pic>
        <p:nvPicPr>
          <p:cNvPr id="234" name="Graphic 23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67400" y="2819400"/>
            <a:ext cx="457200" cy="457200"/>
          </a:xfrm>
          <a:prstGeom prst="rect">
            <a:avLst/>
          </a:prstGeom>
        </p:spPr>
      </p:pic>
      <p:pic>
        <p:nvPicPr>
          <p:cNvPr id="235" name="Graphic 23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7400" y="2514600"/>
            <a:ext cx="685800" cy="685800"/>
          </a:xfrm>
          <a:prstGeom prst="rect">
            <a:avLst/>
          </a:prstGeom>
        </p:spPr>
      </p:pic>
      <p:pic>
        <p:nvPicPr>
          <p:cNvPr id="236" name="Graphic 23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34400" y="2514600"/>
            <a:ext cx="685800" cy="685800"/>
          </a:xfrm>
          <a:prstGeom prst="rect">
            <a:avLst/>
          </a:prstGeom>
        </p:spPr>
      </p:pic>
      <p:pic>
        <p:nvPicPr>
          <p:cNvPr id="237" name="Graphic 23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7400" y="4546600"/>
            <a:ext cx="685800" cy="685800"/>
          </a:xfrm>
          <a:prstGeom prst="rect">
            <a:avLst/>
          </a:prstGeom>
        </p:spPr>
      </p:pic>
      <p:pic>
        <p:nvPicPr>
          <p:cNvPr id="238" name="Graphic 23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3000" y="4902200"/>
            <a:ext cx="355600" cy="355600"/>
          </a:xfrm>
          <a:prstGeom prst="rect">
            <a:avLst/>
          </a:prstGeom>
        </p:spPr>
      </p:pic>
      <p:pic>
        <p:nvPicPr>
          <p:cNvPr id="239" name="Graphic 23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34400" y="4546600"/>
            <a:ext cx="685800" cy="685800"/>
          </a:xfrm>
          <a:prstGeom prst="rect">
            <a:avLst/>
          </a:prstGeom>
        </p:spPr>
      </p:pic>
      <p:pic>
        <p:nvPicPr>
          <p:cNvPr id="240" name="Graphic 24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97000" y="6223000"/>
            <a:ext cx="2032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256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ection"/>
          <p:cNvSpPr txBox="1"/>
          <p:nvPr/>
        </p:nvSpPr>
        <p:spPr>
          <a:xfrm>
            <a:off x="9906000" y="406400"/>
            <a:ext cx="1905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en-US" sz="1100" b="1" dirty="0">
                <a:solidFill>
                  <a:srgbClr val="184ED2"/>
                </a:solidFill>
              </a:rPr>
              <a:t>ARCHITECTURE</a:t>
            </a:r>
            <a:r>
              <a:rPr lang="en-US" sz="1100" dirty="0">
                <a:solidFill>
                  <a:srgbClr val="BFD4F5"/>
                </a:solidFill>
              </a:rPr>
              <a:t>    |    </a:t>
            </a:r>
            <a:r>
              <a:rPr lang="en-US" sz="1100" b="1" dirty="0">
                <a:solidFill>
                  <a:srgbClr val="0E2559"/>
                </a:solidFill>
              </a:rPr>
              <a:t>05</a:t>
            </a:r>
          </a:p>
        </p:txBody>
      </p:sp>
      <p:sp>
        <p:nvSpPr>
          <p:cNvPr id="101" name="Title"/>
          <p:cNvSpPr txBox="1"/>
          <p:nvPr/>
        </p:nvSpPr>
        <p:spPr>
          <a:xfrm>
            <a:off x="609600" y="762000"/>
            <a:ext cx="8890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3600" b="1" dirty="0">
                <a:solidFill>
                  <a:srgbClr val="0E2559"/>
                </a:solidFill>
              </a:rPr>
              <a:t>System architecture</a:t>
            </a:r>
          </a:p>
        </p:txBody>
      </p:sp>
      <p:sp>
        <p:nvSpPr>
          <p:cNvPr id="102" name="L0Outer"/>
          <p:cNvSpPr/>
          <p:nvPr/>
        </p:nvSpPr>
        <p:spPr>
          <a:xfrm>
            <a:off x="635000" y="1841500"/>
            <a:ext cx="8382000" cy="812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3" name="L0Num"/>
          <p:cNvSpPr/>
          <p:nvPr/>
        </p:nvSpPr>
        <p:spPr>
          <a:xfrm>
            <a:off x="787400" y="2070100"/>
            <a:ext cx="355600" cy="355600"/>
          </a:xfrm>
          <a:prstGeom prst="ellipse">
            <a:avLst/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4" name="L0NumT"/>
          <p:cNvSpPr txBox="1"/>
          <p:nvPr/>
        </p:nvSpPr>
        <p:spPr>
          <a:xfrm>
            <a:off x="787400" y="2120900"/>
            <a:ext cx="35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5" name="L0Band"/>
          <p:cNvSpPr/>
          <p:nvPr/>
        </p:nvSpPr>
        <p:spPr>
          <a:xfrm>
            <a:off x="1244600" y="1917700"/>
            <a:ext cx="1524000" cy="660400"/>
          </a:xfrm>
          <a:prstGeom prst="roundRect">
            <a:avLst>
              <a:gd name="adj" fmla="val 8000"/>
            </a:avLst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6" name="L0Title"/>
          <p:cNvSpPr txBox="1"/>
          <p:nvPr/>
        </p:nvSpPr>
        <p:spPr>
          <a:xfrm>
            <a:off x="1879600" y="2133600"/>
            <a:ext cx="8890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300" b="1" dirty="0">
                <a:solidFill>
                  <a:srgbClr val="FFFFFF"/>
                </a:solidFill>
              </a:rPr>
              <a:t>User UI</a:t>
            </a:r>
          </a:p>
        </p:txBody>
      </p:sp>
      <p:sp>
        <p:nvSpPr>
          <p:cNvPr id="107" name="L0I0"/>
          <p:cNvSpPr/>
          <p:nvPr/>
        </p:nvSpPr>
        <p:spPr>
          <a:xfrm>
            <a:off x="2921000" y="2019300"/>
            <a:ext cx="171450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8" name="L0IT0"/>
          <p:cNvSpPr txBox="1"/>
          <p:nvPr/>
        </p:nvSpPr>
        <p:spPr>
          <a:xfrm>
            <a:off x="3200400" y="2146300"/>
            <a:ext cx="13843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100" dirty="0">
                <a:solidFill>
                  <a:srgbClr val="0E2559"/>
                </a:solidFill>
              </a:rPr>
              <a:t>Web/app interface</a:t>
            </a:r>
          </a:p>
        </p:txBody>
      </p:sp>
      <p:sp>
        <p:nvSpPr>
          <p:cNvPr id="109" name="L0I1"/>
          <p:cNvSpPr/>
          <p:nvPr/>
        </p:nvSpPr>
        <p:spPr>
          <a:xfrm>
            <a:off x="4762500" y="2019300"/>
            <a:ext cx="171450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0" name="L0IT1"/>
          <p:cNvSpPr txBox="1"/>
          <p:nvPr/>
        </p:nvSpPr>
        <p:spPr>
          <a:xfrm>
            <a:off x="5041900" y="2146300"/>
            <a:ext cx="13843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100" dirty="0">
                <a:solidFill>
                  <a:srgbClr val="0E2559"/>
                </a:solidFill>
              </a:rPr>
              <a:t>Profile input</a:t>
            </a:r>
          </a:p>
        </p:txBody>
      </p:sp>
      <p:sp>
        <p:nvSpPr>
          <p:cNvPr id="111" name="L0I2"/>
          <p:cNvSpPr/>
          <p:nvPr/>
        </p:nvSpPr>
        <p:spPr>
          <a:xfrm>
            <a:off x="6604000" y="2019300"/>
            <a:ext cx="171450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2" name="L0IT2"/>
          <p:cNvSpPr txBox="1"/>
          <p:nvPr/>
        </p:nvSpPr>
        <p:spPr>
          <a:xfrm>
            <a:off x="6883400" y="2146300"/>
            <a:ext cx="13843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100" dirty="0">
                <a:solidFill>
                  <a:srgbClr val="0E2559"/>
                </a:solidFill>
              </a:rPr>
              <a:t>Result review</a:t>
            </a:r>
          </a:p>
        </p:txBody>
      </p:sp>
      <p:sp>
        <p:nvSpPr>
          <p:cNvPr id="113" name="L1Outer"/>
          <p:cNvSpPr/>
          <p:nvPr/>
        </p:nvSpPr>
        <p:spPr>
          <a:xfrm>
            <a:off x="635000" y="2755900"/>
            <a:ext cx="8382000" cy="812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4" name="L1Num"/>
          <p:cNvSpPr/>
          <p:nvPr/>
        </p:nvSpPr>
        <p:spPr>
          <a:xfrm>
            <a:off x="787400" y="2984500"/>
            <a:ext cx="355600" cy="355600"/>
          </a:xfrm>
          <a:prstGeom prst="ellipse">
            <a:avLst/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5" name="L1NumT"/>
          <p:cNvSpPr txBox="1"/>
          <p:nvPr/>
        </p:nvSpPr>
        <p:spPr>
          <a:xfrm>
            <a:off x="787400" y="3035300"/>
            <a:ext cx="35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6" name="L1Band"/>
          <p:cNvSpPr/>
          <p:nvPr/>
        </p:nvSpPr>
        <p:spPr>
          <a:xfrm>
            <a:off x="1244600" y="2832100"/>
            <a:ext cx="1524000" cy="660400"/>
          </a:xfrm>
          <a:prstGeom prst="roundRect">
            <a:avLst>
              <a:gd name="adj" fmla="val 8000"/>
            </a:avLst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7" name="L1Title"/>
          <p:cNvSpPr txBox="1"/>
          <p:nvPr/>
        </p:nvSpPr>
        <p:spPr>
          <a:xfrm>
            <a:off x="1879600" y="2933700"/>
            <a:ext cx="8890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300" b="1" dirty="0">
                <a:solidFill>
                  <a:srgbClr val="FFFFFF"/>
                </a:solidFill>
              </a:rPr>
              <a:t>Router /</a:t>
            </a:r>
          </a:p>
          <a:p>
            <a:r>
              <a:rPr lang="en-US" sz="1300" b="1" dirty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118" name="L1I0"/>
          <p:cNvSpPr/>
          <p:nvPr/>
        </p:nvSpPr>
        <p:spPr>
          <a:xfrm>
            <a:off x="2921000" y="2933700"/>
            <a:ext cx="171450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9" name="L1IT0"/>
          <p:cNvSpPr txBox="1"/>
          <p:nvPr/>
        </p:nvSpPr>
        <p:spPr>
          <a:xfrm>
            <a:off x="3200400" y="3060700"/>
            <a:ext cx="13843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100" dirty="0">
                <a:solidFill>
                  <a:srgbClr val="0E2559"/>
                </a:solidFill>
              </a:rPr>
              <a:t>Intent classification and agent routing</a:t>
            </a:r>
          </a:p>
        </p:txBody>
      </p:sp>
      <p:sp>
        <p:nvSpPr>
          <p:cNvPr id="120" name="L2Outer"/>
          <p:cNvSpPr/>
          <p:nvPr/>
        </p:nvSpPr>
        <p:spPr>
          <a:xfrm>
            <a:off x="635000" y="3670300"/>
            <a:ext cx="8382000" cy="812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1" name="L2Num"/>
          <p:cNvSpPr/>
          <p:nvPr/>
        </p:nvSpPr>
        <p:spPr>
          <a:xfrm>
            <a:off x="787400" y="3898900"/>
            <a:ext cx="355600" cy="355600"/>
          </a:xfrm>
          <a:prstGeom prst="ellipse">
            <a:avLst/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2" name="L2NumT"/>
          <p:cNvSpPr txBox="1"/>
          <p:nvPr/>
        </p:nvSpPr>
        <p:spPr>
          <a:xfrm>
            <a:off x="787400" y="3949700"/>
            <a:ext cx="35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3" name="L2Band"/>
          <p:cNvSpPr/>
          <p:nvPr/>
        </p:nvSpPr>
        <p:spPr>
          <a:xfrm>
            <a:off x="1244600" y="3746500"/>
            <a:ext cx="1524000" cy="660400"/>
          </a:xfrm>
          <a:prstGeom prst="roundRect">
            <a:avLst>
              <a:gd name="adj" fmla="val 8000"/>
            </a:avLst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4" name="L2Title"/>
          <p:cNvSpPr txBox="1"/>
          <p:nvPr/>
        </p:nvSpPr>
        <p:spPr>
          <a:xfrm>
            <a:off x="1879600" y="3848100"/>
            <a:ext cx="8890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300" b="1" dirty="0">
                <a:solidFill>
                  <a:srgbClr val="FFFFFF"/>
                </a:solidFill>
              </a:rPr>
              <a:t>Specialist</a:t>
            </a:r>
          </a:p>
          <a:p>
            <a:r>
              <a:rPr lang="en-US" sz="1300" b="1" dirty="0">
                <a:solidFill>
                  <a:srgbClr val="FFFFFF"/>
                </a:solidFill>
              </a:rPr>
              <a:t>Agents</a:t>
            </a:r>
          </a:p>
        </p:txBody>
      </p:sp>
      <p:sp>
        <p:nvSpPr>
          <p:cNvPr id="125" name="L2I0"/>
          <p:cNvSpPr/>
          <p:nvPr/>
        </p:nvSpPr>
        <p:spPr>
          <a:xfrm>
            <a:off x="2921000" y="3848100"/>
            <a:ext cx="142875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6" name="L2IT0"/>
          <p:cNvSpPr txBox="1"/>
          <p:nvPr/>
        </p:nvSpPr>
        <p:spPr>
          <a:xfrm>
            <a:off x="3200400" y="3975100"/>
            <a:ext cx="109855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100" dirty="0">
                <a:solidFill>
                  <a:srgbClr val="0E2559"/>
                </a:solidFill>
              </a:rPr>
              <a:t>Policy Agent</a:t>
            </a:r>
          </a:p>
        </p:txBody>
      </p:sp>
      <p:sp>
        <p:nvSpPr>
          <p:cNvPr id="127" name="L2I1"/>
          <p:cNvSpPr/>
          <p:nvPr/>
        </p:nvSpPr>
        <p:spPr>
          <a:xfrm>
            <a:off x="4476750" y="3848100"/>
            <a:ext cx="142875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8" name="L2IT1"/>
          <p:cNvSpPr txBox="1"/>
          <p:nvPr/>
        </p:nvSpPr>
        <p:spPr>
          <a:xfrm>
            <a:off x="4756150" y="3975100"/>
            <a:ext cx="109855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100" dirty="0">
                <a:solidFill>
                  <a:srgbClr val="0E2559"/>
                </a:solidFill>
              </a:rPr>
              <a:t>Job Agent</a:t>
            </a:r>
          </a:p>
        </p:txBody>
      </p:sp>
      <p:sp>
        <p:nvSpPr>
          <p:cNvPr id="129" name="L2I2"/>
          <p:cNvSpPr/>
          <p:nvPr/>
        </p:nvSpPr>
        <p:spPr>
          <a:xfrm>
            <a:off x="6032500" y="3848100"/>
            <a:ext cx="142875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30" name="L2IT2"/>
          <p:cNvSpPr txBox="1"/>
          <p:nvPr/>
        </p:nvSpPr>
        <p:spPr>
          <a:xfrm>
            <a:off x="6311900" y="3975100"/>
            <a:ext cx="109855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100" dirty="0">
                <a:solidFill>
                  <a:srgbClr val="0E2559"/>
                </a:solidFill>
              </a:rPr>
              <a:t>Essay Agent</a:t>
            </a:r>
          </a:p>
        </p:txBody>
      </p:sp>
      <p:sp>
        <p:nvSpPr>
          <p:cNvPr id="131" name="L2I3"/>
          <p:cNvSpPr/>
          <p:nvPr/>
        </p:nvSpPr>
        <p:spPr>
          <a:xfrm>
            <a:off x="7588250" y="3848100"/>
            <a:ext cx="142875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32" name="L2IT3"/>
          <p:cNvSpPr txBox="1"/>
          <p:nvPr/>
        </p:nvSpPr>
        <p:spPr>
          <a:xfrm>
            <a:off x="7867650" y="3975100"/>
            <a:ext cx="109855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100" dirty="0">
                <a:solidFill>
                  <a:srgbClr val="0E2559"/>
                </a:solidFill>
              </a:rPr>
              <a:t>Calendar Agent</a:t>
            </a:r>
          </a:p>
        </p:txBody>
      </p:sp>
      <p:sp>
        <p:nvSpPr>
          <p:cNvPr id="133" name="L3Outer"/>
          <p:cNvSpPr/>
          <p:nvPr/>
        </p:nvSpPr>
        <p:spPr>
          <a:xfrm>
            <a:off x="635000" y="4584700"/>
            <a:ext cx="8382000" cy="812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34" name="L3Num"/>
          <p:cNvSpPr/>
          <p:nvPr/>
        </p:nvSpPr>
        <p:spPr>
          <a:xfrm>
            <a:off x="787400" y="4813300"/>
            <a:ext cx="355600" cy="355600"/>
          </a:xfrm>
          <a:prstGeom prst="ellipse">
            <a:avLst/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35" name="L3NumT"/>
          <p:cNvSpPr txBox="1"/>
          <p:nvPr/>
        </p:nvSpPr>
        <p:spPr>
          <a:xfrm>
            <a:off x="787400" y="4864100"/>
            <a:ext cx="35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6" name="L3Band"/>
          <p:cNvSpPr/>
          <p:nvPr/>
        </p:nvSpPr>
        <p:spPr>
          <a:xfrm>
            <a:off x="1244600" y="4660900"/>
            <a:ext cx="1524000" cy="660400"/>
          </a:xfrm>
          <a:prstGeom prst="roundRect">
            <a:avLst>
              <a:gd name="adj" fmla="val 8000"/>
            </a:avLst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37" name="L3Title"/>
          <p:cNvSpPr txBox="1"/>
          <p:nvPr/>
        </p:nvSpPr>
        <p:spPr>
          <a:xfrm>
            <a:off x="1879600" y="4762500"/>
            <a:ext cx="8890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300" b="1" dirty="0">
                <a:solidFill>
                  <a:srgbClr val="FFFFFF"/>
                </a:solidFill>
              </a:rPr>
              <a:t>RAG / MCP</a:t>
            </a:r>
          </a:p>
          <a:p>
            <a:r>
              <a:rPr lang="en-US" sz="1300" b="1" dirty="0">
                <a:solidFill>
                  <a:srgbClr val="FFFFFF"/>
                </a:solidFill>
              </a:rPr>
              <a:t>Data Layer</a:t>
            </a:r>
          </a:p>
        </p:txBody>
      </p:sp>
      <p:sp>
        <p:nvSpPr>
          <p:cNvPr id="138" name="L3I0"/>
          <p:cNvSpPr/>
          <p:nvPr/>
        </p:nvSpPr>
        <p:spPr>
          <a:xfrm>
            <a:off x="2921000" y="4762500"/>
            <a:ext cx="142875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39" name="L3IT0"/>
          <p:cNvSpPr txBox="1"/>
          <p:nvPr/>
        </p:nvSpPr>
        <p:spPr>
          <a:xfrm>
            <a:off x="3200400" y="4889500"/>
            <a:ext cx="109855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100" dirty="0">
                <a:solidFill>
                  <a:srgbClr val="0E2559"/>
                </a:solidFill>
              </a:rPr>
              <a:t>Vector search</a:t>
            </a:r>
          </a:p>
        </p:txBody>
      </p:sp>
      <p:sp>
        <p:nvSpPr>
          <p:cNvPr id="140" name="L3I1"/>
          <p:cNvSpPr/>
          <p:nvPr/>
        </p:nvSpPr>
        <p:spPr>
          <a:xfrm>
            <a:off x="4476750" y="4762500"/>
            <a:ext cx="142875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41" name="L3IT1"/>
          <p:cNvSpPr txBox="1"/>
          <p:nvPr/>
        </p:nvSpPr>
        <p:spPr>
          <a:xfrm>
            <a:off x="4756150" y="4889500"/>
            <a:ext cx="109855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100" dirty="0">
                <a:solidFill>
                  <a:srgbClr val="0E2559"/>
                </a:solidFill>
              </a:rPr>
              <a:t>Public API</a:t>
            </a:r>
          </a:p>
        </p:txBody>
      </p:sp>
      <p:sp>
        <p:nvSpPr>
          <p:cNvPr id="142" name="L3I2"/>
          <p:cNvSpPr/>
          <p:nvPr/>
        </p:nvSpPr>
        <p:spPr>
          <a:xfrm>
            <a:off x="6032500" y="4762500"/>
            <a:ext cx="142875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43" name="L3IT2"/>
          <p:cNvSpPr txBox="1"/>
          <p:nvPr/>
        </p:nvSpPr>
        <p:spPr>
          <a:xfrm>
            <a:off x="6311900" y="4889500"/>
            <a:ext cx="109855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100" dirty="0">
                <a:solidFill>
                  <a:srgbClr val="0E2559"/>
                </a:solidFill>
              </a:rPr>
              <a:t>Job API</a:t>
            </a:r>
          </a:p>
        </p:txBody>
      </p:sp>
      <p:sp>
        <p:nvSpPr>
          <p:cNvPr id="144" name="L3I3"/>
          <p:cNvSpPr/>
          <p:nvPr/>
        </p:nvSpPr>
        <p:spPr>
          <a:xfrm>
            <a:off x="7588250" y="4762500"/>
            <a:ext cx="142875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45" name="L3IT3"/>
          <p:cNvSpPr txBox="1"/>
          <p:nvPr/>
        </p:nvSpPr>
        <p:spPr>
          <a:xfrm>
            <a:off x="7867650" y="4889500"/>
            <a:ext cx="109855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100" dirty="0">
                <a:solidFill>
                  <a:srgbClr val="0E2559"/>
                </a:solidFill>
              </a:rPr>
              <a:t>Calendar tool</a:t>
            </a:r>
          </a:p>
        </p:txBody>
      </p:sp>
      <p:sp>
        <p:nvSpPr>
          <p:cNvPr id="146" name="L4Outer"/>
          <p:cNvSpPr/>
          <p:nvPr/>
        </p:nvSpPr>
        <p:spPr>
          <a:xfrm>
            <a:off x="635000" y="5499100"/>
            <a:ext cx="8382000" cy="812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47" name="L4Num"/>
          <p:cNvSpPr/>
          <p:nvPr/>
        </p:nvSpPr>
        <p:spPr>
          <a:xfrm>
            <a:off x="787400" y="5727700"/>
            <a:ext cx="355600" cy="355600"/>
          </a:xfrm>
          <a:prstGeom prst="ellipse">
            <a:avLst/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48" name="L4NumT"/>
          <p:cNvSpPr txBox="1"/>
          <p:nvPr/>
        </p:nvSpPr>
        <p:spPr>
          <a:xfrm>
            <a:off x="787400" y="5778500"/>
            <a:ext cx="35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9" name="L4Band"/>
          <p:cNvSpPr/>
          <p:nvPr/>
        </p:nvSpPr>
        <p:spPr>
          <a:xfrm>
            <a:off x="1244600" y="5575300"/>
            <a:ext cx="1524000" cy="660400"/>
          </a:xfrm>
          <a:prstGeom prst="roundRect">
            <a:avLst>
              <a:gd name="adj" fmla="val 8000"/>
            </a:avLst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50" name="L4Title"/>
          <p:cNvSpPr txBox="1"/>
          <p:nvPr/>
        </p:nvSpPr>
        <p:spPr>
          <a:xfrm>
            <a:off x="1879600" y="5676900"/>
            <a:ext cx="889000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300" b="1" dirty="0">
                <a:solidFill>
                  <a:srgbClr val="FFFFFF"/>
                </a:solidFill>
              </a:rPr>
              <a:t>Storage /</a:t>
            </a:r>
          </a:p>
          <a:p>
            <a:r>
              <a:rPr lang="en-US" sz="1300" b="1" dirty="0">
                <a:solidFill>
                  <a:srgbClr val="FFFFFF"/>
                </a:solidFill>
              </a:rPr>
              <a:t>Memory</a:t>
            </a:r>
          </a:p>
        </p:txBody>
      </p:sp>
      <p:sp>
        <p:nvSpPr>
          <p:cNvPr id="151" name="L4I0"/>
          <p:cNvSpPr/>
          <p:nvPr/>
        </p:nvSpPr>
        <p:spPr>
          <a:xfrm>
            <a:off x="2921000" y="5676900"/>
            <a:ext cx="171450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52" name="L4IT0"/>
          <p:cNvSpPr txBox="1"/>
          <p:nvPr/>
        </p:nvSpPr>
        <p:spPr>
          <a:xfrm>
            <a:off x="3200400" y="5803900"/>
            <a:ext cx="13843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100" dirty="0">
                <a:solidFill>
                  <a:srgbClr val="0E2559"/>
                </a:solidFill>
              </a:rPr>
              <a:t>User profile</a:t>
            </a:r>
          </a:p>
        </p:txBody>
      </p:sp>
      <p:sp>
        <p:nvSpPr>
          <p:cNvPr id="153" name="L4I1"/>
          <p:cNvSpPr/>
          <p:nvPr/>
        </p:nvSpPr>
        <p:spPr>
          <a:xfrm>
            <a:off x="4762500" y="5676900"/>
            <a:ext cx="171450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54" name="L4IT1"/>
          <p:cNvSpPr txBox="1"/>
          <p:nvPr/>
        </p:nvSpPr>
        <p:spPr>
          <a:xfrm>
            <a:off x="5041900" y="5803900"/>
            <a:ext cx="13843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100" dirty="0">
                <a:solidFill>
                  <a:srgbClr val="0E2559"/>
                </a:solidFill>
              </a:rPr>
              <a:t>Search logs</a:t>
            </a:r>
          </a:p>
        </p:txBody>
      </p:sp>
      <p:sp>
        <p:nvSpPr>
          <p:cNvPr id="155" name="L4I2"/>
          <p:cNvSpPr/>
          <p:nvPr/>
        </p:nvSpPr>
        <p:spPr>
          <a:xfrm>
            <a:off x="6604000" y="5676900"/>
            <a:ext cx="171450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56" name="L4IT2"/>
          <p:cNvSpPr txBox="1"/>
          <p:nvPr/>
        </p:nvSpPr>
        <p:spPr>
          <a:xfrm>
            <a:off x="6883400" y="5803900"/>
            <a:ext cx="13843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100" dirty="0">
                <a:solidFill>
                  <a:srgbClr val="0E2559"/>
                </a:solidFill>
              </a:rPr>
              <a:t>Schedule data</a:t>
            </a:r>
          </a:p>
        </p:txBody>
      </p:sp>
      <p:sp>
        <p:nvSpPr>
          <p:cNvPr id="157" name="ArrDn0"/>
          <p:cNvSpPr/>
          <p:nvPr/>
        </p:nvSpPr>
        <p:spPr>
          <a:xfrm rot="10800000">
            <a:off x="4699000" y="2654300"/>
            <a:ext cx="152400" cy="101600"/>
          </a:xfrm>
          <a:prstGeom prst="triangle">
            <a:avLst/>
          </a:prstGeom>
          <a:solidFill>
            <a:srgbClr val="184ED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8" name="ArrDn1"/>
          <p:cNvSpPr/>
          <p:nvPr/>
        </p:nvSpPr>
        <p:spPr>
          <a:xfrm rot="10800000">
            <a:off x="4699000" y="3568700"/>
            <a:ext cx="152400" cy="101600"/>
          </a:xfrm>
          <a:prstGeom prst="triangle">
            <a:avLst/>
          </a:prstGeom>
          <a:solidFill>
            <a:srgbClr val="184ED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9" name="ArrDn2"/>
          <p:cNvSpPr/>
          <p:nvPr/>
        </p:nvSpPr>
        <p:spPr>
          <a:xfrm rot="10800000">
            <a:off x="4699000" y="4483100"/>
            <a:ext cx="152400" cy="101600"/>
          </a:xfrm>
          <a:prstGeom prst="triangle">
            <a:avLst/>
          </a:prstGeom>
          <a:solidFill>
            <a:srgbClr val="184ED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0" name="ArrDn3"/>
          <p:cNvSpPr/>
          <p:nvPr/>
        </p:nvSpPr>
        <p:spPr>
          <a:xfrm rot="10800000">
            <a:off x="4699000" y="5397500"/>
            <a:ext cx="152400" cy="101600"/>
          </a:xfrm>
          <a:prstGeom prst="triangle">
            <a:avLst/>
          </a:prstGeom>
          <a:solidFill>
            <a:srgbClr val="184ED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1" name="Sidebar"/>
          <p:cNvSpPr/>
          <p:nvPr/>
        </p:nvSpPr>
        <p:spPr>
          <a:xfrm>
            <a:off x="9271000" y="1841500"/>
            <a:ext cx="24765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62" name="SbHeader"/>
          <p:cNvSpPr/>
          <p:nvPr/>
        </p:nvSpPr>
        <p:spPr>
          <a:xfrm>
            <a:off x="9271000" y="1841500"/>
            <a:ext cx="2476500" cy="457200"/>
          </a:xfrm>
          <a:prstGeom prst="roundRect">
            <a:avLst>
              <a:gd name="adj" fmla="val 18000"/>
            </a:avLst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63" name="SbHeaderMask"/>
          <p:cNvSpPr/>
          <p:nvPr/>
        </p:nvSpPr>
        <p:spPr>
          <a:xfrm>
            <a:off x="9271000" y="2070100"/>
            <a:ext cx="2476500" cy="228600"/>
          </a:xfrm>
          <a:prstGeom prst="rect">
            <a:avLst/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64" name="SbTitle"/>
          <p:cNvSpPr txBox="1"/>
          <p:nvPr/>
        </p:nvSpPr>
        <p:spPr>
          <a:xfrm>
            <a:off x="9271000" y="1968500"/>
            <a:ext cx="24765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Data Sources</a:t>
            </a:r>
          </a:p>
        </p:txBody>
      </p:sp>
      <p:sp>
        <p:nvSpPr>
          <p:cNvPr id="165" name="SbT0"/>
          <p:cNvSpPr txBox="1"/>
          <p:nvPr/>
        </p:nvSpPr>
        <p:spPr>
          <a:xfrm>
            <a:off x="10185400" y="2667000"/>
            <a:ext cx="1460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dirty="0">
                <a:solidFill>
                  <a:srgbClr val="0E2559"/>
                </a:solidFill>
              </a:rPr>
              <a:t>Youth</a:t>
            </a:r>
          </a:p>
          <a:p>
            <a:r>
              <a:rPr lang="en-US" sz="1200" dirty="0">
                <a:solidFill>
                  <a:srgbClr val="0E2559"/>
                </a:solidFill>
              </a:rPr>
              <a:t>policies</a:t>
            </a:r>
          </a:p>
        </p:txBody>
      </p:sp>
      <p:sp>
        <p:nvSpPr>
          <p:cNvPr id="166" name="SbSep0"/>
          <p:cNvSpPr/>
          <p:nvPr/>
        </p:nvSpPr>
        <p:spPr>
          <a:xfrm>
            <a:off x="9461500" y="3314700"/>
            <a:ext cx="2095500" cy="635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67" name="SbT1"/>
          <p:cNvSpPr txBox="1"/>
          <p:nvPr/>
        </p:nvSpPr>
        <p:spPr>
          <a:xfrm>
            <a:off x="10185400" y="3556000"/>
            <a:ext cx="1460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dirty="0">
                <a:solidFill>
                  <a:srgbClr val="0E2559"/>
                </a:solidFill>
              </a:rPr>
              <a:t>Job</a:t>
            </a:r>
          </a:p>
          <a:p>
            <a:r>
              <a:rPr lang="en-US" sz="1200" dirty="0">
                <a:solidFill>
                  <a:srgbClr val="0E2559"/>
                </a:solidFill>
              </a:rPr>
              <a:t>postings</a:t>
            </a:r>
          </a:p>
        </p:txBody>
      </p:sp>
      <p:sp>
        <p:nvSpPr>
          <p:cNvPr id="168" name="SbSep1"/>
          <p:cNvSpPr/>
          <p:nvPr/>
        </p:nvSpPr>
        <p:spPr>
          <a:xfrm>
            <a:off x="9461500" y="4203700"/>
            <a:ext cx="2095500" cy="635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69" name="SbT2"/>
          <p:cNvSpPr txBox="1"/>
          <p:nvPr/>
        </p:nvSpPr>
        <p:spPr>
          <a:xfrm>
            <a:off x="10185400" y="4445000"/>
            <a:ext cx="1460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dirty="0">
                <a:solidFill>
                  <a:srgbClr val="0E2559"/>
                </a:solidFill>
              </a:rPr>
              <a:t>Successful</a:t>
            </a:r>
          </a:p>
          <a:p>
            <a:r>
              <a:rPr lang="en-US" sz="1200" dirty="0">
                <a:solidFill>
                  <a:srgbClr val="0E2559"/>
                </a:solidFill>
              </a:rPr>
              <a:t>resumes</a:t>
            </a:r>
          </a:p>
        </p:txBody>
      </p:sp>
      <p:sp>
        <p:nvSpPr>
          <p:cNvPr id="170" name="SbSep2"/>
          <p:cNvSpPr/>
          <p:nvPr/>
        </p:nvSpPr>
        <p:spPr>
          <a:xfrm>
            <a:off x="9461500" y="5092700"/>
            <a:ext cx="2095500" cy="635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71" name="SbT3"/>
          <p:cNvSpPr txBox="1"/>
          <p:nvPr/>
        </p:nvSpPr>
        <p:spPr>
          <a:xfrm>
            <a:off x="10185400" y="5334000"/>
            <a:ext cx="14605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dirty="0">
                <a:solidFill>
                  <a:srgbClr val="0E2559"/>
                </a:solidFill>
              </a:rPr>
              <a:t>Disclosures</a:t>
            </a:r>
          </a:p>
          <a:p>
            <a:r>
              <a:rPr lang="en-US" sz="1200" dirty="0">
                <a:solidFill>
                  <a:srgbClr val="0E2559"/>
                </a:solidFill>
              </a:rPr>
              <a:t>&amp; news</a:t>
            </a:r>
          </a:p>
        </p:txBody>
      </p:sp>
      <p:sp>
        <p:nvSpPr>
          <p:cNvPr id="172" name="SbArrow1"/>
          <p:cNvSpPr/>
          <p:nvPr/>
        </p:nvSpPr>
        <p:spPr>
          <a:xfrm>
            <a:off x="9017000" y="4914900"/>
            <a:ext cx="254000" cy="152400"/>
          </a:xfrm>
          <a:prstGeom prst="leftRightArrow">
            <a:avLst/>
          </a:prstGeom>
          <a:solidFill>
            <a:srgbClr val="184ED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3" name="SbArrow2"/>
          <p:cNvSpPr/>
          <p:nvPr/>
        </p:nvSpPr>
        <p:spPr>
          <a:xfrm>
            <a:off x="9017000" y="5829300"/>
            <a:ext cx="254000" cy="152400"/>
          </a:xfrm>
          <a:prstGeom prst="leftRightArrow">
            <a:avLst/>
          </a:prstGeom>
          <a:solidFill>
            <a:srgbClr val="184ED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4" name="Footer"/>
          <p:cNvSpPr txBox="1"/>
          <p:nvPr/>
        </p:nvSpPr>
        <p:spPr>
          <a:xfrm>
            <a:off x="457200" y="6654800"/>
            <a:ext cx="762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000" dirty="0">
                <a:solidFill>
                  <a:srgbClr val="184ED2"/>
                </a:solidFill>
              </a:rPr>
              <a:t>Proposal criterion: System architecture</a:t>
            </a:r>
          </a:p>
        </p:txBody>
      </p:sp>
      <p:pic>
        <p:nvPicPr>
          <p:cNvPr id="175" name="Graphic 17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47800" y="2070100"/>
            <a:ext cx="355600" cy="355600"/>
          </a:xfrm>
          <a:prstGeom prst="rect">
            <a:avLst/>
          </a:prstGeom>
        </p:spPr>
      </p:pic>
      <p:pic>
        <p:nvPicPr>
          <p:cNvPr id="176" name="Graphic 17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7800" y="2984500"/>
            <a:ext cx="355600" cy="355600"/>
          </a:xfrm>
          <a:prstGeom prst="rect">
            <a:avLst/>
          </a:prstGeom>
        </p:spPr>
      </p:pic>
      <p:pic>
        <p:nvPicPr>
          <p:cNvPr id="177" name="Graphic 17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47800" y="3898900"/>
            <a:ext cx="355600" cy="355600"/>
          </a:xfrm>
          <a:prstGeom prst="rect">
            <a:avLst/>
          </a:prstGeom>
        </p:spPr>
      </p:pic>
      <p:pic>
        <p:nvPicPr>
          <p:cNvPr id="178" name="Graphic 17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7800" y="4813300"/>
            <a:ext cx="355600" cy="355600"/>
          </a:xfrm>
          <a:prstGeom prst="rect">
            <a:avLst/>
          </a:prstGeom>
        </p:spPr>
      </p:pic>
      <p:pic>
        <p:nvPicPr>
          <p:cNvPr id="179" name="Graphic 17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7800" y="5727700"/>
            <a:ext cx="355600" cy="355600"/>
          </a:xfrm>
          <a:prstGeom prst="rect">
            <a:avLst/>
          </a:prstGeom>
        </p:spPr>
      </p:pic>
      <p:pic>
        <p:nvPicPr>
          <p:cNvPr id="180" name="Graphic 18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99600" y="2590800"/>
            <a:ext cx="355600" cy="355600"/>
          </a:xfrm>
          <a:prstGeom prst="rect">
            <a:avLst/>
          </a:prstGeom>
        </p:spPr>
      </p:pic>
      <p:pic>
        <p:nvPicPr>
          <p:cNvPr id="181" name="Graphic 18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3479800"/>
            <a:ext cx="355600" cy="355600"/>
          </a:xfrm>
          <a:prstGeom prst="rect">
            <a:avLst/>
          </a:prstGeom>
        </p:spPr>
      </p:pic>
      <p:pic>
        <p:nvPicPr>
          <p:cNvPr id="182" name="Graphic 18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99600" y="4368800"/>
            <a:ext cx="355600" cy="355600"/>
          </a:xfrm>
          <a:prstGeom prst="rect">
            <a:avLst/>
          </a:prstGeom>
        </p:spPr>
      </p:pic>
      <p:pic>
        <p:nvPicPr>
          <p:cNvPr id="183" name="Graphic 18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99600" y="52578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010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ection"/>
          <p:cNvSpPr txBox="1"/>
          <p:nvPr/>
        </p:nvSpPr>
        <p:spPr>
          <a:xfrm>
            <a:off x="9906000" y="406400"/>
            <a:ext cx="1905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en-US" sz="1100" b="1" dirty="0">
                <a:solidFill>
                  <a:srgbClr val="184ED2"/>
                </a:solidFill>
              </a:rPr>
              <a:t>AGENTS</a:t>
            </a:r>
            <a:r>
              <a:rPr lang="en-US" sz="1100" dirty="0">
                <a:solidFill>
                  <a:srgbClr val="BFD4F5"/>
                </a:solidFill>
              </a:rPr>
              <a:t>    |    </a:t>
            </a:r>
            <a:r>
              <a:rPr lang="en-US" sz="1100" b="1" dirty="0">
                <a:solidFill>
                  <a:srgbClr val="0E2559"/>
                </a:solidFill>
              </a:rPr>
              <a:t>06</a:t>
            </a:r>
          </a:p>
        </p:txBody>
      </p:sp>
      <p:sp>
        <p:nvSpPr>
          <p:cNvPr id="101" name="Title"/>
          <p:cNvSpPr txBox="1"/>
          <p:nvPr/>
        </p:nvSpPr>
        <p:spPr>
          <a:xfrm>
            <a:off x="609600" y="762000"/>
            <a:ext cx="9652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3600" b="1" dirty="0">
                <a:solidFill>
                  <a:srgbClr val="0E2559"/>
                </a:solidFill>
              </a:rPr>
              <a:t>Agent role design</a:t>
            </a:r>
          </a:p>
        </p:txBody>
      </p:sp>
      <p:sp>
        <p:nvSpPr>
          <p:cNvPr id="102" name="Router"/>
          <p:cNvSpPr/>
          <p:nvPr/>
        </p:nvSpPr>
        <p:spPr>
          <a:xfrm>
            <a:off x="4064000" y="1778000"/>
            <a:ext cx="4064000" cy="838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446AF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3" name="RouterIconBg"/>
          <p:cNvSpPr/>
          <p:nvPr/>
        </p:nvSpPr>
        <p:spPr>
          <a:xfrm>
            <a:off x="4064000" y="1778000"/>
            <a:ext cx="1016000" cy="838200"/>
          </a:xfrm>
          <a:prstGeom prst="roundRect">
            <a:avLst>
              <a:gd name="adj" fmla="val 30000"/>
            </a:avLst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4" name="RouterIconMask"/>
          <p:cNvSpPr/>
          <p:nvPr/>
        </p:nvSpPr>
        <p:spPr>
          <a:xfrm>
            <a:off x="4572000" y="1778000"/>
            <a:ext cx="508000" cy="838200"/>
          </a:xfrm>
          <a:prstGeom prst="rect">
            <a:avLst/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5" name="RouterTitle"/>
          <p:cNvSpPr txBox="1"/>
          <p:nvPr/>
        </p:nvSpPr>
        <p:spPr>
          <a:xfrm>
            <a:off x="5181600" y="1905000"/>
            <a:ext cx="28448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700" b="1" dirty="0">
                <a:solidFill>
                  <a:srgbClr val="1446AF"/>
                </a:solidFill>
              </a:rPr>
              <a:t>Router Agent</a:t>
            </a:r>
          </a:p>
        </p:txBody>
      </p:sp>
      <p:sp>
        <p:nvSpPr>
          <p:cNvPr id="106" name="RouterSub"/>
          <p:cNvSpPr txBox="1"/>
          <p:nvPr/>
        </p:nvSpPr>
        <p:spPr>
          <a:xfrm>
            <a:off x="5181600" y="2209800"/>
            <a:ext cx="28448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100" dirty="0">
                <a:solidFill>
                  <a:srgbClr val="3A4A66"/>
                </a:solidFill>
              </a:rPr>
              <a:t>Analyzes the user request and calls the needed specialist agent</a:t>
            </a:r>
          </a:p>
        </p:txBody>
      </p:sp>
      <p:cxnSp>
        <p:nvCxnSpPr>
          <p:cNvPr id="190" name="VL"/>
          <p:cNvCxnSpPr/>
          <p:nvPr/>
        </p:nvCxnSpPr>
        <p:spPr>
          <a:xfrm>
            <a:off x="6096000" y="2616200"/>
            <a:ext cx="0" cy="241300"/>
          </a:xfrm>
          <a:prstGeom prst="line">
            <a:avLst/>
          </a:prstGeom>
          <a:ln w="9525">
            <a:solidFill>
              <a:srgbClr val="1446AF"/>
            </a:solidFill>
          </a:ln>
        </p:spPr>
      </p:cxnSp>
      <p:cxnSp>
        <p:nvCxnSpPr>
          <p:cNvPr id="191" name="HL"/>
          <p:cNvCxnSpPr/>
          <p:nvPr/>
        </p:nvCxnSpPr>
        <p:spPr>
          <a:xfrm>
            <a:off x="2019300" y="2857500"/>
            <a:ext cx="8153400" cy="0"/>
          </a:xfrm>
          <a:prstGeom prst="line">
            <a:avLst/>
          </a:prstGeom>
          <a:ln w="9525">
            <a:solidFill>
              <a:srgbClr val="1446AF"/>
            </a:solidFill>
          </a:ln>
        </p:spPr>
      </p:cxnSp>
      <p:cxnSp>
        <p:nvCxnSpPr>
          <p:cNvPr id="192" name="VL"/>
          <p:cNvCxnSpPr/>
          <p:nvPr/>
        </p:nvCxnSpPr>
        <p:spPr>
          <a:xfrm>
            <a:off x="2019300" y="2857500"/>
            <a:ext cx="0" cy="241300"/>
          </a:xfrm>
          <a:prstGeom prst="line">
            <a:avLst/>
          </a:prstGeom>
          <a:ln w="9525">
            <a:solidFill>
              <a:srgbClr val="1446AF"/>
            </a:solidFill>
          </a:ln>
        </p:spPr>
      </p:cxnSp>
      <p:cxnSp>
        <p:nvCxnSpPr>
          <p:cNvPr id="193" name="VL"/>
          <p:cNvCxnSpPr/>
          <p:nvPr/>
        </p:nvCxnSpPr>
        <p:spPr>
          <a:xfrm>
            <a:off x="4737100" y="2857500"/>
            <a:ext cx="0" cy="241300"/>
          </a:xfrm>
          <a:prstGeom prst="line">
            <a:avLst/>
          </a:prstGeom>
          <a:ln w="9525">
            <a:solidFill>
              <a:srgbClr val="1446AF"/>
            </a:solidFill>
          </a:ln>
        </p:spPr>
      </p:cxnSp>
      <p:cxnSp>
        <p:nvCxnSpPr>
          <p:cNvPr id="194" name="VL"/>
          <p:cNvCxnSpPr/>
          <p:nvPr/>
        </p:nvCxnSpPr>
        <p:spPr>
          <a:xfrm>
            <a:off x="7454900" y="2857500"/>
            <a:ext cx="0" cy="241300"/>
          </a:xfrm>
          <a:prstGeom prst="line">
            <a:avLst/>
          </a:prstGeom>
          <a:ln w="9525">
            <a:solidFill>
              <a:srgbClr val="1446AF"/>
            </a:solidFill>
          </a:ln>
        </p:spPr>
      </p:cxnSp>
      <p:cxnSp>
        <p:nvCxnSpPr>
          <p:cNvPr id="195" name="VL"/>
          <p:cNvCxnSpPr/>
          <p:nvPr/>
        </p:nvCxnSpPr>
        <p:spPr>
          <a:xfrm>
            <a:off x="10172700" y="2857500"/>
            <a:ext cx="0" cy="241300"/>
          </a:xfrm>
          <a:prstGeom prst="line">
            <a:avLst/>
          </a:prstGeom>
          <a:ln w="9525">
            <a:solidFill>
              <a:srgbClr val="1446AF"/>
            </a:solidFill>
          </a:ln>
        </p:spPr>
      </p:cxnSp>
      <p:sp>
        <p:nvSpPr>
          <p:cNvPr id="107" name="A0Card"/>
          <p:cNvSpPr/>
          <p:nvPr/>
        </p:nvSpPr>
        <p:spPr>
          <a:xfrm>
            <a:off x="749300" y="3098800"/>
            <a:ext cx="2540000" cy="292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8" name="A0Hdr"/>
          <p:cNvSpPr/>
          <p:nvPr/>
        </p:nvSpPr>
        <p:spPr>
          <a:xfrm>
            <a:off x="749300" y="3098800"/>
            <a:ext cx="2540000" cy="457200"/>
          </a:xfrm>
          <a:prstGeom prst="roundRect">
            <a:avLst>
              <a:gd name="adj" fmla="val 18000"/>
            </a:avLst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9" name="A0HdrMask"/>
          <p:cNvSpPr/>
          <p:nvPr/>
        </p:nvSpPr>
        <p:spPr>
          <a:xfrm>
            <a:off x="749300" y="3327400"/>
            <a:ext cx="2540000" cy="228600"/>
          </a:xfrm>
          <a:prstGeom prst="rect">
            <a:avLst/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0" name="A0Num"/>
          <p:cNvSpPr/>
          <p:nvPr/>
        </p:nvSpPr>
        <p:spPr>
          <a:xfrm>
            <a:off x="876300" y="32004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1" name="A0NumT"/>
          <p:cNvSpPr txBox="1"/>
          <p:nvPr/>
        </p:nvSpPr>
        <p:spPr>
          <a:xfrm>
            <a:off x="876300" y="3225800"/>
            <a:ext cx="25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200" b="1" dirty="0">
                <a:solidFill>
                  <a:srgbClr val="1446AF"/>
                </a:solidFill>
              </a:rPr>
              <a:t>1</a:t>
            </a:r>
          </a:p>
        </p:txBody>
      </p:sp>
      <p:sp>
        <p:nvSpPr>
          <p:cNvPr id="112" name="A0Title"/>
          <p:cNvSpPr txBox="1"/>
          <p:nvPr/>
        </p:nvSpPr>
        <p:spPr>
          <a:xfrm>
            <a:off x="1231900" y="3225800"/>
            <a:ext cx="19812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500" b="1" dirty="0">
                <a:solidFill>
                  <a:srgbClr val="FFFFFF"/>
                </a:solidFill>
              </a:rPr>
              <a:t>Policy Agent</a:t>
            </a:r>
          </a:p>
        </p:txBody>
      </p:sp>
      <p:sp>
        <p:nvSpPr>
          <p:cNvPr id="113" name="Arrow"/>
          <p:cNvSpPr/>
          <p:nvPr/>
        </p:nvSpPr>
        <p:spPr>
          <a:xfrm>
            <a:off x="876300" y="4495800"/>
            <a:ext cx="152400" cy="152400"/>
          </a:xfrm>
          <a:prstGeom prst="rightArrow">
            <a:avLst/>
          </a:prstGeom>
          <a:solidFill>
            <a:srgbClr val="184ED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" name="A0R0"/>
          <p:cNvSpPr txBox="1"/>
          <p:nvPr/>
        </p:nvSpPr>
        <p:spPr>
          <a:xfrm>
            <a:off x="1104900" y="4470400"/>
            <a:ext cx="21082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b="1" dirty="0">
                <a:solidFill>
                  <a:srgbClr val="184ED2"/>
                </a:solidFill>
              </a:rPr>
              <a:t>Input: </a:t>
            </a:r>
            <a:r>
              <a:rPr lang="en-US" sz="1200" dirty="0">
                <a:solidFill>
                  <a:srgbClr val="3A4A66"/>
                </a:solidFill>
              </a:rPr>
              <a:t>profile, region, income</a:t>
            </a:r>
          </a:p>
        </p:txBody>
      </p:sp>
      <p:sp>
        <p:nvSpPr>
          <p:cNvPr id="115" name="Gear"/>
          <p:cNvSpPr/>
          <p:nvPr/>
        </p:nvSpPr>
        <p:spPr>
          <a:xfrm>
            <a:off x="876300" y="4876800"/>
            <a:ext cx="152400" cy="152400"/>
          </a:xfrm>
          <a:prstGeom prst="sun">
            <a:avLst/>
          </a:prstGeom>
          <a:solidFill>
            <a:srgbClr val="184ED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A0R1"/>
          <p:cNvSpPr txBox="1"/>
          <p:nvPr/>
        </p:nvSpPr>
        <p:spPr>
          <a:xfrm>
            <a:off x="1104900" y="4851400"/>
            <a:ext cx="21082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b="1" dirty="0">
                <a:solidFill>
                  <a:srgbClr val="184ED2"/>
                </a:solidFill>
              </a:rPr>
              <a:t>Process: </a:t>
            </a:r>
            <a:r>
              <a:rPr lang="en-US" sz="1200" dirty="0">
                <a:solidFill>
                  <a:srgbClr val="3A4A66"/>
                </a:solidFill>
              </a:rPr>
              <a:t>eligibility matching</a:t>
            </a:r>
          </a:p>
        </p:txBody>
      </p:sp>
      <p:sp>
        <p:nvSpPr>
          <p:cNvPr id="117" name="Diamond"/>
          <p:cNvSpPr/>
          <p:nvPr/>
        </p:nvSpPr>
        <p:spPr>
          <a:xfrm>
            <a:off x="876300" y="5257800"/>
            <a:ext cx="152400" cy="152400"/>
          </a:xfrm>
          <a:prstGeom prst="diamond">
            <a:avLst/>
          </a:prstGeom>
          <a:noFill/>
          <a:ln w="12700">
            <a:solidFill>
              <a:srgbClr val="4DB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8" name="A0R2"/>
          <p:cNvSpPr txBox="1"/>
          <p:nvPr/>
        </p:nvSpPr>
        <p:spPr>
          <a:xfrm>
            <a:off x="1104900" y="5232400"/>
            <a:ext cx="21082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b="1" dirty="0">
                <a:solidFill>
                  <a:srgbClr val="184ED2"/>
                </a:solidFill>
              </a:rPr>
              <a:t>Output: </a:t>
            </a:r>
            <a:r>
              <a:rPr lang="en-US" sz="1200" dirty="0">
                <a:solidFill>
                  <a:srgbClr val="3A4A66"/>
                </a:solidFill>
              </a:rPr>
              <a:t>applicable programs</a:t>
            </a:r>
          </a:p>
        </p:txBody>
      </p:sp>
      <p:sp>
        <p:nvSpPr>
          <p:cNvPr id="119" name="A1Card"/>
          <p:cNvSpPr/>
          <p:nvPr/>
        </p:nvSpPr>
        <p:spPr>
          <a:xfrm>
            <a:off x="3467100" y="3098800"/>
            <a:ext cx="2540000" cy="292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0" name="A1Hdr"/>
          <p:cNvSpPr/>
          <p:nvPr/>
        </p:nvSpPr>
        <p:spPr>
          <a:xfrm>
            <a:off x="3467100" y="3098800"/>
            <a:ext cx="2540000" cy="457200"/>
          </a:xfrm>
          <a:prstGeom prst="roundRect">
            <a:avLst>
              <a:gd name="adj" fmla="val 18000"/>
            </a:avLst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1" name="A1HdrMask"/>
          <p:cNvSpPr/>
          <p:nvPr/>
        </p:nvSpPr>
        <p:spPr>
          <a:xfrm>
            <a:off x="3467100" y="3327400"/>
            <a:ext cx="2540000" cy="228600"/>
          </a:xfrm>
          <a:prstGeom prst="rect">
            <a:avLst/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2" name="A1Num"/>
          <p:cNvSpPr/>
          <p:nvPr/>
        </p:nvSpPr>
        <p:spPr>
          <a:xfrm>
            <a:off x="3594100" y="32004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3" name="A1NumT"/>
          <p:cNvSpPr txBox="1"/>
          <p:nvPr/>
        </p:nvSpPr>
        <p:spPr>
          <a:xfrm>
            <a:off x="3594100" y="3225800"/>
            <a:ext cx="25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200" b="1" dirty="0">
                <a:solidFill>
                  <a:srgbClr val="1446AF"/>
                </a:solidFill>
              </a:rPr>
              <a:t>2</a:t>
            </a:r>
          </a:p>
        </p:txBody>
      </p:sp>
      <p:sp>
        <p:nvSpPr>
          <p:cNvPr id="124" name="A1Title"/>
          <p:cNvSpPr txBox="1"/>
          <p:nvPr/>
        </p:nvSpPr>
        <p:spPr>
          <a:xfrm>
            <a:off x="3949700" y="3225800"/>
            <a:ext cx="19812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500" b="1" dirty="0">
                <a:solidFill>
                  <a:srgbClr val="FFFFFF"/>
                </a:solidFill>
              </a:rPr>
              <a:t>Job Agent</a:t>
            </a:r>
          </a:p>
        </p:txBody>
      </p:sp>
      <p:sp>
        <p:nvSpPr>
          <p:cNvPr id="125" name="Arrow"/>
          <p:cNvSpPr/>
          <p:nvPr/>
        </p:nvSpPr>
        <p:spPr>
          <a:xfrm>
            <a:off x="3594100" y="4495800"/>
            <a:ext cx="152400" cy="152400"/>
          </a:xfrm>
          <a:prstGeom prst="rightArrow">
            <a:avLst/>
          </a:prstGeom>
          <a:solidFill>
            <a:srgbClr val="184ED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6" name="A1R0"/>
          <p:cNvSpPr txBox="1"/>
          <p:nvPr/>
        </p:nvSpPr>
        <p:spPr>
          <a:xfrm>
            <a:off x="3822700" y="4470400"/>
            <a:ext cx="21082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b="1" dirty="0">
                <a:solidFill>
                  <a:srgbClr val="184ED2"/>
                </a:solidFill>
              </a:rPr>
              <a:t>Input: </a:t>
            </a:r>
            <a:r>
              <a:rPr lang="en-US" sz="1200" dirty="0">
                <a:solidFill>
                  <a:srgbClr val="3A4A66"/>
                </a:solidFill>
              </a:rPr>
              <a:t>target role, experience</a:t>
            </a:r>
          </a:p>
        </p:txBody>
      </p:sp>
      <p:sp>
        <p:nvSpPr>
          <p:cNvPr id="127" name="Gear"/>
          <p:cNvSpPr/>
          <p:nvPr/>
        </p:nvSpPr>
        <p:spPr>
          <a:xfrm>
            <a:off x="3594100" y="4876800"/>
            <a:ext cx="152400" cy="152400"/>
          </a:xfrm>
          <a:prstGeom prst="sun">
            <a:avLst/>
          </a:prstGeom>
          <a:solidFill>
            <a:srgbClr val="184ED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8" name="A1R1"/>
          <p:cNvSpPr txBox="1"/>
          <p:nvPr/>
        </p:nvSpPr>
        <p:spPr>
          <a:xfrm>
            <a:off x="3822700" y="4851400"/>
            <a:ext cx="21082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b="1" dirty="0">
                <a:solidFill>
                  <a:srgbClr val="184ED2"/>
                </a:solidFill>
              </a:rPr>
              <a:t>Process: </a:t>
            </a:r>
            <a:r>
              <a:rPr lang="en-US" sz="1200" dirty="0">
                <a:solidFill>
                  <a:srgbClr val="3A4A66"/>
                </a:solidFill>
              </a:rPr>
              <a:t>posting filtering</a:t>
            </a:r>
          </a:p>
        </p:txBody>
      </p:sp>
      <p:sp>
        <p:nvSpPr>
          <p:cNvPr id="129" name="Diamond"/>
          <p:cNvSpPr/>
          <p:nvPr/>
        </p:nvSpPr>
        <p:spPr>
          <a:xfrm>
            <a:off x="3594100" y="5257800"/>
            <a:ext cx="152400" cy="152400"/>
          </a:xfrm>
          <a:prstGeom prst="diamond">
            <a:avLst/>
          </a:prstGeom>
          <a:noFill/>
          <a:ln w="12700">
            <a:solidFill>
              <a:srgbClr val="4DB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0" name="A1R2"/>
          <p:cNvSpPr txBox="1"/>
          <p:nvPr/>
        </p:nvSpPr>
        <p:spPr>
          <a:xfrm>
            <a:off x="3822700" y="5232400"/>
            <a:ext cx="21082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b="1" dirty="0">
                <a:solidFill>
                  <a:srgbClr val="184ED2"/>
                </a:solidFill>
              </a:rPr>
              <a:t>Output: </a:t>
            </a:r>
            <a:r>
              <a:rPr lang="en-US" sz="1200" dirty="0">
                <a:solidFill>
                  <a:srgbClr val="3A4A66"/>
                </a:solidFill>
              </a:rPr>
              <a:t>recommended openings</a:t>
            </a:r>
          </a:p>
        </p:txBody>
      </p:sp>
      <p:sp>
        <p:nvSpPr>
          <p:cNvPr id="131" name="A2Card"/>
          <p:cNvSpPr/>
          <p:nvPr/>
        </p:nvSpPr>
        <p:spPr>
          <a:xfrm>
            <a:off x="6184900" y="3098800"/>
            <a:ext cx="2540000" cy="292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32" name="A2Hdr"/>
          <p:cNvSpPr/>
          <p:nvPr/>
        </p:nvSpPr>
        <p:spPr>
          <a:xfrm>
            <a:off x="6184900" y="3098800"/>
            <a:ext cx="2540000" cy="457200"/>
          </a:xfrm>
          <a:prstGeom prst="roundRect">
            <a:avLst>
              <a:gd name="adj" fmla="val 18000"/>
            </a:avLst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33" name="A2HdrMask"/>
          <p:cNvSpPr/>
          <p:nvPr/>
        </p:nvSpPr>
        <p:spPr>
          <a:xfrm>
            <a:off x="6184900" y="3327400"/>
            <a:ext cx="2540000" cy="228600"/>
          </a:xfrm>
          <a:prstGeom prst="rect">
            <a:avLst/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34" name="A2Num"/>
          <p:cNvSpPr/>
          <p:nvPr/>
        </p:nvSpPr>
        <p:spPr>
          <a:xfrm>
            <a:off x="6311900" y="32004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35" name="A2NumT"/>
          <p:cNvSpPr txBox="1"/>
          <p:nvPr/>
        </p:nvSpPr>
        <p:spPr>
          <a:xfrm>
            <a:off x="6311900" y="3225800"/>
            <a:ext cx="25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200" b="1" dirty="0">
                <a:solidFill>
                  <a:srgbClr val="1446AF"/>
                </a:solidFill>
              </a:rPr>
              <a:t>3</a:t>
            </a:r>
          </a:p>
        </p:txBody>
      </p:sp>
      <p:sp>
        <p:nvSpPr>
          <p:cNvPr id="136" name="A2Title"/>
          <p:cNvSpPr txBox="1"/>
          <p:nvPr/>
        </p:nvSpPr>
        <p:spPr>
          <a:xfrm>
            <a:off x="6667500" y="3225800"/>
            <a:ext cx="19812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500" b="1" dirty="0">
                <a:solidFill>
                  <a:srgbClr val="FFFFFF"/>
                </a:solidFill>
              </a:rPr>
              <a:t>Essay Agent</a:t>
            </a:r>
          </a:p>
        </p:txBody>
      </p:sp>
      <p:sp>
        <p:nvSpPr>
          <p:cNvPr id="137" name="Arrow"/>
          <p:cNvSpPr/>
          <p:nvPr/>
        </p:nvSpPr>
        <p:spPr>
          <a:xfrm>
            <a:off x="6311900" y="4495800"/>
            <a:ext cx="152400" cy="152400"/>
          </a:xfrm>
          <a:prstGeom prst="rightArrow">
            <a:avLst/>
          </a:prstGeom>
          <a:solidFill>
            <a:srgbClr val="184ED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8" name="A2R0"/>
          <p:cNvSpPr txBox="1"/>
          <p:nvPr/>
        </p:nvSpPr>
        <p:spPr>
          <a:xfrm>
            <a:off x="6540500" y="4470400"/>
            <a:ext cx="21082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b="1" dirty="0">
                <a:solidFill>
                  <a:srgbClr val="184ED2"/>
                </a:solidFill>
              </a:rPr>
              <a:t>Input: </a:t>
            </a:r>
            <a:r>
              <a:rPr lang="en-US" sz="1200" dirty="0">
                <a:solidFill>
                  <a:srgbClr val="3A4A66"/>
                </a:solidFill>
              </a:rPr>
              <a:t>resume draft</a:t>
            </a:r>
          </a:p>
        </p:txBody>
      </p:sp>
      <p:sp>
        <p:nvSpPr>
          <p:cNvPr id="139" name="Gear"/>
          <p:cNvSpPr/>
          <p:nvPr/>
        </p:nvSpPr>
        <p:spPr>
          <a:xfrm>
            <a:off x="6311900" y="4876800"/>
            <a:ext cx="152400" cy="152400"/>
          </a:xfrm>
          <a:prstGeom prst="sun">
            <a:avLst/>
          </a:prstGeom>
          <a:solidFill>
            <a:srgbClr val="184ED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0" name="A2R1"/>
          <p:cNvSpPr txBox="1"/>
          <p:nvPr/>
        </p:nvSpPr>
        <p:spPr>
          <a:xfrm>
            <a:off x="6540500" y="4851400"/>
            <a:ext cx="21082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b="1" dirty="0">
                <a:solidFill>
                  <a:srgbClr val="184ED2"/>
                </a:solidFill>
              </a:rPr>
              <a:t>Process: </a:t>
            </a:r>
            <a:r>
              <a:rPr lang="en-US" sz="1200" dirty="0">
                <a:solidFill>
                  <a:srgbClr val="3A4A66"/>
                </a:solidFill>
              </a:rPr>
              <a:t>rubric-based feedback</a:t>
            </a:r>
          </a:p>
        </p:txBody>
      </p:sp>
      <p:sp>
        <p:nvSpPr>
          <p:cNvPr id="141" name="Diamond"/>
          <p:cNvSpPr/>
          <p:nvPr/>
        </p:nvSpPr>
        <p:spPr>
          <a:xfrm>
            <a:off x="6311900" y="5257800"/>
            <a:ext cx="152400" cy="152400"/>
          </a:xfrm>
          <a:prstGeom prst="diamond">
            <a:avLst/>
          </a:prstGeom>
          <a:noFill/>
          <a:ln w="12700">
            <a:solidFill>
              <a:srgbClr val="4DB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2" name="A2R2"/>
          <p:cNvSpPr txBox="1"/>
          <p:nvPr/>
        </p:nvSpPr>
        <p:spPr>
          <a:xfrm>
            <a:off x="6540500" y="5232400"/>
            <a:ext cx="21082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b="1" dirty="0">
                <a:solidFill>
                  <a:srgbClr val="184ED2"/>
                </a:solidFill>
              </a:rPr>
              <a:t>Output: </a:t>
            </a:r>
            <a:r>
              <a:rPr lang="en-US" sz="1200" dirty="0">
                <a:solidFill>
                  <a:srgbClr val="3A4A66"/>
                </a:solidFill>
              </a:rPr>
              <a:t>edits and interview questions</a:t>
            </a:r>
          </a:p>
        </p:txBody>
      </p:sp>
      <p:sp>
        <p:nvSpPr>
          <p:cNvPr id="143" name="A3Card"/>
          <p:cNvSpPr/>
          <p:nvPr/>
        </p:nvSpPr>
        <p:spPr>
          <a:xfrm>
            <a:off x="8902700" y="3098800"/>
            <a:ext cx="2540000" cy="292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44" name="A3Hdr"/>
          <p:cNvSpPr/>
          <p:nvPr/>
        </p:nvSpPr>
        <p:spPr>
          <a:xfrm>
            <a:off x="8902700" y="3098800"/>
            <a:ext cx="2540000" cy="457200"/>
          </a:xfrm>
          <a:prstGeom prst="roundRect">
            <a:avLst>
              <a:gd name="adj" fmla="val 18000"/>
            </a:avLst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45" name="A3HdrMask"/>
          <p:cNvSpPr/>
          <p:nvPr/>
        </p:nvSpPr>
        <p:spPr>
          <a:xfrm>
            <a:off x="8902700" y="3327400"/>
            <a:ext cx="2540000" cy="228600"/>
          </a:xfrm>
          <a:prstGeom prst="rect">
            <a:avLst/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46" name="A3Num"/>
          <p:cNvSpPr/>
          <p:nvPr/>
        </p:nvSpPr>
        <p:spPr>
          <a:xfrm>
            <a:off x="9029700" y="3200400"/>
            <a:ext cx="254000" cy="25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47" name="A3NumT"/>
          <p:cNvSpPr txBox="1"/>
          <p:nvPr/>
        </p:nvSpPr>
        <p:spPr>
          <a:xfrm>
            <a:off x="9029700" y="3225800"/>
            <a:ext cx="254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200" b="1" dirty="0">
                <a:solidFill>
                  <a:srgbClr val="1446AF"/>
                </a:solidFill>
              </a:rPr>
              <a:t>4</a:t>
            </a:r>
          </a:p>
        </p:txBody>
      </p:sp>
      <p:sp>
        <p:nvSpPr>
          <p:cNvPr id="148" name="A3Title"/>
          <p:cNvSpPr txBox="1"/>
          <p:nvPr/>
        </p:nvSpPr>
        <p:spPr>
          <a:xfrm>
            <a:off x="9385300" y="3225800"/>
            <a:ext cx="19812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500" b="1" dirty="0">
                <a:solidFill>
                  <a:srgbClr val="FFFFFF"/>
                </a:solidFill>
              </a:rPr>
              <a:t>Calendar Agent</a:t>
            </a:r>
          </a:p>
        </p:txBody>
      </p:sp>
      <p:sp>
        <p:nvSpPr>
          <p:cNvPr id="149" name="Arrow"/>
          <p:cNvSpPr/>
          <p:nvPr/>
        </p:nvSpPr>
        <p:spPr>
          <a:xfrm>
            <a:off x="9029700" y="4495800"/>
            <a:ext cx="152400" cy="152400"/>
          </a:xfrm>
          <a:prstGeom prst="rightArrow">
            <a:avLst/>
          </a:prstGeom>
          <a:solidFill>
            <a:srgbClr val="184ED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0" name="A3R0"/>
          <p:cNvSpPr txBox="1"/>
          <p:nvPr/>
        </p:nvSpPr>
        <p:spPr>
          <a:xfrm>
            <a:off x="9258300" y="4470400"/>
            <a:ext cx="21082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b="1" dirty="0">
                <a:solidFill>
                  <a:srgbClr val="184ED2"/>
                </a:solidFill>
              </a:rPr>
              <a:t>Input: </a:t>
            </a:r>
            <a:r>
              <a:rPr lang="en-US" sz="1200" dirty="0">
                <a:solidFill>
                  <a:srgbClr val="3A4A66"/>
                </a:solidFill>
              </a:rPr>
              <a:t>policy and hiring deadlines</a:t>
            </a:r>
          </a:p>
        </p:txBody>
      </p:sp>
      <p:sp>
        <p:nvSpPr>
          <p:cNvPr id="151" name="Gear"/>
          <p:cNvSpPr/>
          <p:nvPr/>
        </p:nvSpPr>
        <p:spPr>
          <a:xfrm>
            <a:off x="9029700" y="4876800"/>
            <a:ext cx="152400" cy="152400"/>
          </a:xfrm>
          <a:prstGeom prst="sun">
            <a:avLst/>
          </a:prstGeom>
          <a:solidFill>
            <a:srgbClr val="184ED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2" name="A3R1"/>
          <p:cNvSpPr txBox="1"/>
          <p:nvPr/>
        </p:nvSpPr>
        <p:spPr>
          <a:xfrm>
            <a:off x="9258300" y="4851400"/>
            <a:ext cx="21082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b="1" dirty="0">
                <a:solidFill>
                  <a:srgbClr val="184ED2"/>
                </a:solidFill>
              </a:rPr>
              <a:t>Process: </a:t>
            </a:r>
            <a:r>
              <a:rPr lang="en-US" sz="1200" dirty="0">
                <a:solidFill>
                  <a:srgbClr val="3A4A66"/>
                </a:solidFill>
              </a:rPr>
              <a:t>conflict checking</a:t>
            </a:r>
          </a:p>
        </p:txBody>
      </p:sp>
      <p:sp>
        <p:nvSpPr>
          <p:cNvPr id="153" name="Diamond"/>
          <p:cNvSpPr/>
          <p:nvPr/>
        </p:nvSpPr>
        <p:spPr>
          <a:xfrm>
            <a:off x="9029700" y="5257800"/>
            <a:ext cx="152400" cy="152400"/>
          </a:xfrm>
          <a:prstGeom prst="diamond">
            <a:avLst/>
          </a:prstGeom>
          <a:noFill/>
          <a:ln w="12700">
            <a:solidFill>
              <a:srgbClr val="4DB8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4" name="A3R2"/>
          <p:cNvSpPr txBox="1"/>
          <p:nvPr/>
        </p:nvSpPr>
        <p:spPr>
          <a:xfrm>
            <a:off x="9258300" y="5232400"/>
            <a:ext cx="21082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b="1" dirty="0">
                <a:solidFill>
                  <a:srgbClr val="184ED2"/>
                </a:solidFill>
              </a:rPr>
              <a:t>Output: </a:t>
            </a:r>
            <a:r>
              <a:rPr lang="en-US" sz="1200" dirty="0">
                <a:solidFill>
                  <a:srgbClr val="3A4A66"/>
                </a:solidFill>
              </a:rPr>
              <a:t>calendar events and alerts</a:t>
            </a:r>
          </a:p>
        </p:txBody>
      </p:sp>
      <p:sp>
        <p:nvSpPr>
          <p:cNvPr id="155" name="CTA"/>
          <p:cNvSpPr/>
          <p:nvPr/>
        </p:nvSpPr>
        <p:spPr>
          <a:xfrm>
            <a:off x="1143000" y="6273800"/>
            <a:ext cx="9906000" cy="431800"/>
          </a:xfrm>
          <a:prstGeom prst="roundRect">
            <a:avLst>
              <a:gd name="adj" fmla="val 30000"/>
            </a:avLst>
          </a:prstGeom>
          <a:solidFill>
            <a:srgbClr val="E8EFFB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56" name="CTACircle"/>
          <p:cNvSpPr/>
          <p:nvPr/>
        </p:nvSpPr>
        <p:spPr>
          <a:xfrm>
            <a:off x="1346200" y="6350000"/>
            <a:ext cx="279400" cy="279400"/>
          </a:xfrm>
          <a:prstGeom prst="ellipse">
            <a:avLst/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57" name="CTASep"/>
          <p:cNvSpPr/>
          <p:nvPr/>
        </p:nvSpPr>
        <p:spPr>
          <a:xfrm>
            <a:off x="1803400" y="6375400"/>
            <a:ext cx="12700" cy="22860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58" name="CTAText"/>
          <p:cNvSpPr txBox="1"/>
          <p:nvPr/>
        </p:nvSpPr>
        <p:spPr>
          <a:xfrm>
            <a:off x="2006600" y="6299200"/>
            <a:ext cx="8890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500" b="1" dirty="0">
                <a:solidFill>
                  <a:srgbClr val="0E2559"/>
                </a:solidFill>
              </a:rPr>
              <a:t>Each agent can run independently, while results are integrated around the user goal</a:t>
            </a:r>
          </a:p>
        </p:txBody>
      </p:sp>
      <p:sp>
        <p:nvSpPr>
          <p:cNvPr id="159" name="Footer"/>
          <p:cNvSpPr txBox="1"/>
          <p:nvPr/>
        </p:nvSpPr>
        <p:spPr>
          <a:xfrm>
            <a:off x="457200" y="6781800"/>
            <a:ext cx="762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000" dirty="0">
                <a:solidFill>
                  <a:srgbClr val="184ED2"/>
                </a:solidFill>
              </a:rPr>
              <a:t>Proposal criterion: Agent design</a:t>
            </a:r>
          </a:p>
        </p:txBody>
      </p:sp>
      <p:pic>
        <p:nvPicPr>
          <p:cNvPr id="196" name="Graphic 19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67200" y="1955800"/>
            <a:ext cx="482600" cy="482600"/>
          </a:xfrm>
          <a:prstGeom prst="rect">
            <a:avLst/>
          </a:prstGeom>
        </p:spPr>
      </p:pic>
      <p:pic>
        <p:nvPicPr>
          <p:cNvPr id="197" name="Graphic 19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3784600"/>
            <a:ext cx="533400" cy="533400"/>
          </a:xfrm>
          <a:prstGeom prst="rect">
            <a:avLst/>
          </a:prstGeom>
        </p:spPr>
      </p:pic>
      <p:pic>
        <p:nvPicPr>
          <p:cNvPr id="198" name="Graphic 19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70300" y="3784600"/>
            <a:ext cx="533400" cy="533400"/>
          </a:xfrm>
          <a:prstGeom prst="rect">
            <a:avLst/>
          </a:prstGeom>
        </p:spPr>
      </p:pic>
      <p:pic>
        <p:nvPicPr>
          <p:cNvPr id="199" name="Graphic 19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8100" y="3784600"/>
            <a:ext cx="533400" cy="533400"/>
          </a:xfrm>
          <a:prstGeom prst="rect">
            <a:avLst/>
          </a:prstGeom>
        </p:spPr>
      </p:pic>
      <p:pic>
        <p:nvPicPr>
          <p:cNvPr id="200" name="Graphic 20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7500" y="4064000"/>
            <a:ext cx="279400" cy="279400"/>
          </a:xfrm>
          <a:prstGeom prst="rect">
            <a:avLst/>
          </a:prstGeom>
        </p:spPr>
      </p:pic>
      <p:pic>
        <p:nvPicPr>
          <p:cNvPr id="201" name="Graphic 20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05900" y="378460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271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ection"/>
          <p:cNvSpPr txBox="1"/>
          <p:nvPr/>
        </p:nvSpPr>
        <p:spPr>
          <a:xfrm>
            <a:off x="9906000" y="406400"/>
            <a:ext cx="1905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en-US" sz="1100" b="1" dirty="0">
                <a:solidFill>
                  <a:srgbClr val="184ED2"/>
                </a:solidFill>
              </a:rPr>
              <a:t>TECH APPROACH</a:t>
            </a:r>
            <a:r>
              <a:rPr lang="en-US" sz="1100" dirty="0">
                <a:solidFill>
                  <a:srgbClr val="BFD4F5"/>
                </a:solidFill>
              </a:rPr>
              <a:t>    |    </a:t>
            </a:r>
            <a:r>
              <a:rPr lang="en-US" sz="1100" b="1" dirty="0">
                <a:solidFill>
                  <a:srgbClr val="0E2559"/>
                </a:solidFill>
              </a:rPr>
              <a:t>07</a:t>
            </a:r>
          </a:p>
        </p:txBody>
      </p:sp>
      <p:sp>
        <p:nvSpPr>
          <p:cNvPr id="101" name="Title"/>
          <p:cNvSpPr txBox="1"/>
          <p:nvPr/>
        </p:nvSpPr>
        <p:spPr>
          <a:xfrm>
            <a:off x="609600" y="762000"/>
            <a:ext cx="9652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3200" b="1" dirty="0">
                <a:solidFill>
                  <a:srgbClr val="0E2559"/>
                </a:solidFill>
              </a:rPr>
              <a:t>Why a RAG and MCP-based approach</a:t>
            </a:r>
          </a:p>
        </p:txBody>
      </p:sp>
      <p:sp>
        <p:nvSpPr>
          <p:cNvPr id="102" name="TblBg"/>
          <p:cNvSpPr/>
          <p:nvPr/>
        </p:nvSpPr>
        <p:spPr>
          <a:xfrm>
            <a:off x="635000" y="1841500"/>
            <a:ext cx="8001000" cy="4127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3" name="Hdr"/>
          <p:cNvSpPr/>
          <p:nvPr/>
        </p:nvSpPr>
        <p:spPr>
          <a:xfrm>
            <a:off x="635000" y="1841500"/>
            <a:ext cx="8001000" cy="558800"/>
          </a:xfrm>
          <a:prstGeom prst="roundRect">
            <a:avLst>
              <a:gd name="adj" fmla="val 7000"/>
            </a:avLst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4" name="HdrMask"/>
          <p:cNvSpPr/>
          <p:nvPr/>
        </p:nvSpPr>
        <p:spPr>
          <a:xfrm>
            <a:off x="635000" y="2120900"/>
            <a:ext cx="8001000" cy="279400"/>
          </a:xfrm>
          <a:prstGeom prst="rect">
            <a:avLst/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5" name="H0"/>
          <p:cNvSpPr txBox="1"/>
          <p:nvPr/>
        </p:nvSpPr>
        <p:spPr>
          <a:xfrm>
            <a:off x="635000" y="2006600"/>
            <a:ext cx="2667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Project Condition</a:t>
            </a:r>
          </a:p>
        </p:txBody>
      </p:sp>
      <p:sp>
        <p:nvSpPr>
          <p:cNvPr id="106" name="H1"/>
          <p:cNvSpPr txBox="1"/>
          <p:nvPr/>
        </p:nvSpPr>
        <p:spPr>
          <a:xfrm>
            <a:off x="3302000" y="2006600"/>
            <a:ext cx="2794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Technical Choice</a:t>
            </a:r>
          </a:p>
        </p:txBody>
      </p:sp>
      <p:sp>
        <p:nvSpPr>
          <p:cNvPr id="107" name="H2"/>
          <p:cNvSpPr txBox="1"/>
          <p:nvPr/>
        </p:nvSpPr>
        <p:spPr>
          <a:xfrm>
            <a:off x="6096000" y="2006600"/>
            <a:ext cx="2540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Expected Effect</a:t>
            </a:r>
          </a:p>
        </p:txBody>
      </p:sp>
      <p:sp>
        <p:nvSpPr>
          <p:cNvPr id="108" name="R0C0"/>
          <p:cNvSpPr txBox="1"/>
          <p:nvPr/>
        </p:nvSpPr>
        <p:spPr>
          <a:xfrm>
            <a:off x="1422400" y="2781300"/>
            <a:ext cx="1778000" cy="88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300" dirty="0">
                <a:solidFill>
                  <a:srgbClr val="0E2559"/>
                </a:solidFill>
              </a:rPr>
              <a:t>Policy and job data</a:t>
            </a:r>
          </a:p>
          <a:p>
            <a:r>
              <a:rPr lang="en-US" sz="1300" dirty="0">
                <a:solidFill>
                  <a:srgbClr val="0E2559"/>
                </a:solidFill>
              </a:rPr>
              <a:t>changes constantly</a:t>
            </a:r>
          </a:p>
        </p:txBody>
      </p:sp>
      <p:sp>
        <p:nvSpPr>
          <p:cNvPr id="109" name="R0C1"/>
          <p:cNvSpPr txBox="1"/>
          <p:nvPr/>
        </p:nvSpPr>
        <p:spPr>
          <a:xfrm>
            <a:off x="4089400" y="2781300"/>
            <a:ext cx="1905000" cy="88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300" dirty="0">
                <a:solidFill>
                  <a:srgbClr val="0E2559"/>
                </a:solidFill>
              </a:rPr>
              <a:t>RAG-based runtime</a:t>
            </a:r>
          </a:p>
          <a:p>
            <a:r>
              <a:rPr lang="en-US" sz="1300" dirty="0">
                <a:solidFill>
                  <a:srgbClr val="0E2559"/>
                </a:solidFill>
              </a:rPr>
              <a:t>retrieval</a:t>
            </a:r>
          </a:p>
        </p:txBody>
      </p:sp>
      <p:sp>
        <p:nvSpPr>
          <p:cNvPr id="110" name="R0C2"/>
          <p:cNvSpPr txBox="1"/>
          <p:nvPr/>
        </p:nvSpPr>
        <p:spPr>
          <a:xfrm>
            <a:off x="6883400" y="2781300"/>
            <a:ext cx="1651000" cy="88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300" dirty="0">
                <a:solidFill>
                  <a:srgbClr val="0E2559"/>
                </a:solidFill>
              </a:rPr>
              <a:t>Grounded answers with</a:t>
            </a:r>
          </a:p>
          <a:p>
            <a:r>
              <a:rPr lang="en-US" sz="1300" dirty="0">
                <a:solidFill>
                  <a:srgbClr val="0E2559"/>
                </a:solidFill>
              </a:rPr>
              <a:t>current sources</a:t>
            </a:r>
          </a:p>
        </p:txBody>
      </p:sp>
      <p:sp>
        <p:nvSpPr>
          <p:cNvPr id="111" name="Sep1"/>
          <p:cNvSpPr/>
          <p:nvPr/>
        </p:nvSpPr>
        <p:spPr>
          <a:xfrm>
            <a:off x="762000" y="3606800"/>
            <a:ext cx="7747000" cy="635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2" name="R1C0"/>
          <p:cNvSpPr txBox="1"/>
          <p:nvPr/>
        </p:nvSpPr>
        <p:spPr>
          <a:xfrm>
            <a:off x="1422400" y="3860800"/>
            <a:ext cx="1778000" cy="88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300" dirty="0">
                <a:solidFill>
                  <a:srgbClr val="0E2559"/>
                </a:solidFill>
              </a:rPr>
              <a:t>External APIs and</a:t>
            </a:r>
          </a:p>
          <a:p>
            <a:r>
              <a:rPr lang="en-US" sz="1300" dirty="0">
                <a:solidFill>
                  <a:srgbClr val="0E2559"/>
                </a:solidFill>
              </a:rPr>
              <a:t>tools are required</a:t>
            </a:r>
          </a:p>
        </p:txBody>
      </p:sp>
      <p:sp>
        <p:nvSpPr>
          <p:cNvPr id="113" name="R1C1"/>
          <p:cNvSpPr txBox="1"/>
          <p:nvPr/>
        </p:nvSpPr>
        <p:spPr>
          <a:xfrm>
            <a:off x="4089400" y="3860800"/>
            <a:ext cx="1905000" cy="88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300" dirty="0">
                <a:solidFill>
                  <a:srgbClr val="0E2559"/>
                </a:solidFill>
              </a:rPr>
              <a:t>MCP / Tool Calling</a:t>
            </a:r>
          </a:p>
        </p:txBody>
      </p:sp>
      <p:sp>
        <p:nvSpPr>
          <p:cNvPr id="114" name="R1C2"/>
          <p:cNvSpPr txBox="1"/>
          <p:nvPr/>
        </p:nvSpPr>
        <p:spPr>
          <a:xfrm>
            <a:off x="6883400" y="3860800"/>
            <a:ext cx="1651000" cy="88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300" dirty="0">
                <a:solidFill>
                  <a:srgbClr val="0E2559"/>
                </a:solidFill>
              </a:rPr>
              <a:t>Connect public data</a:t>
            </a:r>
          </a:p>
          <a:p>
            <a:r>
              <a:rPr lang="en-US" sz="1300" dirty="0">
                <a:solidFill>
                  <a:srgbClr val="0E2559"/>
                </a:solidFill>
              </a:rPr>
              <a:t>and calendars</a:t>
            </a:r>
          </a:p>
        </p:txBody>
      </p:sp>
      <p:sp>
        <p:nvSpPr>
          <p:cNvPr id="115" name="Sep2"/>
          <p:cNvSpPr/>
          <p:nvPr/>
        </p:nvSpPr>
        <p:spPr>
          <a:xfrm>
            <a:off x="762000" y="4686300"/>
            <a:ext cx="7747000" cy="635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6" name="R2C0"/>
          <p:cNvSpPr txBox="1"/>
          <p:nvPr/>
        </p:nvSpPr>
        <p:spPr>
          <a:xfrm>
            <a:off x="1422400" y="4940300"/>
            <a:ext cx="1778000" cy="88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300" dirty="0">
                <a:solidFill>
                  <a:srgbClr val="0E2559"/>
                </a:solidFill>
              </a:rPr>
              <a:t>Credits and</a:t>
            </a:r>
          </a:p>
          <a:p>
            <a:r>
              <a:rPr lang="en-US" sz="1300" dirty="0">
                <a:solidFill>
                  <a:srgbClr val="0E2559"/>
                </a:solidFill>
              </a:rPr>
              <a:t>training cost are limited</a:t>
            </a:r>
          </a:p>
        </p:txBody>
      </p:sp>
      <p:sp>
        <p:nvSpPr>
          <p:cNvPr id="117" name="R2C1"/>
          <p:cNvSpPr txBox="1"/>
          <p:nvPr/>
        </p:nvSpPr>
        <p:spPr>
          <a:xfrm>
            <a:off x="4089400" y="4940300"/>
            <a:ext cx="1905000" cy="88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300" dirty="0">
                <a:solidFill>
                  <a:srgbClr val="0E2559"/>
                </a:solidFill>
              </a:rPr>
              <a:t>Lightweight</a:t>
            </a:r>
          </a:p>
          <a:p>
            <a:r>
              <a:rPr lang="en-US" sz="1300" dirty="0">
                <a:solidFill>
                  <a:srgbClr val="0E2559"/>
                </a:solidFill>
              </a:rPr>
              <a:t>orchestration</a:t>
            </a:r>
          </a:p>
        </p:txBody>
      </p:sp>
      <p:sp>
        <p:nvSpPr>
          <p:cNvPr id="118" name="R2C2"/>
          <p:cNvSpPr txBox="1"/>
          <p:nvPr/>
        </p:nvSpPr>
        <p:spPr>
          <a:xfrm>
            <a:off x="6883400" y="4940300"/>
            <a:ext cx="1651000" cy="88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300" dirty="0">
                <a:solidFill>
                  <a:srgbClr val="0E2559"/>
                </a:solidFill>
              </a:rPr>
              <a:t>Fast prototype</a:t>
            </a:r>
          </a:p>
          <a:p>
            <a:r>
              <a:rPr lang="en-US" sz="1300" dirty="0">
                <a:solidFill>
                  <a:srgbClr val="0E2559"/>
                </a:solidFill>
              </a:rPr>
              <a:t>without retraining</a:t>
            </a:r>
          </a:p>
        </p:txBody>
      </p:sp>
      <p:sp>
        <p:nvSpPr>
          <p:cNvPr id="119" name="Sidebar"/>
          <p:cNvSpPr/>
          <p:nvPr/>
        </p:nvSpPr>
        <p:spPr>
          <a:xfrm>
            <a:off x="8890000" y="1841500"/>
            <a:ext cx="2794000" cy="412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0" name="SbCirc0"/>
          <p:cNvSpPr/>
          <p:nvPr/>
        </p:nvSpPr>
        <p:spPr>
          <a:xfrm>
            <a:off x="9271000" y="2095500"/>
            <a:ext cx="609600" cy="609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DB8E8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1" name="SbT0"/>
          <p:cNvSpPr txBox="1"/>
          <p:nvPr/>
        </p:nvSpPr>
        <p:spPr>
          <a:xfrm>
            <a:off x="10033000" y="2298700"/>
            <a:ext cx="1524000" cy="609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500" b="1" dirty="0">
                <a:solidFill>
                  <a:srgbClr val="0E2559"/>
                </a:solidFill>
              </a:rPr>
              <a:t>User Query</a:t>
            </a:r>
          </a:p>
        </p:txBody>
      </p:sp>
      <p:sp>
        <p:nvSpPr>
          <p:cNvPr id="122" name="DnArr0"/>
          <p:cNvSpPr/>
          <p:nvPr/>
        </p:nvSpPr>
        <p:spPr>
          <a:xfrm rot="10800000">
            <a:off x="9499600" y="2781300"/>
            <a:ext cx="152400" cy="127000"/>
          </a:xfrm>
          <a:prstGeom prst="triangle">
            <a:avLst/>
          </a:prstGeom>
          <a:solidFill>
            <a:srgbClr val="184ED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3" name="SbCirc1"/>
          <p:cNvSpPr/>
          <p:nvPr/>
        </p:nvSpPr>
        <p:spPr>
          <a:xfrm>
            <a:off x="9271000" y="2984500"/>
            <a:ext cx="609600" cy="609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DB8E8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4" name="SbT1"/>
          <p:cNvSpPr txBox="1"/>
          <p:nvPr/>
        </p:nvSpPr>
        <p:spPr>
          <a:xfrm>
            <a:off x="10033000" y="3187700"/>
            <a:ext cx="1524000" cy="609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500" b="1" dirty="0">
                <a:solidFill>
                  <a:srgbClr val="0E2559"/>
                </a:solidFill>
              </a:rPr>
              <a:t>Retrieve</a:t>
            </a:r>
          </a:p>
        </p:txBody>
      </p:sp>
      <p:sp>
        <p:nvSpPr>
          <p:cNvPr id="125" name="DnArr1"/>
          <p:cNvSpPr/>
          <p:nvPr/>
        </p:nvSpPr>
        <p:spPr>
          <a:xfrm rot="10800000">
            <a:off x="9499600" y="3670300"/>
            <a:ext cx="152400" cy="127000"/>
          </a:xfrm>
          <a:prstGeom prst="triangle">
            <a:avLst/>
          </a:prstGeom>
          <a:solidFill>
            <a:srgbClr val="184ED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6" name="SbCirc2"/>
          <p:cNvSpPr/>
          <p:nvPr/>
        </p:nvSpPr>
        <p:spPr>
          <a:xfrm>
            <a:off x="9271000" y="3873500"/>
            <a:ext cx="609600" cy="609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DB8E8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7" name="SbT2"/>
          <p:cNvSpPr txBox="1"/>
          <p:nvPr/>
        </p:nvSpPr>
        <p:spPr>
          <a:xfrm>
            <a:off x="10033000" y="4076700"/>
            <a:ext cx="1524000" cy="609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500" b="1" dirty="0">
                <a:solidFill>
                  <a:srgbClr val="0E2559"/>
                </a:solidFill>
              </a:rPr>
              <a:t>Agent</a:t>
            </a:r>
          </a:p>
        </p:txBody>
      </p:sp>
      <p:sp>
        <p:nvSpPr>
          <p:cNvPr id="128" name="DnArr2"/>
          <p:cNvSpPr/>
          <p:nvPr/>
        </p:nvSpPr>
        <p:spPr>
          <a:xfrm rot="10800000">
            <a:off x="9499600" y="4559300"/>
            <a:ext cx="152400" cy="127000"/>
          </a:xfrm>
          <a:prstGeom prst="triangle">
            <a:avLst/>
          </a:prstGeom>
          <a:solidFill>
            <a:srgbClr val="184ED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9" name="SbCirc3"/>
          <p:cNvSpPr/>
          <p:nvPr/>
        </p:nvSpPr>
        <p:spPr>
          <a:xfrm>
            <a:off x="9271000" y="4762500"/>
            <a:ext cx="609600" cy="609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DB8E8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30" name="SbT3"/>
          <p:cNvSpPr txBox="1"/>
          <p:nvPr/>
        </p:nvSpPr>
        <p:spPr>
          <a:xfrm>
            <a:off x="10033000" y="4838700"/>
            <a:ext cx="1524000" cy="609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500" b="1" dirty="0">
                <a:solidFill>
                  <a:srgbClr val="0E2559"/>
                </a:solidFill>
              </a:rPr>
              <a:t>Answer with</a:t>
            </a:r>
          </a:p>
          <a:p>
            <a:r>
              <a:rPr lang="en-US" sz="1500" b="1" dirty="0">
                <a:solidFill>
                  <a:srgbClr val="0E2559"/>
                </a:solidFill>
              </a:rPr>
              <a:t>Sources</a:t>
            </a:r>
          </a:p>
        </p:txBody>
      </p:sp>
      <p:sp>
        <p:nvSpPr>
          <p:cNvPr id="131" name="CTA"/>
          <p:cNvSpPr/>
          <p:nvPr/>
        </p:nvSpPr>
        <p:spPr>
          <a:xfrm>
            <a:off x="635000" y="6070600"/>
            <a:ext cx="11049000" cy="457200"/>
          </a:xfrm>
          <a:prstGeom prst="roundRect">
            <a:avLst>
              <a:gd name="adj" fmla="val 25000"/>
            </a:avLst>
          </a:prstGeom>
          <a:solidFill>
            <a:srgbClr val="E8EFFB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32" name="CTACirc"/>
          <p:cNvSpPr/>
          <p:nvPr/>
        </p:nvSpPr>
        <p:spPr>
          <a:xfrm>
            <a:off x="838200" y="6159500"/>
            <a:ext cx="279400" cy="279400"/>
          </a:xfrm>
          <a:prstGeom prst="ellipse">
            <a:avLst/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33" name="CTASep"/>
          <p:cNvSpPr/>
          <p:nvPr/>
        </p:nvSpPr>
        <p:spPr>
          <a:xfrm>
            <a:off x="1270000" y="6184900"/>
            <a:ext cx="12700" cy="22860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34" name="CTAText"/>
          <p:cNvSpPr txBox="1"/>
          <p:nvPr/>
        </p:nvSpPr>
        <p:spPr>
          <a:xfrm>
            <a:off x="1447800" y="6134100"/>
            <a:ext cx="100330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400" b="1" dirty="0">
                <a:solidFill>
                  <a:srgbClr val="0E2559"/>
                </a:solidFill>
              </a:rPr>
              <a:t>Solve the problem by </a:t>
            </a:r>
            <a:r>
              <a:rPr lang="en-US" sz="1400" b="1" dirty="0">
                <a:solidFill>
                  <a:srgbClr val="184ED2"/>
                </a:solidFill>
              </a:rPr>
              <a:t>connecting current data and tools</a:t>
            </a:r>
            <a:r>
              <a:rPr lang="en-US" sz="1400" b="1" dirty="0">
                <a:solidFill>
                  <a:srgbClr val="0E2559"/>
                </a:solidFill>
              </a:rPr>
              <a:t>, not by retraining a model.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3ECD27-BF2A-444A-83CE-3B2512C3BA3B}"/>
              </a:ext>
            </a:extLst>
          </p:cNvPr>
          <p:cNvSpPr txBox="1"/>
          <p:nvPr/>
        </p:nvSpPr>
        <p:spPr>
          <a:xfrm>
            <a:off x="457200" y="6654800"/>
            <a:ext cx="762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>
                <a:solidFill>
                  <a:srgbClr val="184ED2"/>
                </a:solidFill>
              </a:rPr>
              <a:t>Proposal criterion: Technical approach and rationale</a:t>
            </a:r>
            <a:endParaRPr lang="ko-KR" altLang="en-US" sz="1000">
              <a:solidFill>
                <a:srgbClr val="184ED2"/>
              </a:solidFill>
            </a:endParaRPr>
          </a:p>
        </p:txBody>
      </p:sp>
      <p:pic>
        <p:nvPicPr>
          <p:cNvPr id="135" name="Graphic 13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7400" y="2794000"/>
            <a:ext cx="457200" cy="457200"/>
          </a:xfrm>
          <a:prstGeom prst="rect">
            <a:avLst/>
          </a:prstGeom>
        </p:spPr>
      </p:pic>
      <p:pic>
        <p:nvPicPr>
          <p:cNvPr id="136" name="Graphic 13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4400" y="2794000"/>
            <a:ext cx="457200" cy="457200"/>
          </a:xfrm>
          <a:prstGeom prst="rect">
            <a:avLst/>
          </a:prstGeom>
        </p:spPr>
      </p:pic>
      <p:pic>
        <p:nvPicPr>
          <p:cNvPr id="137" name="Graphic 13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400" y="3873500"/>
            <a:ext cx="457200" cy="457200"/>
          </a:xfrm>
          <a:prstGeom prst="rect">
            <a:avLst/>
          </a:prstGeom>
        </p:spPr>
      </p:pic>
      <p:pic>
        <p:nvPicPr>
          <p:cNvPr id="138" name="Graphic 13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54400" y="3873500"/>
            <a:ext cx="457200" cy="457200"/>
          </a:xfrm>
          <a:prstGeom prst="rect">
            <a:avLst/>
          </a:prstGeom>
        </p:spPr>
      </p:pic>
      <p:pic>
        <p:nvPicPr>
          <p:cNvPr id="139" name="Graphic 13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48400" y="3873500"/>
            <a:ext cx="457200" cy="457200"/>
          </a:xfrm>
          <a:prstGeom prst="rect">
            <a:avLst/>
          </a:prstGeom>
        </p:spPr>
      </p:pic>
      <p:pic>
        <p:nvPicPr>
          <p:cNvPr id="140" name="Graphic 14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54400" y="4953000"/>
            <a:ext cx="457200" cy="457200"/>
          </a:xfrm>
          <a:prstGeom prst="rect">
            <a:avLst/>
          </a:prstGeom>
        </p:spPr>
      </p:pic>
      <p:pic>
        <p:nvPicPr>
          <p:cNvPr id="141" name="Graphic 14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48400" y="4953000"/>
            <a:ext cx="457200" cy="457200"/>
          </a:xfrm>
          <a:prstGeom prst="rect">
            <a:avLst/>
          </a:prstGeom>
        </p:spPr>
      </p:pic>
      <p:pic>
        <p:nvPicPr>
          <p:cNvPr id="142" name="Graphic 14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98000" y="2222500"/>
            <a:ext cx="355600" cy="355600"/>
          </a:xfrm>
          <a:prstGeom prst="rect">
            <a:avLst/>
          </a:prstGeom>
        </p:spPr>
      </p:pic>
      <p:pic>
        <p:nvPicPr>
          <p:cNvPr id="143" name="Graphic 14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98000" y="3111500"/>
            <a:ext cx="355600" cy="355600"/>
          </a:xfrm>
          <a:prstGeom prst="rect">
            <a:avLst/>
          </a:prstGeom>
        </p:spPr>
      </p:pic>
      <p:pic>
        <p:nvPicPr>
          <p:cNvPr id="144" name="Graphic 14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98000" y="4000500"/>
            <a:ext cx="355600" cy="355600"/>
          </a:xfrm>
          <a:prstGeom prst="rect">
            <a:avLst/>
          </a:prstGeom>
        </p:spPr>
      </p:pic>
      <p:pic>
        <p:nvPicPr>
          <p:cNvPr id="145" name="Graphic 14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48400" y="2794000"/>
            <a:ext cx="457200" cy="457200"/>
          </a:xfrm>
          <a:prstGeom prst="rect">
            <a:avLst/>
          </a:prstGeom>
        </p:spPr>
      </p:pic>
      <p:pic>
        <p:nvPicPr>
          <p:cNvPr id="146" name="Graphic 14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87400" y="4953000"/>
            <a:ext cx="457200" cy="457200"/>
          </a:xfrm>
          <a:prstGeom prst="rect">
            <a:avLst/>
          </a:prstGeom>
        </p:spPr>
      </p:pic>
      <p:pic>
        <p:nvPicPr>
          <p:cNvPr id="147" name="Graphic 14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398000" y="48895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045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ection"/>
          <p:cNvSpPr txBox="1"/>
          <p:nvPr/>
        </p:nvSpPr>
        <p:spPr>
          <a:xfrm>
            <a:off x="9906000" y="406400"/>
            <a:ext cx="1905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en-US" sz="1100" b="1" dirty="0">
                <a:solidFill>
                  <a:srgbClr val="184ED2"/>
                </a:solidFill>
              </a:rPr>
              <a:t>DATA</a:t>
            </a:r>
            <a:r>
              <a:rPr lang="en-US" sz="1100" dirty="0">
                <a:solidFill>
                  <a:srgbClr val="BFD4F5"/>
                </a:solidFill>
              </a:rPr>
              <a:t>    |    </a:t>
            </a:r>
            <a:r>
              <a:rPr lang="en-US" sz="1100" b="1" dirty="0">
                <a:solidFill>
                  <a:srgbClr val="0E2559"/>
                </a:solidFill>
              </a:rPr>
              <a:t>08</a:t>
            </a:r>
          </a:p>
        </p:txBody>
      </p:sp>
      <p:sp>
        <p:nvSpPr>
          <p:cNvPr id="101" name="Title"/>
          <p:cNvSpPr txBox="1"/>
          <p:nvPr/>
        </p:nvSpPr>
        <p:spPr>
          <a:xfrm>
            <a:off x="609600" y="762000"/>
            <a:ext cx="9652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3600" b="1" dirty="0">
                <a:solidFill>
                  <a:srgbClr val="0E2559"/>
                </a:solidFill>
              </a:rPr>
              <a:t>Dataset and processing strategy</a:t>
            </a:r>
          </a:p>
        </p:txBody>
      </p:sp>
      <p:sp>
        <p:nvSpPr>
          <p:cNvPr id="102" name="TableBg"/>
          <p:cNvSpPr/>
          <p:nvPr/>
        </p:nvSpPr>
        <p:spPr>
          <a:xfrm>
            <a:off x="635000" y="1841500"/>
            <a:ext cx="11176000" cy="4140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3" name="HeaderBar"/>
          <p:cNvSpPr/>
          <p:nvPr/>
        </p:nvSpPr>
        <p:spPr>
          <a:xfrm>
            <a:off x="635000" y="1841500"/>
            <a:ext cx="11176000" cy="584200"/>
          </a:xfrm>
          <a:prstGeom prst="roundRect">
            <a:avLst>
              <a:gd name="adj" fmla="val 6000"/>
            </a:avLst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4" name="HeaderMask"/>
          <p:cNvSpPr/>
          <p:nvPr/>
        </p:nvSpPr>
        <p:spPr>
          <a:xfrm>
            <a:off x="635000" y="2133600"/>
            <a:ext cx="11176000" cy="292100"/>
          </a:xfrm>
          <a:prstGeom prst="rect">
            <a:avLst/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5" name="H0"/>
          <p:cNvSpPr txBox="1"/>
          <p:nvPr/>
        </p:nvSpPr>
        <p:spPr>
          <a:xfrm>
            <a:off x="635000" y="2006600"/>
            <a:ext cx="2794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Data Source</a:t>
            </a:r>
          </a:p>
        </p:txBody>
      </p:sp>
      <p:sp>
        <p:nvSpPr>
          <p:cNvPr id="106" name="H1"/>
          <p:cNvSpPr txBox="1"/>
          <p:nvPr/>
        </p:nvSpPr>
        <p:spPr>
          <a:xfrm>
            <a:off x="3429000" y="2006600"/>
            <a:ext cx="2794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107" name="H2"/>
          <p:cNvSpPr txBox="1"/>
          <p:nvPr/>
        </p:nvSpPr>
        <p:spPr>
          <a:xfrm>
            <a:off x="6223000" y="2006600"/>
            <a:ext cx="2794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Update Method</a:t>
            </a:r>
          </a:p>
        </p:txBody>
      </p:sp>
      <p:sp>
        <p:nvSpPr>
          <p:cNvPr id="108" name="H3"/>
          <p:cNvSpPr txBox="1"/>
          <p:nvPr/>
        </p:nvSpPr>
        <p:spPr>
          <a:xfrm>
            <a:off x="9017000" y="2006600"/>
            <a:ext cx="2794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Processing Strategy</a:t>
            </a:r>
          </a:p>
        </p:txBody>
      </p:sp>
      <p:sp>
        <p:nvSpPr>
          <p:cNvPr id="109" name="R0C0"/>
          <p:cNvSpPr txBox="1"/>
          <p:nvPr/>
        </p:nvSpPr>
        <p:spPr>
          <a:xfrm>
            <a:off x="1270000" y="2654300"/>
            <a:ext cx="20955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300" b="1" dirty="0">
                <a:solidFill>
                  <a:srgbClr val="184ED2"/>
                </a:solidFill>
              </a:rPr>
              <a:t>Youth policy data</a:t>
            </a:r>
          </a:p>
        </p:txBody>
      </p:sp>
      <p:sp>
        <p:nvSpPr>
          <p:cNvPr id="110" name="R0C1"/>
          <p:cNvSpPr txBox="1"/>
          <p:nvPr/>
        </p:nvSpPr>
        <p:spPr>
          <a:xfrm>
            <a:off x="3530600" y="2616200"/>
            <a:ext cx="25908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200" dirty="0">
                <a:solidFill>
                  <a:srgbClr val="3A4A66"/>
                </a:solidFill>
              </a:rPr>
              <a:t>Policy matching and eligibility</a:t>
            </a:r>
          </a:p>
        </p:txBody>
      </p:sp>
      <p:sp>
        <p:nvSpPr>
          <p:cNvPr id="111" name="R0C2"/>
          <p:cNvSpPr txBox="1"/>
          <p:nvPr/>
        </p:nvSpPr>
        <p:spPr>
          <a:xfrm>
            <a:off x="6324600" y="2616200"/>
            <a:ext cx="25908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200" dirty="0">
                <a:solidFill>
                  <a:srgbClr val="3A4A66"/>
                </a:solidFill>
              </a:rPr>
              <a:t>Public API / scheduled crawl</a:t>
            </a:r>
          </a:p>
        </p:txBody>
      </p:sp>
      <p:sp>
        <p:nvSpPr>
          <p:cNvPr id="112" name="R0C3"/>
          <p:cNvSpPr txBox="1"/>
          <p:nvPr/>
        </p:nvSpPr>
        <p:spPr>
          <a:xfrm>
            <a:off x="9118600" y="2616200"/>
            <a:ext cx="25908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200" dirty="0">
                <a:solidFill>
                  <a:srgbClr val="3A4A66"/>
                </a:solidFill>
              </a:rPr>
              <a:t>Normalize condition fields</a:t>
            </a:r>
          </a:p>
        </p:txBody>
      </p:sp>
      <p:sp>
        <p:nvSpPr>
          <p:cNvPr id="113" name="Sep1"/>
          <p:cNvSpPr/>
          <p:nvPr/>
        </p:nvSpPr>
        <p:spPr>
          <a:xfrm>
            <a:off x="762000" y="3136900"/>
            <a:ext cx="10922000" cy="635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4" name="R1C0"/>
          <p:cNvSpPr txBox="1"/>
          <p:nvPr/>
        </p:nvSpPr>
        <p:spPr>
          <a:xfrm>
            <a:off x="1270000" y="3365500"/>
            <a:ext cx="20955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300" b="1" dirty="0">
                <a:solidFill>
                  <a:srgbClr val="184ED2"/>
                </a:solidFill>
              </a:rPr>
              <a:t>Job postings</a:t>
            </a:r>
          </a:p>
        </p:txBody>
      </p:sp>
      <p:sp>
        <p:nvSpPr>
          <p:cNvPr id="115" name="R1C1"/>
          <p:cNvSpPr txBox="1"/>
          <p:nvPr/>
        </p:nvSpPr>
        <p:spPr>
          <a:xfrm>
            <a:off x="3530600" y="3327400"/>
            <a:ext cx="25908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200" dirty="0">
                <a:solidFill>
                  <a:srgbClr val="3A4A66"/>
                </a:solidFill>
              </a:rPr>
              <a:t>Role and region recommendations</a:t>
            </a:r>
          </a:p>
        </p:txBody>
      </p:sp>
      <p:sp>
        <p:nvSpPr>
          <p:cNvPr id="116" name="R1C2"/>
          <p:cNvSpPr txBox="1"/>
          <p:nvPr/>
        </p:nvSpPr>
        <p:spPr>
          <a:xfrm>
            <a:off x="6324600" y="3327400"/>
            <a:ext cx="25908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200" dirty="0">
                <a:solidFill>
                  <a:srgbClr val="3A4A66"/>
                </a:solidFill>
              </a:rPr>
              <a:t>Job API / RSS</a:t>
            </a:r>
          </a:p>
        </p:txBody>
      </p:sp>
      <p:sp>
        <p:nvSpPr>
          <p:cNvPr id="117" name="R1C3"/>
          <p:cNvSpPr txBox="1"/>
          <p:nvPr/>
        </p:nvSpPr>
        <p:spPr>
          <a:xfrm>
            <a:off x="9118600" y="3327400"/>
            <a:ext cx="25908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200" dirty="0">
                <a:solidFill>
                  <a:srgbClr val="3A4A66"/>
                </a:solidFill>
              </a:rPr>
              <a:t>Tag roles and skills</a:t>
            </a:r>
          </a:p>
        </p:txBody>
      </p:sp>
      <p:sp>
        <p:nvSpPr>
          <p:cNvPr id="118" name="Sep2"/>
          <p:cNvSpPr/>
          <p:nvPr/>
        </p:nvSpPr>
        <p:spPr>
          <a:xfrm>
            <a:off x="762000" y="3848100"/>
            <a:ext cx="10922000" cy="635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9" name="R2C0"/>
          <p:cNvSpPr txBox="1"/>
          <p:nvPr/>
        </p:nvSpPr>
        <p:spPr>
          <a:xfrm>
            <a:off x="1270000" y="4076700"/>
            <a:ext cx="20955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300" b="1" dirty="0">
                <a:solidFill>
                  <a:srgbClr val="184ED2"/>
                </a:solidFill>
              </a:rPr>
              <a:t>Successful resume examples</a:t>
            </a:r>
          </a:p>
        </p:txBody>
      </p:sp>
      <p:sp>
        <p:nvSpPr>
          <p:cNvPr id="120" name="R2C1"/>
          <p:cNvSpPr txBox="1"/>
          <p:nvPr/>
        </p:nvSpPr>
        <p:spPr>
          <a:xfrm>
            <a:off x="3530600" y="4038600"/>
            <a:ext cx="25908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200" dirty="0">
                <a:solidFill>
                  <a:srgbClr val="3A4A66"/>
                </a:solidFill>
              </a:rPr>
              <a:t>Feedback criteria</a:t>
            </a:r>
          </a:p>
        </p:txBody>
      </p:sp>
      <p:sp>
        <p:nvSpPr>
          <p:cNvPr id="121" name="R2C2"/>
          <p:cNvSpPr txBox="1"/>
          <p:nvPr/>
        </p:nvSpPr>
        <p:spPr>
          <a:xfrm>
            <a:off x="6324600" y="4038600"/>
            <a:ext cx="25908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200" dirty="0">
                <a:solidFill>
                  <a:srgbClr val="3A4A66"/>
                </a:solidFill>
              </a:rPr>
              <a:t>Curated public material</a:t>
            </a:r>
          </a:p>
        </p:txBody>
      </p:sp>
      <p:sp>
        <p:nvSpPr>
          <p:cNvPr id="122" name="R2C3"/>
          <p:cNvSpPr txBox="1"/>
          <p:nvPr/>
        </p:nvSpPr>
        <p:spPr>
          <a:xfrm>
            <a:off x="9118600" y="4038600"/>
            <a:ext cx="25908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200" dirty="0">
                <a:solidFill>
                  <a:srgbClr val="3A4A66"/>
                </a:solidFill>
              </a:rPr>
              <a:t>Chunk by prompt and competency</a:t>
            </a:r>
          </a:p>
        </p:txBody>
      </p:sp>
      <p:sp>
        <p:nvSpPr>
          <p:cNvPr id="123" name="Sep3"/>
          <p:cNvSpPr/>
          <p:nvPr/>
        </p:nvSpPr>
        <p:spPr>
          <a:xfrm>
            <a:off x="762000" y="4559300"/>
            <a:ext cx="10922000" cy="635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4" name="R3C0"/>
          <p:cNvSpPr txBox="1"/>
          <p:nvPr/>
        </p:nvSpPr>
        <p:spPr>
          <a:xfrm>
            <a:off x="1270000" y="4787900"/>
            <a:ext cx="20955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300" b="1" dirty="0">
                <a:solidFill>
                  <a:srgbClr val="184ED2"/>
                </a:solidFill>
              </a:rPr>
              <a:t>Evaluation rubrics</a:t>
            </a:r>
          </a:p>
        </p:txBody>
      </p:sp>
      <p:sp>
        <p:nvSpPr>
          <p:cNvPr id="125" name="R3C1"/>
          <p:cNvSpPr txBox="1"/>
          <p:nvPr/>
        </p:nvSpPr>
        <p:spPr>
          <a:xfrm>
            <a:off x="3530600" y="4749800"/>
            <a:ext cx="25908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200" dirty="0">
                <a:solidFill>
                  <a:srgbClr val="3A4A66"/>
                </a:solidFill>
              </a:rPr>
              <a:t>Resume and interview coaching</a:t>
            </a:r>
          </a:p>
        </p:txBody>
      </p:sp>
      <p:sp>
        <p:nvSpPr>
          <p:cNvPr id="126" name="R3C2"/>
          <p:cNvSpPr txBox="1"/>
          <p:nvPr/>
        </p:nvSpPr>
        <p:spPr>
          <a:xfrm>
            <a:off x="6324600" y="4749800"/>
            <a:ext cx="25908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200" dirty="0">
                <a:solidFill>
                  <a:srgbClr val="3A4A66"/>
                </a:solidFill>
              </a:rPr>
              <a:t>Course rubric and guides</a:t>
            </a:r>
          </a:p>
        </p:txBody>
      </p:sp>
      <p:sp>
        <p:nvSpPr>
          <p:cNvPr id="127" name="R3C3"/>
          <p:cNvSpPr txBox="1"/>
          <p:nvPr/>
        </p:nvSpPr>
        <p:spPr>
          <a:xfrm>
            <a:off x="9118600" y="4749800"/>
            <a:ext cx="25908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200" dirty="0">
                <a:solidFill>
                  <a:srgbClr val="3A4A66"/>
                </a:solidFill>
              </a:rPr>
              <a:t>Convert to prompt rules</a:t>
            </a:r>
          </a:p>
        </p:txBody>
      </p:sp>
      <p:sp>
        <p:nvSpPr>
          <p:cNvPr id="128" name="Sep4"/>
          <p:cNvSpPr/>
          <p:nvPr/>
        </p:nvSpPr>
        <p:spPr>
          <a:xfrm>
            <a:off x="762000" y="5270500"/>
            <a:ext cx="10922000" cy="635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9" name="R4C0"/>
          <p:cNvSpPr txBox="1"/>
          <p:nvPr/>
        </p:nvSpPr>
        <p:spPr>
          <a:xfrm>
            <a:off x="1270000" y="5499100"/>
            <a:ext cx="20955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300" b="1" dirty="0">
                <a:solidFill>
                  <a:srgbClr val="184ED2"/>
                </a:solidFill>
              </a:rPr>
              <a:t>Disclosures and news</a:t>
            </a:r>
          </a:p>
        </p:txBody>
      </p:sp>
      <p:sp>
        <p:nvSpPr>
          <p:cNvPr id="130" name="R4C1"/>
          <p:cNvSpPr txBox="1"/>
          <p:nvPr/>
        </p:nvSpPr>
        <p:spPr>
          <a:xfrm>
            <a:off x="3530600" y="5461000"/>
            <a:ext cx="25908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200" dirty="0">
                <a:solidFill>
                  <a:srgbClr val="3A4A66"/>
                </a:solidFill>
              </a:rPr>
              <a:t>Company context enrichment</a:t>
            </a:r>
          </a:p>
        </p:txBody>
      </p:sp>
      <p:sp>
        <p:nvSpPr>
          <p:cNvPr id="131" name="R4C2"/>
          <p:cNvSpPr txBox="1"/>
          <p:nvPr/>
        </p:nvSpPr>
        <p:spPr>
          <a:xfrm>
            <a:off x="6324600" y="5461000"/>
            <a:ext cx="25908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200" dirty="0">
                <a:solidFill>
                  <a:srgbClr val="3A4A66"/>
                </a:solidFill>
              </a:rPr>
              <a:t>Search and disclosure links</a:t>
            </a:r>
          </a:p>
        </p:txBody>
      </p:sp>
      <p:sp>
        <p:nvSpPr>
          <p:cNvPr id="132" name="R4C3"/>
          <p:cNvSpPr txBox="1"/>
          <p:nvPr/>
        </p:nvSpPr>
        <p:spPr>
          <a:xfrm>
            <a:off x="9118600" y="5461000"/>
            <a:ext cx="25908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200" dirty="0">
                <a:solidFill>
                  <a:srgbClr val="3A4A66"/>
                </a:solidFill>
              </a:rPr>
              <a:t>Source-based summaries</a:t>
            </a:r>
          </a:p>
        </p:txBody>
      </p:sp>
      <p:sp>
        <p:nvSpPr>
          <p:cNvPr id="133" name="CTA"/>
          <p:cNvSpPr/>
          <p:nvPr/>
        </p:nvSpPr>
        <p:spPr>
          <a:xfrm>
            <a:off x="1143000" y="6070600"/>
            <a:ext cx="9906000" cy="457200"/>
          </a:xfrm>
          <a:prstGeom prst="roundRect">
            <a:avLst>
              <a:gd name="adj" fmla="val 30000"/>
            </a:avLst>
          </a:prstGeom>
          <a:solidFill>
            <a:srgbClr val="E8EFFB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34" name="CTACircle"/>
          <p:cNvSpPr/>
          <p:nvPr/>
        </p:nvSpPr>
        <p:spPr>
          <a:xfrm>
            <a:off x="1346200" y="6146800"/>
            <a:ext cx="304800" cy="304800"/>
          </a:xfrm>
          <a:prstGeom prst="ellipse">
            <a:avLst/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35" name="CTASep"/>
          <p:cNvSpPr/>
          <p:nvPr/>
        </p:nvSpPr>
        <p:spPr>
          <a:xfrm>
            <a:off x="1828800" y="6184900"/>
            <a:ext cx="12700" cy="22860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36" name="CTAText"/>
          <p:cNvSpPr txBox="1"/>
          <p:nvPr/>
        </p:nvSpPr>
        <p:spPr>
          <a:xfrm>
            <a:off x="2032000" y="6121400"/>
            <a:ext cx="8890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500" b="1" dirty="0">
                <a:solidFill>
                  <a:srgbClr val="0E2559"/>
                </a:solidFill>
              </a:rPr>
              <a:t>Use only </a:t>
            </a:r>
            <a:r>
              <a:rPr lang="en-US" sz="1500" b="1" dirty="0">
                <a:solidFill>
                  <a:srgbClr val="184ED2"/>
                </a:solidFill>
              </a:rPr>
              <a:t>public data</a:t>
            </a:r>
            <a:r>
              <a:rPr lang="en-US" sz="1500" b="1" dirty="0">
                <a:solidFill>
                  <a:srgbClr val="0E2559"/>
                </a:solidFill>
              </a:rPr>
              <a:t> with checked licenses and privacy constraints.</a:t>
            </a:r>
          </a:p>
        </p:txBody>
      </p:sp>
      <p:sp>
        <p:nvSpPr>
          <p:cNvPr id="137" name="Footer"/>
          <p:cNvSpPr txBox="1"/>
          <p:nvPr/>
        </p:nvSpPr>
        <p:spPr>
          <a:xfrm>
            <a:off x="457200" y="6654800"/>
            <a:ext cx="762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000" dirty="0">
                <a:solidFill>
                  <a:srgbClr val="184ED2"/>
                </a:solidFill>
              </a:rPr>
              <a:t>Proposal criterion: Dataset and processing strategy</a:t>
            </a:r>
          </a:p>
        </p:txBody>
      </p:sp>
      <p:pic>
        <p:nvPicPr>
          <p:cNvPr id="138" name="Graphic 13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2578100"/>
            <a:ext cx="330200" cy="330200"/>
          </a:xfrm>
          <a:prstGeom prst="rect">
            <a:avLst/>
          </a:prstGeom>
        </p:spPr>
      </p:pic>
      <p:pic>
        <p:nvPicPr>
          <p:cNvPr id="139" name="Graphic 13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3289300"/>
            <a:ext cx="330200" cy="330200"/>
          </a:xfrm>
          <a:prstGeom prst="rect">
            <a:avLst/>
          </a:prstGeom>
        </p:spPr>
      </p:pic>
      <p:pic>
        <p:nvPicPr>
          <p:cNvPr id="140" name="Graphic 14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" y="4000500"/>
            <a:ext cx="330200" cy="330200"/>
          </a:xfrm>
          <a:prstGeom prst="rect">
            <a:avLst/>
          </a:prstGeom>
        </p:spPr>
      </p:pic>
      <p:pic>
        <p:nvPicPr>
          <p:cNvPr id="141" name="Graphic 14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4711700"/>
            <a:ext cx="330200" cy="330200"/>
          </a:xfrm>
          <a:prstGeom prst="rect">
            <a:avLst/>
          </a:prstGeom>
        </p:spPr>
      </p:pic>
      <p:pic>
        <p:nvPicPr>
          <p:cNvPr id="142" name="Graphic 14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" y="5422900"/>
            <a:ext cx="330200" cy="330200"/>
          </a:xfrm>
          <a:prstGeom prst="rect">
            <a:avLst/>
          </a:prstGeom>
        </p:spPr>
      </p:pic>
      <p:pic>
        <p:nvPicPr>
          <p:cNvPr id="143" name="Graphic 14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22400" y="6172200"/>
            <a:ext cx="177800" cy="17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267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ection"/>
          <p:cNvSpPr txBox="1"/>
          <p:nvPr/>
        </p:nvSpPr>
        <p:spPr>
          <a:xfrm>
            <a:off x="9906000" y="406400"/>
            <a:ext cx="1905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en-US" sz="1100" b="1" dirty="0">
                <a:solidFill>
                  <a:srgbClr val="184ED2"/>
                </a:solidFill>
              </a:rPr>
              <a:t>EVALUATION</a:t>
            </a:r>
            <a:r>
              <a:rPr lang="en-US" sz="1100" dirty="0">
                <a:solidFill>
                  <a:srgbClr val="BFD4F5"/>
                </a:solidFill>
              </a:rPr>
              <a:t>    |    </a:t>
            </a:r>
            <a:r>
              <a:rPr lang="en-US" sz="1100" b="1" dirty="0">
                <a:solidFill>
                  <a:srgbClr val="0E2559"/>
                </a:solidFill>
              </a:rPr>
              <a:t>09</a:t>
            </a:r>
          </a:p>
        </p:txBody>
      </p:sp>
      <p:sp>
        <p:nvSpPr>
          <p:cNvPr id="101" name="Title"/>
          <p:cNvSpPr txBox="1"/>
          <p:nvPr/>
        </p:nvSpPr>
        <p:spPr>
          <a:xfrm>
            <a:off x="609600" y="762000"/>
            <a:ext cx="9652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3600" b="1" dirty="0">
                <a:solidFill>
                  <a:srgbClr val="0E2559"/>
                </a:solidFill>
              </a:rPr>
              <a:t>Experiment and evaluation plan</a:t>
            </a:r>
          </a:p>
        </p:txBody>
      </p:sp>
      <p:sp>
        <p:nvSpPr>
          <p:cNvPr id="102" name="LeftPanel"/>
          <p:cNvSpPr/>
          <p:nvPr/>
        </p:nvSpPr>
        <p:spPr>
          <a:xfrm>
            <a:off x="635000" y="1841500"/>
            <a:ext cx="6604000" cy="3683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3" name="LeftHeader"/>
          <p:cNvSpPr/>
          <p:nvPr/>
        </p:nvSpPr>
        <p:spPr>
          <a:xfrm>
            <a:off x="635000" y="1841500"/>
            <a:ext cx="6604000" cy="533400"/>
          </a:xfrm>
          <a:prstGeom prst="roundRect">
            <a:avLst>
              <a:gd name="adj" fmla="val 8000"/>
            </a:avLst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4" name="LeftHeaderMask"/>
          <p:cNvSpPr/>
          <p:nvPr/>
        </p:nvSpPr>
        <p:spPr>
          <a:xfrm>
            <a:off x="635000" y="2108200"/>
            <a:ext cx="6604000" cy="266700"/>
          </a:xfrm>
          <a:prstGeom prst="rect">
            <a:avLst/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5" name="LeftTitle"/>
          <p:cNvSpPr txBox="1"/>
          <p:nvPr/>
        </p:nvSpPr>
        <p:spPr>
          <a:xfrm>
            <a:off x="635000" y="1968500"/>
            <a:ext cx="6604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700" b="1" dirty="0">
                <a:solidFill>
                  <a:srgbClr val="FFFFFF"/>
                </a:solidFill>
              </a:rPr>
              <a:t>Quantitative Evaluation</a:t>
            </a:r>
          </a:p>
        </p:txBody>
      </p:sp>
      <p:sp>
        <p:nvSpPr>
          <p:cNvPr id="106" name="LSub0"/>
          <p:cNvSpPr/>
          <p:nvPr/>
        </p:nvSpPr>
        <p:spPr>
          <a:xfrm>
            <a:off x="787400" y="2603500"/>
            <a:ext cx="2015067" cy="2768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7" name="LNum0"/>
          <p:cNvSpPr/>
          <p:nvPr/>
        </p:nvSpPr>
        <p:spPr>
          <a:xfrm>
            <a:off x="1617133" y="2730500"/>
            <a:ext cx="355600" cy="355600"/>
          </a:xfrm>
          <a:prstGeom prst="ellipse">
            <a:avLst/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8" name="LNumT0"/>
          <p:cNvSpPr txBox="1"/>
          <p:nvPr/>
        </p:nvSpPr>
        <p:spPr>
          <a:xfrm>
            <a:off x="787400" y="2781300"/>
            <a:ext cx="2015067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9" name="LTitle0"/>
          <p:cNvSpPr txBox="1"/>
          <p:nvPr/>
        </p:nvSpPr>
        <p:spPr>
          <a:xfrm>
            <a:off x="787400" y="3975100"/>
            <a:ext cx="2015067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400" b="1" dirty="0">
                <a:solidFill>
                  <a:srgbClr val="0E2559"/>
                </a:solidFill>
              </a:rPr>
              <a:t>Policy Match</a:t>
            </a:r>
          </a:p>
          <a:p>
            <a:pPr algn="ctr"/>
            <a:r>
              <a:rPr lang="en-US" sz="1400" b="1" dirty="0">
                <a:solidFill>
                  <a:srgbClr val="0E2559"/>
                </a:solidFill>
              </a:rPr>
              <a:t>Accuracy</a:t>
            </a:r>
          </a:p>
        </p:txBody>
      </p:sp>
      <p:sp>
        <p:nvSpPr>
          <p:cNvPr id="110" name="LUL0"/>
          <p:cNvSpPr/>
          <p:nvPr/>
        </p:nvSpPr>
        <p:spPr>
          <a:xfrm>
            <a:off x="1092200" y="4559300"/>
            <a:ext cx="1405467" cy="1270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1" name="LBody0"/>
          <p:cNvSpPr txBox="1"/>
          <p:nvPr/>
        </p:nvSpPr>
        <p:spPr>
          <a:xfrm>
            <a:off x="889000" y="4660900"/>
            <a:ext cx="1811867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100" dirty="0">
                <a:solidFill>
                  <a:srgbClr val="3A4A66"/>
                </a:solidFill>
              </a:rPr>
              <a:t>Fit between user profile and recommended policies</a:t>
            </a:r>
          </a:p>
        </p:txBody>
      </p:sp>
      <p:sp>
        <p:nvSpPr>
          <p:cNvPr id="112" name="LSub1"/>
          <p:cNvSpPr/>
          <p:nvPr/>
        </p:nvSpPr>
        <p:spPr>
          <a:xfrm>
            <a:off x="2878667" y="2603500"/>
            <a:ext cx="2015067" cy="2768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3" name="LNum1"/>
          <p:cNvSpPr/>
          <p:nvPr/>
        </p:nvSpPr>
        <p:spPr>
          <a:xfrm>
            <a:off x="3708400" y="2730500"/>
            <a:ext cx="355600" cy="355600"/>
          </a:xfrm>
          <a:prstGeom prst="ellipse">
            <a:avLst/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4" name="LNumT1"/>
          <p:cNvSpPr txBox="1"/>
          <p:nvPr/>
        </p:nvSpPr>
        <p:spPr>
          <a:xfrm>
            <a:off x="2878667" y="2781300"/>
            <a:ext cx="2015067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5" name="LTitle1"/>
          <p:cNvSpPr txBox="1"/>
          <p:nvPr/>
        </p:nvSpPr>
        <p:spPr>
          <a:xfrm>
            <a:off x="2878667" y="3975100"/>
            <a:ext cx="2015067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400" b="1" dirty="0">
                <a:solidFill>
                  <a:srgbClr val="0E2559"/>
                </a:solidFill>
              </a:rPr>
              <a:t>Source</a:t>
            </a:r>
          </a:p>
          <a:p>
            <a:pPr algn="ctr"/>
            <a:r>
              <a:rPr lang="en-US" sz="1400" b="1" dirty="0">
                <a:solidFill>
                  <a:srgbClr val="0E2559"/>
                </a:solidFill>
              </a:rPr>
              <a:t>Agreement</a:t>
            </a:r>
          </a:p>
        </p:txBody>
      </p:sp>
      <p:sp>
        <p:nvSpPr>
          <p:cNvPr id="116" name="LUL1"/>
          <p:cNvSpPr/>
          <p:nvPr/>
        </p:nvSpPr>
        <p:spPr>
          <a:xfrm>
            <a:off x="3183467" y="4559300"/>
            <a:ext cx="1405467" cy="1270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7" name="LBody1"/>
          <p:cNvSpPr txBox="1"/>
          <p:nvPr/>
        </p:nvSpPr>
        <p:spPr>
          <a:xfrm>
            <a:off x="2980267" y="4660900"/>
            <a:ext cx="1811867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100" dirty="0">
                <a:solidFill>
                  <a:srgbClr val="3A4A66"/>
                </a:solidFill>
              </a:rPr>
              <a:t>Consistency between answer evidence and source conditions</a:t>
            </a:r>
          </a:p>
        </p:txBody>
      </p:sp>
      <p:sp>
        <p:nvSpPr>
          <p:cNvPr id="118" name="LSub2"/>
          <p:cNvSpPr/>
          <p:nvPr/>
        </p:nvSpPr>
        <p:spPr>
          <a:xfrm>
            <a:off x="4969933" y="2603500"/>
            <a:ext cx="2015067" cy="2768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9" name="LNum2"/>
          <p:cNvSpPr/>
          <p:nvPr/>
        </p:nvSpPr>
        <p:spPr>
          <a:xfrm>
            <a:off x="5799667" y="2730500"/>
            <a:ext cx="355600" cy="355600"/>
          </a:xfrm>
          <a:prstGeom prst="ellipse">
            <a:avLst/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0" name="LNumT2"/>
          <p:cNvSpPr txBox="1"/>
          <p:nvPr/>
        </p:nvSpPr>
        <p:spPr>
          <a:xfrm>
            <a:off x="4969933" y="2781300"/>
            <a:ext cx="2015067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1" name="LTitle2"/>
          <p:cNvSpPr txBox="1"/>
          <p:nvPr/>
        </p:nvSpPr>
        <p:spPr>
          <a:xfrm>
            <a:off x="4969933" y="3975100"/>
            <a:ext cx="2015067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400" b="1" dirty="0">
                <a:solidFill>
                  <a:srgbClr val="0E2559"/>
                </a:solidFill>
              </a:rPr>
              <a:t>Response</a:t>
            </a:r>
          </a:p>
          <a:p>
            <a:pPr algn="ctr"/>
            <a:r>
              <a:rPr lang="en-US" sz="1400" b="1" dirty="0">
                <a:solidFill>
                  <a:srgbClr val="0E2559"/>
                </a:solidFill>
              </a:rPr>
              <a:t>Time</a:t>
            </a:r>
          </a:p>
        </p:txBody>
      </p:sp>
      <p:sp>
        <p:nvSpPr>
          <p:cNvPr id="122" name="LUL2"/>
          <p:cNvSpPr/>
          <p:nvPr/>
        </p:nvSpPr>
        <p:spPr>
          <a:xfrm>
            <a:off x="5274733" y="4559300"/>
            <a:ext cx="1405467" cy="1270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3" name="LBody2"/>
          <p:cNvSpPr txBox="1"/>
          <p:nvPr/>
        </p:nvSpPr>
        <p:spPr>
          <a:xfrm>
            <a:off x="5071533" y="4660900"/>
            <a:ext cx="1811867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100" dirty="0">
                <a:solidFill>
                  <a:srgbClr val="3A4A66"/>
                </a:solidFill>
              </a:rPr>
              <a:t>Latency for practical conversational use</a:t>
            </a:r>
          </a:p>
        </p:txBody>
      </p:sp>
      <p:sp>
        <p:nvSpPr>
          <p:cNvPr id="124" name="RightPanel"/>
          <p:cNvSpPr/>
          <p:nvPr/>
        </p:nvSpPr>
        <p:spPr>
          <a:xfrm>
            <a:off x="7493000" y="1841500"/>
            <a:ext cx="4064000" cy="3683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5" name="RightHeader"/>
          <p:cNvSpPr/>
          <p:nvPr/>
        </p:nvSpPr>
        <p:spPr>
          <a:xfrm>
            <a:off x="7493000" y="1841500"/>
            <a:ext cx="4064000" cy="533400"/>
          </a:xfrm>
          <a:prstGeom prst="roundRect">
            <a:avLst>
              <a:gd name="adj" fmla="val 8000"/>
            </a:avLst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6" name="RightHeaderMask"/>
          <p:cNvSpPr/>
          <p:nvPr/>
        </p:nvSpPr>
        <p:spPr>
          <a:xfrm>
            <a:off x="7493000" y="2108200"/>
            <a:ext cx="4064000" cy="266700"/>
          </a:xfrm>
          <a:prstGeom prst="rect">
            <a:avLst/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7" name="RightTitle"/>
          <p:cNvSpPr txBox="1"/>
          <p:nvPr/>
        </p:nvSpPr>
        <p:spPr>
          <a:xfrm>
            <a:off x="7493000" y="1968500"/>
            <a:ext cx="4064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700" b="1" dirty="0">
                <a:solidFill>
                  <a:srgbClr val="FFFFFF"/>
                </a:solidFill>
              </a:rPr>
              <a:t>Qualitative Evaluation</a:t>
            </a:r>
          </a:p>
        </p:txBody>
      </p:sp>
      <p:sp>
        <p:nvSpPr>
          <p:cNvPr id="128" name="RSub0"/>
          <p:cNvSpPr/>
          <p:nvPr/>
        </p:nvSpPr>
        <p:spPr>
          <a:xfrm>
            <a:off x="7594600" y="2603500"/>
            <a:ext cx="1828800" cy="2768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9" name="RNum0"/>
          <p:cNvSpPr/>
          <p:nvPr/>
        </p:nvSpPr>
        <p:spPr>
          <a:xfrm>
            <a:off x="8331200" y="2730500"/>
            <a:ext cx="355600" cy="355600"/>
          </a:xfrm>
          <a:prstGeom prst="ellipse">
            <a:avLst/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30" name="RNumT0"/>
          <p:cNvSpPr txBox="1"/>
          <p:nvPr/>
        </p:nvSpPr>
        <p:spPr>
          <a:xfrm>
            <a:off x="7594600" y="2781300"/>
            <a:ext cx="18288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1" name="RTitle0"/>
          <p:cNvSpPr txBox="1"/>
          <p:nvPr/>
        </p:nvSpPr>
        <p:spPr>
          <a:xfrm>
            <a:off x="7594600" y="3975100"/>
            <a:ext cx="18288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400" b="1" dirty="0">
                <a:solidFill>
                  <a:srgbClr val="0E2559"/>
                </a:solidFill>
              </a:rPr>
              <a:t>Resume Feedback</a:t>
            </a:r>
          </a:p>
          <a:p>
            <a:pPr algn="ctr"/>
            <a:r>
              <a:rPr lang="en-US" sz="1400" b="1" dirty="0">
                <a:solidFill>
                  <a:srgbClr val="0E2559"/>
                </a:solidFill>
              </a:rPr>
              <a:t>Quality</a:t>
            </a:r>
          </a:p>
        </p:txBody>
      </p:sp>
      <p:sp>
        <p:nvSpPr>
          <p:cNvPr id="132" name="RUL0"/>
          <p:cNvSpPr/>
          <p:nvPr/>
        </p:nvSpPr>
        <p:spPr>
          <a:xfrm>
            <a:off x="7823200" y="4559300"/>
            <a:ext cx="1371600" cy="1270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33" name="RBody0"/>
          <p:cNvSpPr txBox="1"/>
          <p:nvPr/>
        </p:nvSpPr>
        <p:spPr>
          <a:xfrm>
            <a:off x="7670800" y="4660900"/>
            <a:ext cx="1676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100" dirty="0">
                <a:solidFill>
                  <a:srgbClr val="3A4A66"/>
                </a:solidFill>
              </a:rPr>
              <a:t>Specificity, role relevance, and actionability</a:t>
            </a:r>
          </a:p>
        </p:txBody>
      </p:sp>
      <p:sp>
        <p:nvSpPr>
          <p:cNvPr id="134" name="RSub1"/>
          <p:cNvSpPr/>
          <p:nvPr/>
        </p:nvSpPr>
        <p:spPr>
          <a:xfrm>
            <a:off x="9525000" y="2603500"/>
            <a:ext cx="1828800" cy="2768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35" name="RNum1"/>
          <p:cNvSpPr/>
          <p:nvPr/>
        </p:nvSpPr>
        <p:spPr>
          <a:xfrm>
            <a:off x="10261600" y="2730500"/>
            <a:ext cx="355600" cy="355600"/>
          </a:xfrm>
          <a:prstGeom prst="ellipse">
            <a:avLst/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36" name="RNumT1"/>
          <p:cNvSpPr txBox="1"/>
          <p:nvPr/>
        </p:nvSpPr>
        <p:spPr>
          <a:xfrm>
            <a:off x="9525000" y="2781300"/>
            <a:ext cx="18288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7" name="RTitle1"/>
          <p:cNvSpPr txBox="1"/>
          <p:nvPr/>
        </p:nvSpPr>
        <p:spPr>
          <a:xfrm>
            <a:off x="9525000" y="3975100"/>
            <a:ext cx="18288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400" b="1" dirty="0">
                <a:solidFill>
                  <a:srgbClr val="0E2559"/>
                </a:solidFill>
              </a:rPr>
              <a:t>User</a:t>
            </a:r>
          </a:p>
          <a:p>
            <a:pPr algn="ctr"/>
            <a:r>
              <a:rPr lang="en-US" sz="1400" b="1" dirty="0">
                <a:solidFill>
                  <a:srgbClr val="0E2559"/>
                </a:solidFill>
              </a:rPr>
              <a:t>Satisfaction</a:t>
            </a:r>
          </a:p>
        </p:txBody>
      </p:sp>
      <p:sp>
        <p:nvSpPr>
          <p:cNvPr id="138" name="RUL1"/>
          <p:cNvSpPr/>
          <p:nvPr/>
        </p:nvSpPr>
        <p:spPr>
          <a:xfrm>
            <a:off x="9753600" y="4559300"/>
            <a:ext cx="1371600" cy="1270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39" name="RBody1"/>
          <p:cNvSpPr txBox="1"/>
          <p:nvPr/>
        </p:nvSpPr>
        <p:spPr>
          <a:xfrm>
            <a:off x="9601200" y="4660900"/>
            <a:ext cx="1676400" cy="63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100" dirty="0">
                <a:solidFill>
                  <a:srgbClr val="3A4A66"/>
                </a:solidFill>
              </a:rPr>
              <a:t>Ease of exploration and intent to reuse</a:t>
            </a:r>
          </a:p>
        </p:txBody>
      </p:sp>
      <p:sp>
        <p:nvSpPr>
          <p:cNvPr id="140" name="CTA"/>
          <p:cNvSpPr/>
          <p:nvPr/>
        </p:nvSpPr>
        <p:spPr>
          <a:xfrm>
            <a:off x="635000" y="5842000"/>
            <a:ext cx="10922000" cy="609600"/>
          </a:xfrm>
          <a:prstGeom prst="roundRect">
            <a:avLst>
              <a:gd name="adj" fmla="val 25000"/>
            </a:avLst>
          </a:prstGeom>
          <a:solidFill>
            <a:srgbClr val="E8EFFB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41" name="ScaleCircle"/>
          <p:cNvSpPr/>
          <p:nvPr/>
        </p:nvSpPr>
        <p:spPr>
          <a:xfrm>
            <a:off x="990600" y="5969000"/>
            <a:ext cx="355600" cy="355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446AF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42" name="CTASep"/>
          <p:cNvSpPr/>
          <p:nvPr/>
        </p:nvSpPr>
        <p:spPr>
          <a:xfrm>
            <a:off x="1549400" y="5994400"/>
            <a:ext cx="12700" cy="30480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43" name="BaselineT"/>
          <p:cNvSpPr txBox="1"/>
          <p:nvPr/>
        </p:nvSpPr>
        <p:spPr>
          <a:xfrm>
            <a:off x="1778000" y="5943600"/>
            <a:ext cx="4318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700" b="1" dirty="0">
                <a:solidFill>
                  <a:srgbClr val="0E2559"/>
                </a:solidFill>
              </a:rPr>
              <a:t>Baseline:  </a:t>
            </a:r>
            <a:r>
              <a:rPr lang="en-US" sz="1700" dirty="0">
                <a:solidFill>
                  <a:srgbClr val="3A4A66"/>
                </a:solidFill>
              </a:rPr>
              <a:t>single LLM answer</a:t>
            </a:r>
          </a:p>
        </p:txBody>
      </p:sp>
      <p:sp>
        <p:nvSpPr>
          <p:cNvPr id="144" name="VsCircle"/>
          <p:cNvSpPr/>
          <p:nvPr/>
        </p:nvSpPr>
        <p:spPr>
          <a:xfrm>
            <a:off x="6096000" y="5969000"/>
            <a:ext cx="355600" cy="355600"/>
          </a:xfrm>
          <a:prstGeom prst="ellipse">
            <a:avLst/>
          </a:prstGeom>
          <a:solidFill>
            <a:srgbClr val="4DB8E8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45" name="VsT"/>
          <p:cNvSpPr txBox="1"/>
          <p:nvPr/>
        </p:nvSpPr>
        <p:spPr>
          <a:xfrm>
            <a:off x="6096000" y="6019800"/>
            <a:ext cx="35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vs.</a:t>
            </a:r>
          </a:p>
        </p:txBody>
      </p:sp>
      <p:sp>
        <p:nvSpPr>
          <p:cNvPr id="146" name="YpT"/>
          <p:cNvSpPr txBox="1"/>
          <p:nvPr/>
        </p:nvSpPr>
        <p:spPr>
          <a:xfrm>
            <a:off x="6654800" y="5943600"/>
            <a:ext cx="4826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700" b="1" dirty="0">
                <a:solidFill>
                  <a:srgbClr val="0E2559"/>
                </a:solidFill>
              </a:rPr>
              <a:t>YouthPath RAG + Agent answer</a:t>
            </a:r>
          </a:p>
        </p:txBody>
      </p:sp>
      <p:sp>
        <p:nvSpPr>
          <p:cNvPr id="147" name="Footer"/>
          <p:cNvSpPr txBox="1"/>
          <p:nvPr/>
        </p:nvSpPr>
        <p:spPr>
          <a:xfrm>
            <a:off x="457200" y="6654800"/>
            <a:ext cx="762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000" dirty="0">
                <a:solidFill>
                  <a:srgbClr val="184ED2"/>
                </a:solidFill>
              </a:rPr>
              <a:t>Proposal criterion:  Evaluation plan</a:t>
            </a:r>
          </a:p>
        </p:txBody>
      </p:sp>
      <p:pic>
        <p:nvPicPr>
          <p:cNvPr id="148" name="Graphic 14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00200" y="3175000"/>
            <a:ext cx="660400" cy="660400"/>
          </a:xfrm>
          <a:prstGeom prst="rect">
            <a:avLst/>
          </a:prstGeom>
        </p:spPr>
      </p:pic>
      <p:pic>
        <p:nvPicPr>
          <p:cNvPr id="149" name="Graphic 14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0" y="3175000"/>
            <a:ext cx="660400" cy="660400"/>
          </a:xfrm>
          <a:prstGeom prst="rect">
            <a:avLst/>
          </a:prstGeom>
        </p:spPr>
      </p:pic>
      <p:pic>
        <p:nvPicPr>
          <p:cNvPr id="150" name="Graphic 15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78800" y="3175000"/>
            <a:ext cx="660400" cy="660400"/>
          </a:xfrm>
          <a:prstGeom prst="rect">
            <a:avLst/>
          </a:prstGeom>
        </p:spPr>
      </p:pic>
      <p:pic>
        <p:nvPicPr>
          <p:cNvPr id="151" name="Graphic 15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0" y="3175000"/>
            <a:ext cx="660400" cy="660400"/>
          </a:xfrm>
          <a:prstGeom prst="rect">
            <a:avLst/>
          </a:prstGeom>
        </p:spPr>
      </p:pic>
      <p:pic>
        <p:nvPicPr>
          <p:cNvPr id="152" name="Graphic 15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1400" y="5943600"/>
            <a:ext cx="254000" cy="254000"/>
          </a:xfrm>
          <a:prstGeom prst="rect">
            <a:avLst/>
          </a:prstGeom>
        </p:spPr>
      </p:pic>
      <p:pic>
        <p:nvPicPr>
          <p:cNvPr id="153" name="Graphic 15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19800" y="3175000"/>
            <a:ext cx="6604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697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ection"/>
          <p:cNvSpPr txBox="1"/>
          <p:nvPr/>
        </p:nvSpPr>
        <p:spPr>
          <a:xfrm>
            <a:off x="9906000" y="406400"/>
            <a:ext cx="1905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en-US" sz="1100" b="1" dirty="0">
                <a:solidFill>
                  <a:srgbClr val="184ED2"/>
                </a:solidFill>
              </a:rPr>
              <a:t>ROADMAP</a:t>
            </a:r>
            <a:r>
              <a:rPr lang="en-US" sz="1100" dirty="0">
                <a:solidFill>
                  <a:srgbClr val="BFD4F5"/>
                </a:solidFill>
              </a:rPr>
              <a:t>    |    </a:t>
            </a:r>
            <a:r>
              <a:rPr lang="en-US" sz="1100" b="1" dirty="0">
                <a:solidFill>
                  <a:srgbClr val="0E2559"/>
                </a:solidFill>
              </a:rPr>
              <a:t>10</a:t>
            </a:r>
          </a:p>
        </p:txBody>
      </p:sp>
      <p:sp>
        <p:nvSpPr>
          <p:cNvPr id="101" name="Title"/>
          <p:cNvSpPr txBox="1"/>
          <p:nvPr/>
        </p:nvSpPr>
        <p:spPr>
          <a:xfrm>
            <a:off x="609600" y="762000"/>
            <a:ext cx="9652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3600" b="1" dirty="0">
                <a:solidFill>
                  <a:srgbClr val="0E2559"/>
                </a:solidFill>
              </a:rPr>
              <a:t>Execution plan and role split</a:t>
            </a:r>
          </a:p>
        </p:txBody>
      </p:sp>
      <p:sp>
        <p:nvSpPr>
          <p:cNvPr id="102" name="SCard0"/>
          <p:cNvSpPr/>
          <p:nvPr/>
        </p:nvSpPr>
        <p:spPr>
          <a:xfrm>
            <a:off x="635000" y="1841500"/>
            <a:ext cx="2514600" cy="2095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3" name="SHead0"/>
          <p:cNvSpPr/>
          <p:nvPr/>
        </p:nvSpPr>
        <p:spPr>
          <a:xfrm>
            <a:off x="635000" y="1841500"/>
            <a:ext cx="2514600" cy="635000"/>
          </a:xfrm>
          <a:prstGeom prst="roundRect">
            <a:avLst>
              <a:gd name="adj" fmla="val 8000"/>
            </a:avLst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4" name="SHeadMask0"/>
          <p:cNvSpPr/>
          <p:nvPr/>
        </p:nvSpPr>
        <p:spPr>
          <a:xfrm>
            <a:off x="635000" y="2159000"/>
            <a:ext cx="2514600" cy="317500"/>
          </a:xfrm>
          <a:prstGeom prst="rect">
            <a:avLst/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5" name="SNum0"/>
          <p:cNvSpPr/>
          <p:nvPr/>
        </p:nvSpPr>
        <p:spPr>
          <a:xfrm>
            <a:off x="762000" y="1981200"/>
            <a:ext cx="355600" cy="355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6" name="SNumT0"/>
          <p:cNvSpPr txBox="1"/>
          <p:nvPr/>
        </p:nvSpPr>
        <p:spPr>
          <a:xfrm>
            <a:off x="762000" y="2032000"/>
            <a:ext cx="35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500" b="1" dirty="0">
                <a:solidFill>
                  <a:srgbClr val="1446AF"/>
                </a:solidFill>
              </a:rPr>
              <a:t>1</a:t>
            </a:r>
          </a:p>
        </p:txBody>
      </p:sp>
      <p:sp>
        <p:nvSpPr>
          <p:cNvPr id="107" name="STitle0"/>
          <p:cNvSpPr txBox="1"/>
          <p:nvPr/>
        </p:nvSpPr>
        <p:spPr>
          <a:xfrm>
            <a:off x="1193800" y="2044700"/>
            <a:ext cx="18796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300" b="1" dirty="0">
                <a:solidFill>
                  <a:srgbClr val="FFFFFF"/>
                </a:solidFill>
              </a:rPr>
              <a:t>Proposal Presentation</a:t>
            </a:r>
          </a:p>
        </p:txBody>
      </p:sp>
      <p:sp>
        <p:nvSpPr>
          <p:cNvPr id="108" name="SBody0"/>
          <p:cNvSpPr txBox="1"/>
          <p:nvPr/>
        </p:nvSpPr>
        <p:spPr>
          <a:xfrm>
            <a:off x="736600" y="3429000"/>
            <a:ext cx="23114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100" dirty="0">
                <a:solidFill>
                  <a:srgbClr val="3A4A66"/>
                </a:solidFill>
              </a:rPr>
              <a:t>Confirm problem and design</a:t>
            </a:r>
          </a:p>
        </p:txBody>
      </p:sp>
      <p:sp>
        <p:nvSpPr>
          <p:cNvPr id="109" name="Chev0"/>
          <p:cNvSpPr/>
          <p:nvPr/>
        </p:nvSpPr>
        <p:spPr>
          <a:xfrm>
            <a:off x="3200400" y="2774950"/>
            <a:ext cx="177800" cy="228600"/>
          </a:xfrm>
          <a:prstGeom prst="chevron">
            <a:avLst/>
          </a:prstGeom>
          <a:solidFill>
            <a:srgbClr val="184ED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" name="SCard1"/>
          <p:cNvSpPr/>
          <p:nvPr/>
        </p:nvSpPr>
        <p:spPr>
          <a:xfrm>
            <a:off x="3429000" y="1841500"/>
            <a:ext cx="2514600" cy="2095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1" name="SHead1"/>
          <p:cNvSpPr/>
          <p:nvPr/>
        </p:nvSpPr>
        <p:spPr>
          <a:xfrm>
            <a:off x="3429000" y="1841500"/>
            <a:ext cx="2514600" cy="635000"/>
          </a:xfrm>
          <a:prstGeom prst="roundRect">
            <a:avLst>
              <a:gd name="adj" fmla="val 8000"/>
            </a:avLst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2" name="SHeadMask1"/>
          <p:cNvSpPr/>
          <p:nvPr/>
        </p:nvSpPr>
        <p:spPr>
          <a:xfrm>
            <a:off x="3429000" y="2159000"/>
            <a:ext cx="2514600" cy="317500"/>
          </a:xfrm>
          <a:prstGeom prst="rect">
            <a:avLst/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3" name="SNum1"/>
          <p:cNvSpPr/>
          <p:nvPr/>
        </p:nvSpPr>
        <p:spPr>
          <a:xfrm>
            <a:off x="3556000" y="1981200"/>
            <a:ext cx="355600" cy="355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4" name="SNumT1"/>
          <p:cNvSpPr txBox="1"/>
          <p:nvPr/>
        </p:nvSpPr>
        <p:spPr>
          <a:xfrm>
            <a:off x="3556000" y="2032000"/>
            <a:ext cx="35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500" b="1" dirty="0">
                <a:solidFill>
                  <a:srgbClr val="1446AF"/>
                </a:solidFill>
              </a:rPr>
              <a:t>2</a:t>
            </a:r>
          </a:p>
        </p:txBody>
      </p:sp>
      <p:sp>
        <p:nvSpPr>
          <p:cNvPr id="115" name="STitle1"/>
          <p:cNvSpPr txBox="1"/>
          <p:nvPr/>
        </p:nvSpPr>
        <p:spPr>
          <a:xfrm>
            <a:off x="3987800" y="1943100"/>
            <a:ext cx="18796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300" b="1" dirty="0">
                <a:solidFill>
                  <a:srgbClr val="FFFFFF"/>
                </a:solidFill>
              </a:rPr>
              <a:t>Data Collection</a:t>
            </a:r>
          </a:p>
          <a:p>
            <a:r>
              <a:rPr lang="en-US" sz="1300" b="1" dirty="0">
                <a:solidFill>
                  <a:srgbClr val="FFFFFF"/>
                </a:solidFill>
              </a:rPr>
              <a:t>and Indexing</a:t>
            </a:r>
          </a:p>
        </p:txBody>
      </p:sp>
      <p:sp>
        <p:nvSpPr>
          <p:cNvPr id="116" name="SBody1"/>
          <p:cNvSpPr txBox="1"/>
          <p:nvPr/>
        </p:nvSpPr>
        <p:spPr>
          <a:xfrm>
            <a:off x="3530600" y="3429000"/>
            <a:ext cx="23114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100" dirty="0">
                <a:solidFill>
                  <a:srgbClr val="3A4A66"/>
                </a:solidFill>
              </a:rPr>
              <a:t>Build policy, job, and resume corpora</a:t>
            </a:r>
          </a:p>
        </p:txBody>
      </p:sp>
      <p:sp>
        <p:nvSpPr>
          <p:cNvPr id="117" name="Chev1"/>
          <p:cNvSpPr/>
          <p:nvPr/>
        </p:nvSpPr>
        <p:spPr>
          <a:xfrm>
            <a:off x="5994400" y="2774950"/>
            <a:ext cx="177800" cy="228600"/>
          </a:xfrm>
          <a:prstGeom prst="chevron">
            <a:avLst/>
          </a:prstGeom>
          <a:solidFill>
            <a:srgbClr val="184ED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8" name="SCard2"/>
          <p:cNvSpPr/>
          <p:nvPr/>
        </p:nvSpPr>
        <p:spPr>
          <a:xfrm>
            <a:off x="6223000" y="1841500"/>
            <a:ext cx="2514600" cy="2095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9" name="SHead2"/>
          <p:cNvSpPr/>
          <p:nvPr/>
        </p:nvSpPr>
        <p:spPr>
          <a:xfrm>
            <a:off x="6223000" y="1841500"/>
            <a:ext cx="2514600" cy="635000"/>
          </a:xfrm>
          <a:prstGeom prst="roundRect">
            <a:avLst>
              <a:gd name="adj" fmla="val 8000"/>
            </a:avLst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0" name="SHeadMask2"/>
          <p:cNvSpPr/>
          <p:nvPr/>
        </p:nvSpPr>
        <p:spPr>
          <a:xfrm>
            <a:off x="6223000" y="2159000"/>
            <a:ext cx="2514600" cy="317500"/>
          </a:xfrm>
          <a:prstGeom prst="rect">
            <a:avLst/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1" name="SNum2"/>
          <p:cNvSpPr/>
          <p:nvPr/>
        </p:nvSpPr>
        <p:spPr>
          <a:xfrm>
            <a:off x="6350000" y="1981200"/>
            <a:ext cx="355600" cy="355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2" name="SNumT2"/>
          <p:cNvSpPr txBox="1"/>
          <p:nvPr/>
        </p:nvSpPr>
        <p:spPr>
          <a:xfrm>
            <a:off x="6350000" y="2032000"/>
            <a:ext cx="35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500" b="1" dirty="0">
                <a:solidFill>
                  <a:srgbClr val="1446AF"/>
                </a:solidFill>
              </a:rPr>
              <a:t>3</a:t>
            </a:r>
          </a:p>
        </p:txBody>
      </p:sp>
      <p:sp>
        <p:nvSpPr>
          <p:cNvPr id="123" name="STitle2"/>
          <p:cNvSpPr txBox="1"/>
          <p:nvPr/>
        </p:nvSpPr>
        <p:spPr>
          <a:xfrm>
            <a:off x="6781800" y="1943100"/>
            <a:ext cx="18796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300" b="1" dirty="0">
                <a:solidFill>
                  <a:srgbClr val="FFFFFF"/>
                </a:solidFill>
              </a:rPr>
              <a:t>Prototype</a:t>
            </a:r>
          </a:p>
          <a:p>
            <a:r>
              <a:rPr lang="en-US" sz="1300" b="1" dirty="0">
                <a:solidFill>
                  <a:srgbClr val="FFFFFF"/>
                </a:solidFill>
              </a:rPr>
              <a:t>Integration</a:t>
            </a:r>
          </a:p>
        </p:txBody>
      </p:sp>
      <p:sp>
        <p:nvSpPr>
          <p:cNvPr id="124" name="SBody2"/>
          <p:cNvSpPr txBox="1"/>
          <p:nvPr/>
        </p:nvSpPr>
        <p:spPr>
          <a:xfrm>
            <a:off x="6324600" y="3429000"/>
            <a:ext cx="23114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100" dirty="0">
                <a:solidFill>
                  <a:srgbClr val="3A4A66"/>
                </a:solidFill>
              </a:rPr>
              <a:t>Connect Agent, RAG, and UI</a:t>
            </a:r>
          </a:p>
        </p:txBody>
      </p:sp>
      <p:sp>
        <p:nvSpPr>
          <p:cNvPr id="125" name="Chev2"/>
          <p:cNvSpPr/>
          <p:nvPr/>
        </p:nvSpPr>
        <p:spPr>
          <a:xfrm>
            <a:off x="8788400" y="2774950"/>
            <a:ext cx="177800" cy="228600"/>
          </a:xfrm>
          <a:prstGeom prst="chevron">
            <a:avLst/>
          </a:prstGeom>
          <a:solidFill>
            <a:srgbClr val="184ED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6" name="SCard3"/>
          <p:cNvSpPr/>
          <p:nvPr/>
        </p:nvSpPr>
        <p:spPr>
          <a:xfrm>
            <a:off x="9017000" y="1841500"/>
            <a:ext cx="2514600" cy="2095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7" name="SHead3"/>
          <p:cNvSpPr/>
          <p:nvPr/>
        </p:nvSpPr>
        <p:spPr>
          <a:xfrm>
            <a:off x="9017000" y="1841500"/>
            <a:ext cx="2514600" cy="635000"/>
          </a:xfrm>
          <a:prstGeom prst="roundRect">
            <a:avLst>
              <a:gd name="adj" fmla="val 8000"/>
            </a:avLst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8" name="SHeadMask3"/>
          <p:cNvSpPr/>
          <p:nvPr/>
        </p:nvSpPr>
        <p:spPr>
          <a:xfrm>
            <a:off x="9017000" y="2159000"/>
            <a:ext cx="2514600" cy="317500"/>
          </a:xfrm>
          <a:prstGeom prst="rect">
            <a:avLst/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9" name="SNum3"/>
          <p:cNvSpPr/>
          <p:nvPr/>
        </p:nvSpPr>
        <p:spPr>
          <a:xfrm>
            <a:off x="9144000" y="1981200"/>
            <a:ext cx="355600" cy="355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30" name="SNumT3"/>
          <p:cNvSpPr txBox="1"/>
          <p:nvPr/>
        </p:nvSpPr>
        <p:spPr>
          <a:xfrm>
            <a:off x="9144000" y="2032000"/>
            <a:ext cx="35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500" b="1" dirty="0">
                <a:solidFill>
                  <a:srgbClr val="1446AF"/>
                </a:solidFill>
              </a:rPr>
              <a:t>4</a:t>
            </a:r>
          </a:p>
        </p:txBody>
      </p:sp>
      <p:sp>
        <p:nvSpPr>
          <p:cNvPr id="131" name="STitle3"/>
          <p:cNvSpPr txBox="1"/>
          <p:nvPr/>
        </p:nvSpPr>
        <p:spPr>
          <a:xfrm>
            <a:off x="9575800" y="1943100"/>
            <a:ext cx="18796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300" b="1" dirty="0">
                <a:solidFill>
                  <a:srgbClr val="FFFFFF"/>
                </a:solidFill>
              </a:rPr>
              <a:t>Evaluation and</a:t>
            </a:r>
          </a:p>
          <a:p>
            <a:r>
              <a:rPr lang="en-US" sz="1300" b="1" dirty="0">
                <a:solidFill>
                  <a:srgbClr val="FFFFFF"/>
                </a:solidFill>
              </a:rPr>
              <a:t>Final Presentation</a:t>
            </a:r>
          </a:p>
        </p:txBody>
      </p:sp>
      <p:sp>
        <p:nvSpPr>
          <p:cNvPr id="132" name="SBody3"/>
          <p:cNvSpPr txBox="1"/>
          <p:nvPr/>
        </p:nvSpPr>
        <p:spPr>
          <a:xfrm>
            <a:off x="9118600" y="3429000"/>
            <a:ext cx="23114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100" dirty="0">
                <a:solidFill>
                  <a:srgbClr val="3A4A66"/>
                </a:solidFill>
              </a:rPr>
              <a:t>Improve with quantitative and qualitative tests</a:t>
            </a:r>
          </a:p>
        </p:txBody>
      </p:sp>
      <p:sp>
        <p:nvSpPr>
          <p:cNvPr id="133" name="RCard0"/>
          <p:cNvSpPr/>
          <p:nvPr/>
        </p:nvSpPr>
        <p:spPr>
          <a:xfrm>
            <a:off x="635000" y="4127500"/>
            <a:ext cx="2082800" cy="165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34" name="RTitle0"/>
          <p:cNvSpPr txBox="1"/>
          <p:nvPr/>
        </p:nvSpPr>
        <p:spPr>
          <a:xfrm>
            <a:off x="635000" y="4762500"/>
            <a:ext cx="20828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400" b="1" dirty="0">
                <a:solidFill>
                  <a:srgbClr val="184ED2"/>
                </a:solidFill>
              </a:rPr>
              <a:t>Policy Data</a:t>
            </a:r>
          </a:p>
        </p:txBody>
      </p:sp>
      <p:sp>
        <p:nvSpPr>
          <p:cNvPr id="135" name="RUL0"/>
          <p:cNvSpPr/>
          <p:nvPr/>
        </p:nvSpPr>
        <p:spPr>
          <a:xfrm>
            <a:off x="889000" y="5245100"/>
            <a:ext cx="1574800" cy="1270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36" name="RBody0"/>
          <p:cNvSpPr txBox="1"/>
          <p:nvPr/>
        </p:nvSpPr>
        <p:spPr>
          <a:xfrm>
            <a:off x="711200" y="5321300"/>
            <a:ext cx="19304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100" dirty="0">
                <a:solidFill>
                  <a:srgbClr val="3A4A66"/>
                </a:solidFill>
              </a:rPr>
              <a:t>Link policy APIs and normalize condition fields</a:t>
            </a:r>
          </a:p>
        </p:txBody>
      </p:sp>
      <p:sp>
        <p:nvSpPr>
          <p:cNvPr id="137" name="RCard1"/>
          <p:cNvSpPr/>
          <p:nvPr/>
        </p:nvSpPr>
        <p:spPr>
          <a:xfrm>
            <a:off x="2844800" y="4127500"/>
            <a:ext cx="2082800" cy="165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38" name="RTitle1"/>
          <p:cNvSpPr txBox="1"/>
          <p:nvPr/>
        </p:nvSpPr>
        <p:spPr>
          <a:xfrm>
            <a:off x="2844800" y="4762500"/>
            <a:ext cx="20828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400" b="1" dirty="0">
                <a:solidFill>
                  <a:srgbClr val="184ED2"/>
                </a:solidFill>
              </a:rPr>
              <a:t>Job Data</a:t>
            </a:r>
          </a:p>
        </p:txBody>
      </p:sp>
      <p:sp>
        <p:nvSpPr>
          <p:cNvPr id="139" name="RUL1"/>
          <p:cNvSpPr/>
          <p:nvPr/>
        </p:nvSpPr>
        <p:spPr>
          <a:xfrm>
            <a:off x="3098800" y="5245100"/>
            <a:ext cx="1574800" cy="1270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40" name="RBody1"/>
          <p:cNvSpPr txBox="1"/>
          <p:nvPr/>
        </p:nvSpPr>
        <p:spPr>
          <a:xfrm>
            <a:off x="2921000" y="5321300"/>
            <a:ext cx="19304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100" dirty="0">
                <a:solidFill>
                  <a:srgbClr val="3A4A66"/>
                </a:solidFill>
              </a:rPr>
              <a:t>Connect job APIs and tag roles and skills</a:t>
            </a:r>
          </a:p>
        </p:txBody>
      </p:sp>
      <p:sp>
        <p:nvSpPr>
          <p:cNvPr id="141" name="RCard2"/>
          <p:cNvSpPr/>
          <p:nvPr/>
        </p:nvSpPr>
        <p:spPr>
          <a:xfrm>
            <a:off x="5054600" y="4127500"/>
            <a:ext cx="2082800" cy="165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42" name="RTitle2"/>
          <p:cNvSpPr txBox="1"/>
          <p:nvPr/>
        </p:nvSpPr>
        <p:spPr>
          <a:xfrm>
            <a:off x="5054600" y="4762500"/>
            <a:ext cx="20828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400" b="1" dirty="0">
                <a:solidFill>
                  <a:srgbClr val="184ED2"/>
                </a:solidFill>
              </a:rPr>
              <a:t>Resume and</a:t>
            </a:r>
          </a:p>
          <a:p>
            <a:pPr algn="ctr"/>
            <a:r>
              <a:rPr lang="en-US" sz="1400" b="1" dirty="0">
                <a:solidFill>
                  <a:srgbClr val="184ED2"/>
                </a:solidFill>
              </a:rPr>
              <a:t>Evaluation</a:t>
            </a:r>
          </a:p>
        </p:txBody>
      </p:sp>
      <p:sp>
        <p:nvSpPr>
          <p:cNvPr id="143" name="RUL2"/>
          <p:cNvSpPr/>
          <p:nvPr/>
        </p:nvSpPr>
        <p:spPr>
          <a:xfrm>
            <a:off x="5308600" y="5245100"/>
            <a:ext cx="1574800" cy="1270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44" name="RBody2"/>
          <p:cNvSpPr txBox="1"/>
          <p:nvPr/>
        </p:nvSpPr>
        <p:spPr>
          <a:xfrm>
            <a:off x="5130800" y="5321300"/>
            <a:ext cx="19304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100" dirty="0">
                <a:solidFill>
                  <a:srgbClr val="3A4A66"/>
                </a:solidFill>
              </a:rPr>
              <a:t>Collect resumes and build rubrics</a:t>
            </a:r>
          </a:p>
        </p:txBody>
      </p:sp>
      <p:sp>
        <p:nvSpPr>
          <p:cNvPr id="145" name="RCard3"/>
          <p:cNvSpPr/>
          <p:nvPr/>
        </p:nvSpPr>
        <p:spPr>
          <a:xfrm>
            <a:off x="7264400" y="4127500"/>
            <a:ext cx="2082800" cy="165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46" name="RTitle3"/>
          <p:cNvSpPr txBox="1"/>
          <p:nvPr/>
        </p:nvSpPr>
        <p:spPr>
          <a:xfrm>
            <a:off x="7264400" y="4762500"/>
            <a:ext cx="20828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400" b="1" dirty="0">
                <a:solidFill>
                  <a:srgbClr val="184ED2"/>
                </a:solidFill>
              </a:rPr>
              <a:t>UI and Testing</a:t>
            </a:r>
          </a:p>
        </p:txBody>
      </p:sp>
      <p:sp>
        <p:nvSpPr>
          <p:cNvPr id="147" name="RUL3"/>
          <p:cNvSpPr/>
          <p:nvPr/>
        </p:nvSpPr>
        <p:spPr>
          <a:xfrm>
            <a:off x="7518400" y="5245100"/>
            <a:ext cx="1574800" cy="1270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48" name="RBody3"/>
          <p:cNvSpPr txBox="1"/>
          <p:nvPr/>
        </p:nvSpPr>
        <p:spPr>
          <a:xfrm>
            <a:off x="7340600" y="5321300"/>
            <a:ext cx="19304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100" dirty="0">
                <a:solidFill>
                  <a:srgbClr val="3A4A66"/>
                </a:solidFill>
              </a:rPr>
              <a:t>Implement UI and conduct usability tests</a:t>
            </a:r>
          </a:p>
        </p:txBody>
      </p:sp>
      <p:sp>
        <p:nvSpPr>
          <p:cNvPr id="149" name="RCard4"/>
          <p:cNvSpPr/>
          <p:nvPr/>
        </p:nvSpPr>
        <p:spPr>
          <a:xfrm>
            <a:off x="9474200" y="4127500"/>
            <a:ext cx="2082800" cy="165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50" name="RTitle4"/>
          <p:cNvSpPr txBox="1"/>
          <p:nvPr/>
        </p:nvSpPr>
        <p:spPr>
          <a:xfrm>
            <a:off x="9474200" y="4762500"/>
            <a:ext cx="20828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400" b="1" dirty="0">
                <a:solidFill>
                  <a:srgbClr val="184ED2"/>
                </a:solidFill>
              </a:rPr>
              <a:t>Deployment and</a:t>
            </a:r>
          </a:p>
          <a:p>
            <a:pPr algn="ctr"/>
            <a:r>
              <a:rPr lang="en-US" sz="1400" b="1" dirty="0">
                <a:solidFill>
                  <a:srgbClr val="184ED2"/>
                </a:solidFill>
              </a:rPr>
              <a:t>Integration</a:t>
            </a:r>
          </a:p>
        </p:txBody>
      </p:sp>
      <p:sp>
        <p:nvSpPr>
          <p:cNvPr id="151" name="RUL4"/>
          <p:cNvSpPr/>
          <p:nvPr/>
        </p:nvSpPr>
        <p:spPr>
          <a:xfrm>
            <a:off x="9728200" y="5245100"/>
            <a:ext cx="1574800" cy="1270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52" name="RBody4"/>
          <p:cNvSpPr txBox="1"/>
          <p:nvPr/>
        </p:nvSpPr>
        <p:spPr>
          <a:xfrm>
            <a:off x="9550400" y="5321300"/>
            <a:ext cx="19304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100" dirty="0">
                <a:solidFill>
                  <a:srgbClr val="3A4A66"/>
                </a:solidFill>
              </a:rPr>
              <a:t>Deploy services and integrate modules</a:t>
            </a:r>
          </a:p>
        </p:txBody>
      </p:sp>
      <p:sp>
        <p:nvSpPr>
          <p:cNvPr id="153" name="CTA"/>
          <p:cNvSpPr/>
          <p:nvPr/>
        </p:nvSpPr>
        <p:spPr>
          <a:xfrm>
            <a:off x="1143000" y="6070600"/>
            <a:ext cx="9906000" cy="457200"/>
          </a:xfrm>
          <a:prstGeom prst="roundRect">
            <a:avLst>
              <a:gd name="adj" fmla="val 30000"/>
            </a:avLst>
          </a:prstGeom>
          <a:solidFill>
            <a:srgbClr val="E8EFFB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54" name="CTACircle"/>
          <p:cNvSpPr/>
          <p:nvPr/>
        </p:nvSpPr>
        <p:spPr>
          <a:xfrm>
            <a:off x="1346200" y="6146800"/>
            <a:ext cx="304800" cy="304800"/>
          </a:xfrm>
          <a:prstGeom prst="ellipse">
            <a:avLst/>
          </a:prstGeom>
          <a:solidFill>
            <a:srgbClr val="4DB8E8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55" name="CTASep"/>
          <p:cNvSpPr/>
          <p:nvPr/>
        </p:nvSpPr>
        <p:spPr>
          <a:xfrm>
            <a:off x="1828800" y="6184900"/>
            <a:ext cx="12700" cy="22860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56" name="CTAText"/>
          <p:cNvSpPr txBox="1"/>
          <p:nvPr/>
        </p:nvSpPr>
        <p:spPr>
          <a:xfrm>
            <a:off x="2032000" y="6121400"/>
            <a:ext cx="8890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500" b="1" dirty="0">
                <a:solidFill>
                  <a:srgbClr val="0E2559"/>
                </a:solidFill>
              </a:rPr>
              <a:t>Split weekly deliverables into </a:t>
            </a:r>
            <a:r>
              <a:rPr lang="en-US" sz="1500" b="1" dirty="0">
                <a:solidFill>
                  <a:srgbClr val="184ED2"/>
                </a:solidFill>
              </a:rPr>
              <a:t>small pieces</a:t>
            </a:r>
            <a:r>
              <a:rPr lang="en-US" sz="1500" b="1" dirty="0">
                <a:solidFill>
                  <a:srgbClr val="0E2559"/>
                </a:solidFill>
              </a:rPr>
              <a:t> to manage credit use and debugging risk.</a:t>
            </a:r>
          </a:p>
        </p:txBody>
      </p:sp>
      <p:sp>
        <p:nvSpPr>
          <p:cNvPr id="157" name="Footer"/>
          <p:cNvSpPr txBox="1"/>
          <p:nvPr/>
        </p:nvSpPr>
        <p:spPr>
          <a:xfrm>
            <a:off x="457200" y="6654800"/>
            <a:ext cx="762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000" dirty="0">
                <a:solidFill>
                  <a:srgbClr val="184ED2"/>
                </a:solidFill>
              </a:rPr>
              <a:t>Proposal criterion: Implementation plan and team roles</a:t>
            </a:r>
          </a:p>
        </p:txBody>
      </p:sp>
      <p:pic>
        <p:nvPicPr>
          <p:cNvPr id="158" name="Graphic 15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25600" y="2641600"/>
            <a:ext cx="558800" cy="558800"/>
          </a:xfrm>
          <a:prstGeom prst="rect">
            <a:avLst/>
          </a:prstGeom>
        </p:spPr>
      </p:pic>
      <p:pic>
        <p:nvPicPr>
          <p:cNvPr id="159" name="Graphic 15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19600" y="2641600"/>
            <a:ext cx="558800" cy="558800"/>
          </a:xfrm>
          <a:prstGeom prst="rect">
            <a:avLst/>
          </a:prstGeom>
        </p:spPr>
      </p:pic>
      <p:pic>
        <p:nvPicPr>
          <p:cNvPr id="160" name="Graphic 16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13600" y="2641600"/>
            <a:ext cx="558800" cy="558800"/>
          </a:xfrm>
          <a:prstGeom prst="rect">
            <a:avLst/>
          </a:prstGeom>
        </p:spPr>
      </p:pic>
      <p:pic>
        <p:nvPicPr>
          <p:cNvPr id="161" name="Graphic 16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07600" y="2641600"/>
            <a:ext cx="558800" cy="558800"/>
          </a:xfrm>
          <a:prstGeom prst="rect">
            <a:avLst/>
          </a:prstGeom>
        </p:spPr>
      </p:pic>
      <p:pic>
        <p:nvPicPr>
          <p:cNvPr id="162" name="Graphic 16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2200" y="4318000"/>
            <a:ext cx="457200" cy="457200"/>
          </a:xfrm>
          <a:prstGeom prst="rect">
            <a:avLst/>
          </a:prstGeom>
        </p:spPr>
      </p:pic>
      <p:pic>
        <p:nvPicPr>
          <p:cNvPr id="163" name="Graphic 16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02000" y="4318000"/>
            <a:ext cx="457200" cy="457200"/>
          </a:xfrm>
          <a:prstGeom prst="rect">
            <a:avLst/>
          </a:prstGeom>
        </p:spPr>
      </p:pic>
      <p:pic>
        <p:nvPicPr>
          <p:cNvPr id="164" name="Graphic 16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11800" y="4318000"/>
            <a:ext cx="457200" cy="457200"/>
          </a:xfrm>
          <a:prstGeom prst="rect">
            <a:avLst/>
          </a:prstGeom>
        </p:spPr>
      </p:pic>
      <p:pic>
        <p:nvPicPr>
          <p:cNvPr id="165" name="Graphic 16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21600" y="4318000"/>
            <a:ext cx="457200" cy="457200"/>
          </a:xfrm>
          <a:prstGeom prst="rect">
            <a:avLst/>
          </a:prstGeom>
        </p:spPr>
      </p:pic>
      <p:pic>
        <p:nvPicPr>
          <p:cNvPr id="166" name="Graphic 16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31400" y="4318000"/>
            <a:ext cx="457200" cy="457200"/>
          </a:xfrm>
          <a:prstGeom prst="rect">
            <a:avLst/>
          </a:prstGeom>
        </p:spPr>
      </p:pic>
      <p:pic>
        <p:nvPicPr>
          <p:cNvPr id="167" name="Graphic 16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97000" y="6172200"/>
            <a:ext cx="2032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198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ection"/>
          <p:cNvSpPr txBox="1"/>
          <p:nvPr/>
        </p:nvSpPr>
        <p:spPr>
          <a:xfrm>
            <a:off x="9906000" y="406400"/>
            <a:ext cx="1905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en-US" sz="1100" b="1" dirty="0">
                <a:solidFill>
                  <a:srgbClr val="184ED2"/>
                </a:solidFill>
              </a:rPr>
              <a:t>IMPACT</a:t>
            </a:r>
            <a:r>
              <a:rPr lang="en-US" sz="1100" dirty="0">
                <a:solidFill>
                  <a:srgbClr val="BFD4F5"/>
                </a:solidFill>
              </a:rPr>
              <a:t>    |    </a:t>
            </a:r>
            <a:r>
              <a:rPr lang="en-US" sz="1100" b="1" dirty="0">
                <a:solidFill>
                  <a:srgbClr val="0E2559"/>
                </a:solidFill>
              </a:rPr>
              <a:t>11</a:t>
            </a:r>
          </a:p>
        </p:txBody>
      </p:sp>
      <p:sp>
        <p:nvSpPr>
          <p:cNvPr id="101" name="Title"/>
          <p:cNvSpPr txBox="1"/>
          <p:nvPr/>
        </p:nvSpPr>
        <p:spPr>
          <a:xfrm>
            <a:off x="609600" y="762000"/>
            <a:ext cx="965200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3600" b="1" dirty="0">
                <a:solidFill>
                  <a:srgbClr val="0E2559"/>
                </a:solidFill>
              </a:rPr>
              <a:t>Expected impact and risk response</a:t>
            </a:r>
          </a:p>
        </p:txBody>
      </p:sp>
      <p:sp>
        <p:nvSpPr>
          <p:cNvPr id="102" name="LeftPanel"/>
          <p:cNvSpPr/>
          <p:nvPr/>
        </p:nvSpPr>
        <p:spPr>
          <a:xfrm>
            <a:off x="635000" y="1841500"/>
            <a:ext cx="4572000" cy="3683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3" name="LH"/>
          <p:cNvSpPr/>
          <p:nvPr/>
        </p:nvSpPr>
        <p:spPr>
          <a:xfrm>
            <a:off x="635000" y="1841500"/>
            <a:ext cx="4572000" cy="533400"/>
          </a:xfrm>
          <a:prstGeom prst="roundRect">
            <a:avLst>
              <a:gd name="adj" fmla="val 8000"/>
            </a:avLst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4" name="LHM"/>
          <p:cNvSpPr/>
          <p:nvPr/>
        </p:nvSpPr>
        <p:spPr>
          <a:xfrm>
            <a:off x="635000" y="2108200"/>
            <a:ext cx="4572000" cy="266700"/>
          </a:xfrm>
          <a:prstGeom prst="rect">
            <a:avLst/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5" name="LT"/>
          <p:cNvSpPr txBox="1"/>
          <p:nvPr/>
        </p:nvSpPr>
        <p:spPr>
          <a:xfrm>
            <a:off x="635000" y="1968500"/>
            <a:ext cx="4572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700" b="1" dirty="0">
                <a:solidFill>
                  <a:srgbClr val="FFFFFF"/>
                </a:solidFill>
              </a:rPr>
              <a:t>Expected Impact</a:t>
            </a:r>
          </a:p>
        </p:txBody>
      </p:sp>
      <p:sp>
        <p:nvSpPr>
          <p:cNvPr id="106" name="LI0"/>
          <p:cNvSpPr/>
          <p:nvPr/>
        </p:nvSpPr>
        <p:spPr>
          <a:xfrm>
            <a:off x="762000" y="2552700"/>
            <a:ext cx="43180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8EFFB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7" name="LIC0"/>
          <p:cNvSpPr/>
          <p:nvPr/>
        </p:nvSpPr>
        <p:spPr>
          <a:xfrm>
            <a:off x="914400" y="2679700"/>
            <a:ext cx="635000" cy="635000"/>
          </a:xfrm>
          <a:prstGeom prst="ellipse">
            <a:avLst/>
          </a:prstGeom>
          <a:solidFill>
            <a:srgbClr val="E8EFF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8" name="LIS0"/>
          <p:cNvSpPr/>
          <p:nvPr/>
        </p:nvSpPr>
        <p:spPr>
          <a:xfrm>
            <a:off x="1727200" y="2705100"/>
            <a:ext cx="12700" cy="58420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09" name="LIT0"/>
          <p:cNvSpPr txBox="1"/>
          <p:nvPr/>
        </p:nvSpPr>
        <p:spPr>
          <a:xfrm>
            <a:off x="1854200" y="2705100"/>
            <a:ext cx="3175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500" b="1" dirty="0">
                <a:solidFill>
                  <a:srgbClr val="0E2559"/>
                </a:solidFill>
              </a:rPr>
              <a:t>Shorter search time</a:t>
            </a:r>
          </a:p>
        </p:txBody>
      </p:sp>
      <p:sp>
        <p:nvSpPr>
          <p:cNvPr id="110" name="LIB0"/>
          <p:cNvSpPr txBox="1"/>
          <p:nvPr/>
        </p:nvSpPr>
        <p:spPr>
          <a:xfrm>
            <a:off x="1854200" y="3009900"/>
            <a:ext cx="3175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100" dirty="0">
                <a:solidFill>
                  <a:srgbClr val="3A4A66"/>
                </a:solidFill>
              </a:rPr>
              <a:t>Policies, jobs, and deadlines in one place</a:t>
            </a:r>
          </a:p>
        </p:txBody>
      </p:sp>
      <p:sp>
        <p:nvSpPr>
          <p:cNvPr id="111" name="LI1"/>
          <p:cNvSpPr/>
          <p:nvPr/>
        </p:nvSpPr>
        <p:spPr>
          <a:xfrm>
            <a:off x="762000" y="3517900"/>
            <a:ext cx="43180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8EFFB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2" name="LIC1"/>
          <p:cNvSpPr/>
          <p:nvPr/>
        </p:nvSpPr>
        <p:spPr>
          <a:xfrm>
            <a:off x="914400" y="3644900"/>
            <a:ext cx="635000" cy="635000"/>
          </a:xfrm>
          <a:prstGeom prst="ellipse">
            <a:avLst/>
          </a:prstGeom>
          <a:solidFill>
            <a:srgbClr val="E8EFF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3" name="LIS1"/>
          <p:cNvSpPr/>
          <p:nvPr/>
        </p:nvSpPr>
        <p:spPr>
          <a:xfrm>
            <a:off x="1727200" y="3670300"/>
            <a:ext cx="12700" cy="58420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4" name="LIT1"/>
          <p:cNvSpPr txBox="1"/>
          <p:nvPr/>
        </p:nvSpPr>
        <p:spPr>
          <a:xfrm>
            <a:off x="1854200" y="3670300"/>
            <a:ext cx="3175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500" b="1" dirty="0">
                <a:solidFill>
                  <a:srgbClr val="0E2559"/>
                </a:solidFill>
              </a:rPr>
              <a:t>Fewer missed policies</a:t>
            </a:r>
          </a:p>
        </p:txBody>
      </p:sp>
      <p:sp>
        <p:nvSpPr>
          <p:cNvPr id="115" name="LIB1"/>
          <p:cNvSpPr txBox="1"/>
          <p:nvPr/>
        </p:nvSpPr>
        <p:spPr>
          <a:xfrm>
            <a:off x="1854200" y="3975100"/>
            <a:ext cx="3175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100" dirty="0">
                <a:solidFill>
                  <a:srgbClr val="3A4A66"/>
                </a:solidFill>
              </a:rPr>
              <a:t>Eligibility conditions and deadlines shown together</a:t>
            </a:r>
          </a:p>
        </p:txBody>
      </p:sp>
      <p:sp>
        <p:nvSpPr>
          <p:cNvPr id="116" name="LI2"/>
          <p:cNvSpPr/>
          <p:nvPr/>
        </p:nvSpPr>
        <p:spPr>
          <a:xfrm>
            <a:off x="762000" y="4483100"/>
            <a:ext cx="43180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8EFFB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7" name="LIC2"/>
          <p:cNvSpPr/>
          <p:nvPr/>
        </p:nvSpPr>
        <p:spPr>
          <a:xfrm>
            <a:off x="914400" y="4610100"/>
            <a:ext cx="635000" cy="635000"/>
          </a:xfrm>
          <a:prstGeom prst="ellipse">
            <a:avLst/>
          </a:prstGeom>
          <a:solidFill>
            <a:srgbClr val="E8EFF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8" name="LIS2"/>
          <p:cNvSpPr/>
          <p:nvPr/>
        </p:nvSpPr>
        <p:spPr>
          <a:xfrm>
            <a:off x="1727200" y="4635500"/>
            <a:ext cx="12700" cy="58420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19" name="LIT2"/>
          <p:cNvSpPr txBox="1"/>
          <p:nvPr/>
        </p:nvSpPr>
        <p:spPr>
          <a:xfrm>
            <a:off x="1854200" y="4635500"/>
            <a:ext cx="3175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500" b="1" dirty="0">
                <a:solidFill>
                  <a:srgbClr val="0E2559"/>
                </a:solidFill>
              </a:rPr>
              <a:t>More efficient job preparation</a:t>
            </a:r>
          </a:p>
        </p:txBody>
      </p:sp>
      <p:sp>
        <p:nvSpPr>
          <p:cNvPr id="120" name="LIB2"/>
          <p:cNvSpPr txBox="1"/>
          <p:nvPr/>
        </p:nvSpPr>
        <p:spPr>
          <a:xfrm>
            <a:off x="1854200" y="4940300"/>
            <a:ext cx="3175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100" dirty="0">
                <a:solidFill>
                  <a:srgbClr val="3A4A66"/>
                </a:solidFill>
              </a:rPr>
              <a:t>Recommendations, feedback, and scheduling linked to action</a:t>
            </a:r>
          </a:p>
        </p:txBody>
      </p:sp>
      <p:sp>
        <p:nvSpPr>
          <p:cNvPr id="121" name="RightPanel"/>
          <p:cNvSpPr/>
          <p:nvPr/>
        </p:nvSpPr>
        <p:spPr>
          <a:xfrm>
            <a:off x="5461000" y="1841500"/>
            <a:ext cx="6096000" cy="3683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2" name="RH"/>
          <p:cNvSpPr/>
          <p:nvPr/>
        </p:nvSpPr>
        <p:spPr>
          <a:xfrm>
            <a:off x="5461000" y="1841500"/>
            <a:ext cx="6096000" cy="533400"/>
          </a:xfrm>
          <a:prstGeom prst="roundRect">
            <a:avLst>
              <a:gd name="adj" fmla="val 8000"/>
            </a:avLst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3" name="RHM"/>
          <p:cNvSpPr/>
          <p:nvPr/>
        </p:nvSpPr>
        <p:spPr>
          <a:xfrm>
            <a:off x="5461000" y="2108200"/>
            <a:ext cx="6096000" cy="266700"/>
          </a:xfrm>
          <a:prstGeom prst="rect">
            <a:avLst/>
          </a:prstGeom>
          <a:solidFill>
            <a:srgbClr val="1446A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4" name="RT"/>
          <p:cNvSpPr txBox="1"/>
          <p:nvPr/>
        </p:nvSpPr>
        <p:spPr>
          <a:xfrm>
            <a:off x="5461000" y="1968500"/>
            <a:ext cx="6096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700" b="1" dirty="0">
                <a:solidFill>
                  <a:srgbClr val="FFFFFF"/>
                </a:solidFill>
              </a:rPr>
              <a:t>Risk Response</a:t>
            </a:r>
          </a:p>
        </p:txBody>
      </p:sp>
      <p:sp>
        <p:nvSpPr>
          <p:cNvPr id="125" name="RSH1"/>
          <p:cNvSpPr txBox="1"/>
          <p:nvPr/>
        </p:nvSpPr>
        <p:spPr>
          <a:xfrm>
            <a:off x="6096000" y="2476500"/>
            <a:ext cx="2032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300" b="1" dirty="0">
                <a:solidFill>
                  <a:srgbClr val="184ED2"/>
                </a:solidFill>
              </a:rPr>
              <a:t>Risk</a:t>
            </a:r>
          </a:p>
        </p:txBody>
      </p:sp>
      <p:sp>
        <p:nvSpPr>
          <p:cNvPr id="126" name="RSH2"/>
          <p:cNvSpPr txBox="1"/>
          <p:nvPr/>
        </p:nvSpPr>
        <p:spPr>
          <a:xfrm>
            <a:off x="8636000" y="2476500"/>
            <a:ext cx="2540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300" b="1" dirty="0">
                <a:solidFill>
                  <a:srgbClr val="184ED2"/>
                </a:solidFill>
              </a:rPr>
              <a:t>Response Strategy</a:t>
            </a:r>
          </a:p>
        </p:txBody>
      </p:sp>
      <p:sp>
        <p:nvSpPr>
          <p:cNvPr id="127" name="RIC0"/>
          <p:cNvSpPr/>
          <p:nvPr/>
        </p:nvSpPr>
        <p:spPr>
          <a:xfrm>
            <a:off x="5588000" y="2908300"/>
            <a:ext cx="457200" cy="457200"/>
          </a:xfrm>
          <a:prstGeom prst="ellipse">
            <a:avLst/>
          </a:prstGeom>
          <a:solidFill>
            <a:srgbClr val="E8EFF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28" name="RR0"/>
          <p:cNvSpPr txBox="1"/>
          <p:nvPr/>
        </p:nvSpPr>
        <p:spPr>
          <a:xfrm>
            <a:off x="6096000" y="2959100"/>
            <a:ext cx="2540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300" b="1" dirty="0">
                <a:solidFill>
                  <a:srgbClr val="0E2559"/>
                </a:solidFill>
              </a:rPr>
              <a:t>Credit exhaustion</a:t>
            </a:r>
          </a:p>
        </p:txBody>
      </p:sp>
      <p:sp>
        <p:nvSpPr>
          <p:cNvPr id="129" name="RP0"/>
          <p:cNvSpPr txBox="1"/>
          <p:nvPr/>
        </p:nvSpPr>
        <p:spPr>
          <a:xfrm>
            <a:off x="8636000" y="2933700"/>
            <a:ext cx="2794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200" dirty="0">
                <a:solidFill>
                  <a:srgbClr val="3A4A66"/>
                </a:solidFill>
              </a:rPr>
              <a:t>Caching, free tiers, summary-first processing</a:t>
            </a:r>
          </a:p>
        </p:txBody>
      </p:sp>
      <p:sp>
        <p:nvSpPr>
          <p:cNvPr id="130" name="RSep0"/>
          <p:cNvSpPr/>
          <p:nvPr/>
        </p:nvSpPr>
        <p:spPr>
          <a:xfrm>
            <a:off x="6096000" y="3467100"/>
            <a:ext cx="5334000" cy="635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31" name="RIC1"/>
          <p:cNvSpPr/>
          <p:nvPr/>
        </p:nvSpPr>
        <p:spPr>
          <a:xfrm>
            <a:off x="5588000" y="3543300"/>
            <a:ext cx="457200" cy="457200"/>
          </a:xfrm>
          <a:prstGeom prst="ellipse">
            <a:avLst/>
          </a:prstGeom>
          <a:solidFill>
            <a:srgbClr val="E8EFF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32" name="RR1"/>
          <p:cNvSpPr txBox="1"/>
          <p:nvPr/>
        </p:nvSpPr>
        <p:spPr>
          <a:xfrm>
            <a:off x="6096000" y="3594100"/>
            <a:ext cx="2540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300" b="1" dirty="0">
                <a:solidFill>
                  <a:srgbClr val="0E2559"/>
                </a:solidFill>
              </a:rPr>
              <a:t>External data instability</a:t>
            </a:r>
          </a:p>
        </p:txBody>
      </p:sp>
      <p:sp>
        <p:nvSpPr>
          <p:cNvPr id="133" name="RP1"/>
          <p:cNvSpPr txBox="1"/>
          <p:nvPr/>
        </p:nvSpPr>
        <p:spPr>
          <a:xfrm>
            <a:off x="8636000" y="3568700"/>
            <a:ext cx="2794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200" dirty="0">
                <a:solidFill>
                  <a:srgbClr val="3A4A66"/>
                </a:solidFill>
              </a:rPr>
              <a:t>Prioritize public APIs and preserve source links</a:t>
            </a:r>
          </a:p>
        </p:txBody>
      </p:sp>
      <p:sp>
        <p:nvSpPr>
          <p:cNvPr id="134" name="RSep1"/>
          <p:cNvSpPr/>
          <p:nvPr/>
        </p:nvSpPr>
        <p:spPr>
          <a:xfrm>
            <a:off x="6096000" y="4102100"/>
            <a:ext cx="5334000" cy="635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35" name="RIC2"/>
          <p:cNvSpPr/>
          <p:nvPr/>
        </p:nvSpPr>
        <p:spPr>
          <a:xfrm>
            <a:off x="5588000" y="4178300"/>
            <a:ext cx="457200" cy="457200"/>
          </a:xfrm>
          <a:prstGeom prst="ellipse">
            <a:avLst/>
          </a:prstGeom>
          <a:solidFill>
            <a:srgbClr val="E8EFF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36" name="RR2"/>
          <p:cNvSpPr txBox="1"/>
          <p:nvPr/>
        </p:nvSpPr>
        <p:spPr>
          <a:xfrm>
            <a:off x="6096000" y="4229100"/>
            <a:ext cx="2540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300" b="1" dirty="0">
                <a:solidFill>
                  <a:srgbClr val="0E2559"/>
                </a:solidFill>
              </a:rPr>
              <a:t>Long documents and debugging</a:t>
            </a:r>
          </a:p>
        </p:txBody>
      </p:sp>
      <p:sp>
        <p:nvSpPr>
          <p:cNvPr id="137" name="RP2"/>
          <p:cNvSpPr txBox="1"/>
          <p:nvPr/>
        </p:nvSpPr>
        <p:spPr>
          <a:xfrm>
            <a:off x="8636000" y="4203700"/>
            <a:ext cx="2794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200" dirty="0">
                <a:solidFill>
                  <a:srgbClr val="3A4A66"/>
                </a:solidFill>
              </a:rPr>
              <a:t>Chunking and module-by-module tests</a:t>
            </a:r>
          </a:p>
        </p:txBody>
      </p:sp>
      <p:sp>
        <p:nvSpPr>
          <p:cNvPr id="138" name="RSep2"/>
          <p:cNvSpPr/>
          <p:nvPr/>
        </p:nvSpPr>
        <p:spPr>
          <a:xfrm>
            <a:off x="6096000" y="4737100"/>
            <a:ext cx="5334000" cy="635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39" name="RIC3"/>
          <p:cNvSpPr/>
          <p:nvPr/>
        </p:nvSpPr>
        <p:spPr>
          <a:xfrm>
            <a:off x="5588000" y="4813300"/>
            <a:ext cx="457200" cy="457200"/>
          </a:xfrm>
          <a:prstGeom prst="ellipse">
            <a:avLst/>
          </a:prstGeom>
          <a:solidFill>
            <a:srgbClr val="E8EFF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40" name="RR3"/>
          <p:cNvSpPr txBox="1"/>
          <p:nvPr/>
        </p:nvSpPr>
        <p:spPr>
          <a:xfrm>
            <a:off x="6096000" y="4864100"/>
            <a:ext cx="2540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300" b="1" dirty="0">
                <a:solidFill>
                  <a:srgbClr val="0E2559"/>
                </a:solidFill>
              </a:rPr>
              <a:t>Privacy concerns</a:t>
            </a:r>
          </a:p>
        </p:txBody>
      </p:sp>
      <p:sp>
        <p:nvSpPr>
          <p:cNvPr id="141" name="RP3"/>
          <p:cNvSpPr txBox="1"/>
          <p:nvPr/>
        </p:nvSpPr>
        <p:spPr>
          <a:xfrm>
            <a:off x="8636000" y="4838700"/>
            <a:ext cx="2794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200" dirty="0">
                <a:solidFill>
                  <a:srgbClr val="3A4A66"/>
                </a:solidFill>
              </a:rPr>
              <a:t>Minimal collection and local storage options</a:t>
            </a:r>
          </a:p>
        </p:txBody>
      </p:sp>
      <p:sp>
        <p:nvSpPr>
          <p:cNvPr id="142" name="CTA"/>
          <p:cNvSpPr/>
          <p:nvPr/>
        </p:nvSpPr>
        <p:spPr>
          <a:xfrm>
            <a:off x="635000" y="5842000"/>
            <a:ext cx="10922000" cy="609600"/>
          </a:xfrm>
          <a:prstGeom prst="roundRect">
            <a:avLst>
              <a:gd name="adj" fmla="val 25000"/>
            </a:avLst>
          </a:prstGeom>
          <a:solidFill>
            <a:srgbClr val="E8EFFB"/>
          </a:solidFill>
          <a:ln w="9525">
            <a:solidFill>
              <a:srgbClr val="BFD4F5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43" name="CTACircle"/>
          <p:cNvSpPr/>
          <p:nvPr/>
        </p:nvSpPr>
        <p:spPr>
          <a:xfrm>
            <a:off x="939800" y="5994400"/>
            <a:ext cx="304800" cy="304800"/>
          </a:xfrm>
          <a:prstGeom prst="ellipse">
            <a:avLst/>
          </a:prstGeom>
          <a:solidFill>
            <a:srgbClr val="4DB8E8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44" name="CTASep"/>
          <p:cNvSpPr/>
          <p:nvPr/>
        </p:nvSpPr>
        <p:spPr>
          <a:xfrm>
            <a:off x="1447800" y="6019800"/>
            <a:ext cx="12700" cy="25400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145" name="CTAText"/>
          <p:cNvSpPr txBox="1"/>
          <p:nvPr/>
        </p:nvSpPr>
        <p:spPr>
          <a:xfrm>
            <a:off x="1651000" y="5943600"/>
            <a:ext cx="9906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500" b="1" dirty="0">
                <a:solidFill>
                  <a:srgbClr val="0E2559"/>
                </a:solidFill>
              </a:rPr>
              <a:t>The goal is not to build every feature big, but to </a:t>
            </a:r>
            <a:r>
              <a:rPr lang="en-US" sz="1500" b="1" dirty="0">
                <a:solidFill>
                  <a:srgbClr val="184ED2"/>
                </a:solidFill>
              </a:rPr>
              <a:t>connect the real user workflow end to end</a:t>
            </a:r>
            <a:r>
              <a:rPr lang="en-US" sz="1500" b="1" dirty="0">
                <a:solidFill>
                  <a:srgbClr val="0E2559"/>
                </a:solidFill>
              </a:rPr>
              <a:t>.</a:t>
            </a:r>
          </a:p>
        </p:txBody>
      </p:sp>
      <p:sp>
        <p:nvSpPr>
          <p:cNvPr id="146" name="Footer"/>
          <p:cNvSpPr txBox="1"/>
          <p:nvPr/>
        </p:nvSpPr>
        <p:spPr>
          <a:xfrm>
            <a:off x="457200" y="6654800"/>
            <a:ext cx="7620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000" dirty="0">
                <a:solidFill>
                  <a:srgbClr val="184ED2"/>
                </a:solidFill>
              </a:rPr>
              <a:t>Proposal criterion: Impact and risk management</a:t>
            </a:r>
          </a:p>
        </p:txBody>
      </p:sp>
      <p:pic>
        <p:nvPicPr>
          <p:cNvPr id="147" name="Graphic 14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400" y="2679700"/>
            <a:ext cx="381000" cy="381000"/>
          </a:xfrm>
          <a:prstGeom prst="rect">
            <a:avLst/>
          </a:prstGeom>
        </p:spPr>
      </p:pic>
      <p:pic>
        <p:nvPicPr>
          <p:cNvPr id="148" name="Graphic 14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400" y="3644900"/>
            <a:ext cx="381000" cy="381000"/>
          </a:xfrm>
          <a:prstGeom prst="rect">
            <a:avLst/>
          </a:prstGeom>
        </p:spPr>
      </p:pic>
      <p:pic>
        <p:nvPicPr>
          <p:cNvPr id="149" name="Graphic 14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1400" y="4610100"/>
            <a:ext cx="381000" cy="381000"/>
          </a:xfrm>
          <a:prstGeom prst="rect">
            <a:avLst/>
          </a:prstGeom>
        </p:spPr>
      </p:pic>
      <p:pic>
        <p:nvPicPr>
          <p:cNvPr id="150" name="Graphic 15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8800" y="2895600"/>
            <a:ext cx="279400" cy="279400"/>
          </a:xfrm>
          <a:prstGeom prst="rect">
            <a:avLst/>
          </a:prstGeom>
        </p:spPr>
      </p:pic>
      <p:pic>
        <p:nvPicPr>
          <p:cNvPr id="151" name="Graphic 15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8800" y="3530600"/>
            <a:ext cx="279400" cy="279400"/>
          </a:xfrm>
          <a:prstGeom prst="rect">
            <a:avLst/>
          </a:prstGeom>
        </p:spPr>
      </p:pic>
      <p:pic>
        <p:nvPicPr>
          <p:cNvPr id="152" name="Graphic 15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38800" y="4165600"/>
            <a:ext cx="279400" cy="279400"/>
          </a:xfrm>
          <a:prstGeom prst="rect">
            <a:avLst/>
          </a:prstGeom>
        </p:spPr>
      </p:pic>
      <p:pic>
        <p:nvPicPr>
          <p:cNvPr id="153" name="Graphic 15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38800" y="4800600"/>
            <a:ext cx="279400" cy="279400"/>
          </a:xfrm>
          <a:prstGeom prst="rect">
            <a:avLst/>
          </a:prstGeom>
        </p:spPr>
      </p:pic>
      <p:pic>
        <p:nvPicPr>
          <p:cNvPr id="154" name="Graphic 15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0600" y="5943600"/>
            <a:ext cx="2032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5062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ection"/>
          <p:cNvSpPr txBox="1"/>
          <p:nvPr/>
        </p:nvSpPr>
        <p:spPr>
          <a:xfrm>
            <a:off x="9906000" y="406400"/>
            <a:ext cx="1905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en-US" sz="1100" b="1" dirty="0">
                <a:solidFill>
                  <a:srgbClr val="184ED2"/>
                </a:solidFill>
              </a:rPr>
              <a:t>END</a:t>
            </a:r>
            <a:r>
              <a:rPr lang="en-US" sz="1100" dirty="0">
                <a:solidFill>
                  <a:srgbClr val="BFD4F5"/>
                </a:solidFill>
              </a:rPr>
              <a:t>    |    </a:t>
            </a:r>
            <a:r>
              <a:rPr lang="en-US" sz="1100" b="1" dirty="0">
                <a:solidFill>
                  <a:srgbClr val="0E2559"/>
                </a:solidFill>
              </a:rPr>
              <a:t>12</a:t>
            </a:r>
          </a:p>
        </p:txBody>
      </p:sp>
      <p:sp>
        <p:nvSpPr>
          <p:cNvPr id="101" name="Ghost"/>
          <p:cNvSpPr txBox="1"/>
          <p:nvPr/>
        </p:nvSpPr>
        <p:spPr>
          <a:xfrm>
            <a:off x="635000" y="1651000"/>
            <a:ext cx="10922000" cy="25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4000" b="1" dirty="0">
                <a:solidFill>
                  <a:srgbClr val="E8EFFB"/>
                </a:solidFill>
              </a:rPr>
              <a:t>Q &amp; A</a:t>
            </a:r>
          </a:p>
        </p:txBody>
      </p:sp>
      <p:sp>
        <p:nvSpPr>
          <p:cNvPr id="200" name="d"/>
          <p:cNvSpPr/>
          <p:nvPr/>
        </p:nvSpPr>
        <p:spPr>
          <a:xfrm>
            <a:off x="457200" y="16510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d"/>
          <p:cNvSpPr/>
          <p:nvPr/>
        </p:nvSpPr>
        <p:spPr>
          <a:xfrm>
            <a:off x="552450" y="16510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d"/>
          <p:cNvSpPr/>
          <p:nvPr/>
        </p:nvSpPr>
        <p:spPr>
          <a:xfrm>
            <a:off x="647700" y="16510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d"/>
          <p:cNvSpPr/>
          <p:nvPr/>
        </p:nvSpPr>
        <p:spPr>
          <a:xfrm>
            <a:off x="742950" y="16510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d"/>
          <p:cNvSpPr/>
          <p:nvPr/>
        </p:nvSpPr>
        <p:spPr>
          <a:xfrm>
            <a:off x="838200" y="16510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d"/>
          <p:cNvSpPr/>
          <p:nvPr/>
        </p:nvSpPr>
        <p:spPr>
          <a:xfrm>
            <a:off x="933450" y="16510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6" name="d"/>
          <p:cNvSpPr/>
          <p:nvPr/>
        </p:nvSpPr>
        <p:spPr>
          <a:xfrm>
            <a:off x="1028700" y="16510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7" name="d"/>
          <p:cNvSpPr/>
          <p:nvPr/>
        </p:nvSpPr>
        <p:spPr>
          <a:xfrm>
            <a:off x="457200" y="174625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8" name="d"/>
          <p:cNvSpPr/>
          <p:nvPr/>
        </p:nvSpPr>
        <p:spPr>
          <a:xfrm>
            <a:off x="552450" y="174625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9" name="d"/>
          <p:cNvSpPr/>
          <p:nvPr/>
        </p:nvSpPr>
        <p:spPr>
          <a:xfrm>
            <a:off x="647700" y="174625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d"/>
          <p:cNvSpPr/>
          <p:nvPr/>
        </p:nvSpPr>
        <p:spPr>
          <a:xfrm>
            <a:off x="742950" y="174625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d"/>
          <p:cNvSpPr/>
          <p:nvPr/>
        </p:nvSpPr>
        <p:spPr>
          <a:xfrm>
            <a:off x="838200" y="174625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d"/>
          <p:cNvSpPr/>
          <p:nvPr/>
        </p:nvSpPr>
        <p:spPr>
          <a:xfrm>
            <a:off x="933450" y="174625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3" name="d"/>
          <p:cNvSpPr/>
          <p:nvPr/>
        </p:nvSpPr>
        <p:spPr>
          <a:xfrm>
            <a:off x="1028700" y="174625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4" name="d"/>
          <p:cNvSpPr/>
          <p:nvPr/>
        </p:nvSpPr>
        <p:spPr>
          <a:xfrm>
            <a:off x="457200" y="18415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5" name="d"/>
          <p:cNvSpPr/>
          <p:nvPr/>
        </p:nvSpPr>
        <p:spPr>
          <a:xfrm>
            <a:off x="552450" y="18415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6" name="d"/>
          <p:cNvSpPr/>
          <p:nvPr/>
        </p:nvSpPr>
        <p:spPr>
          <a:xfrm>
            <a:off x="647700" y="18415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7" name="d"/>
          <p:cNvSpPr/>
          <p:nvPr/>
        </p:nvSpPr>
        <p:spPr>
          <a:xfrm>
            <a:off x="742950" y="18415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8" name="d"/>
          <p:cNvSpPr/>
          <p:nvPr/>
        </p:nvSpPr>
        <p:spPr>
          <a:xfrm>
            <a:off x="838200" y="18415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9" name="d"/>
          <p:cNvSpPr/>
          <p:nvPr/>
        </p:nvSpPr>
        <p:spPr>
          <a:xfrm>
            <a:off x="933450" y="18415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0" name="d"/>
          <p:cNvSpPr/>
          <p:nvPr/>
        </p:nvSpPr>
        <p:spPr>
          <a:xfrm>
            <a:off x="1028700" y="18415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d"/>
          <p:cNvSpPr/>
          <p:nvPr/>
        </p:nvSpPr>
        <p:spPr>
          <a:xfrm>
            <a:off x="457200" y="193675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2" name="d"/>
          <p:cNvSpPr/>
          <p:nvPr/>
        </p:nvSpPr>
        <p:spPr>
          <a:xfrm>
            <a:off x="552450" y="193675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3" name="d"/>
          <p:cNvSpPr/>
          <p:nvPr/>
        </p:nvSpPr>
        <p:spPr>
          <a:xfrm>
            <a:off x="647700" y="193675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4" name="d"/>
          <p:cNvSpPr/>
          <p:nvPr/>
        </p:nvSpPr>
        <p:spPr>
          <a:xfrm>
            <a:off x="742950" y="193675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5" name="d"/>
          <p:cNvSpPr/>
          <p:nvPr/>
        </p:nvSpPr>
        <p:spPr>
          <a:xfrm>
            <a:off x="838200" y="193675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6" name="d"/>
          <p:cNvSpPr/>
          <p:nvPr/>
        </p:nvSpPr>
        <p:spPr>
          <a:xfrm>
            <a:off x="933450" y="193675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7" name="d"/>
          <p:cNvSpPr/>
          <p:nvPr/>
        </p:nvSpPr>
        <p:spPr>
          <a:xfrm>
            <a:off x="1028700" y="193675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8" name="d"/>
          <p:cNvSpPr/>
          <p:nvPr/>
        </p:nvSpPr>
        <p:spPr>
          <a:xfrm>
            <a:off x="457200" y="20320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9" name="d"/>
          <p:cNvSpPr/>
          <p:nvPr/>
        </p:nvSpPr>
        <p:spPr>
          <a:xfrm>
            <a:off x="552450" y="20320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0" name="d"/>
          <p:cNvSpPr/>
          <p:nvPr/>
        </p:nvSpPr>
        <p:spPr>
          <a:xfrm>
            <a:off x="647700" y="20320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1" name="d"/>
          <p:cNvSpPr/>
          <p:nvPr/>
        </p:nvSpPr>
        <p:spPr>
          <a:xfrm>
            <a:off x="742950" y="20320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2" name="d"/>
          <p:cNvSpPr/>
          <p:nvPr/>
        </p:nvSpPr>
        <p:spPr>
          <a:xfrm>
            <a:off x="838200" y="20320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3" name="d"/>
          <p:cNvSpPr/>
          <p:nvPr/>
        </p:nvSpPr>
        <p:spPr>
          <a:xfrm>
            <a:off x="933450" y="20320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4" name="d"/>
          <p:cNvSpPr/>
          <p:nvPr/>
        </p:nvSpPr>
        <p:spPr>
          <a:xfrm>
            <a:off x="1028700" y="20320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5" name="d"/>
          <p:cNvSpPr/>
          <p:nvPr/>
        </p:nvSpPr>
        <p:spPr>
          <a:xfrm>
            <a:off x="457200" y="212725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6" name="d"/>
          <p:cNvSpPr/>
          <p:nvPr/>
        </p:nvSpPr>
        <p:spPr>
          <a:xfrm>
            <a:off x="552450" y="212725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7" name="d"/>
          <p:cNvSpPr/>
          <p:nvPr/>
        </p:nvSpPr>
        <p:spPr>
          <a:xfrm>
            <a:off x="647700" y="212725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8" name="d"/>
          <p:cNvSpPr/>
          <p:nvPr/>
        </p:nvSpPr>
        <p:spPr>
          <a:xfrm>
            <a:off x="742950" y="212725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9" name="d"/>
          <p:cNvSpPr/>
          <p:nvPr/>
        </p:nvSpPr>
        <p:spPr>
          <a:xfrm>
            <a:off x="838200" y="212725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0" name="d"/>
          <p:cNvSpPr/>
          <p:nvPr/>
        </p:nvSpPr>
        <p:spPr>
          <a:xfrm>
            <a:off x="933450" y="212725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1" name="d"/>
          <p:cNvSpPr/>
          <p:nvPr/>
        </p:nvSpPr>
        <p:spPr>
          <a:xfrm>
            <a:off x="1028700" y="212725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2" name="d"/>
          <p:cNvSpPr/>
          <p:nvPr/>
        </p:nvSpPr>
        <p:spPr>
          <a:xfrm>
            <a:off x="457200" y="22225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3" name="d"/>
          <p:cNvSpPr/>
          <p:nvPr/>
        </p:nvSpPr>
        <p:spPr>
          <a:xfrm>
            <a:off x="552450" y="22225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4" name="d"/>
          <p:cNvSpPr/>
          <p:nvPr/>
        </p:nvSpPr>
        <p:spPr>
          <a:xfrm>
            <a:off x="647700" y="22225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5" name="d"/>
          <p:cNvSpPr/>
          <p:nvPr/>
        </p:nvSpPr>
        <p:spPr>
          <a:xfrm>
            <a:off x="742950" y="22225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6" name="d"/>
          <p:cNvSpPr/>
          <p:nvPr/>
        </p:nvSpPr>
        <p:spPr>
          <a:xfrm>
            <a:off x="838200" y="22225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7" name="d"/>
          <p:cNvSpPr/>
          <p:nvPr/>
        </p:nvSpPr>
        <p:spPr>
          <a:xfrm>
            <a:off x="933450" y="22225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8" name="d"/>
          <p:cNvSpPr/>
          <p:nvPr/>
        </p:nvSpPr>
        <p:spPr>
          <a:xfrm>
            <a:off x="1028700" y="22225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0" name="d"/>
          <p:cNvSpPr/>
          <p:nvPr/>
        </p:nvSpPr>
        <p:spPr>
          <a:xfrm>
            <a:off x="11176000" y="45720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" name="d"/>
          <p:cNvSpPr/>
          <p:nvPr/>
        </p:nvSpPr>
        <p:spPr>
          <a:xfrm>
            <a:off x="11271250" y="45720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d"/>
          <p:cNvSpPr/>
          <p:nvPr/>
        </p:nvSpPr>
        <p:spPr>
          <a:xfrm>
            <a:off x="11366500" y="45720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3" name="d"/>
          <p:cNvSpPr/>
          <p:nvPr/>
        </p:nvSpPr>
        <p:spPr>
          <a:xfrm>
            <a:off x="11461750" y="45720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4" name="d"/>
          <p:cNvSpPr/>
          <p:nvPr/>
        </p:nvSpPr>
        <p:spPr>
          <a:xfrm>
            <a:off x="11557000" y="45720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5" name="d"/>
          <p:cNvSpPr/>
          <p:nvPr/>
        </p:nvSpPr>
        <p:spPr>
          <a:xfrm>
            <a:off x="11652250" y="45720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6" name="d"/>
          <p:cNvSpPr/>
          <p:nvPr/>
        </p:nvSpPr>
        <p:spPr>
          <a:xfrm>
            <a:off x="11747500" y="45720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7" name="d"/>
          <p:cNvSpPr/>
          <p:nvPr/>
        </p:nvSpPr>
        <p:spPr>
          <a:xfrm>
            <a:off x="11176000" y="466725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8" name="d"/>
          <p:cNvSpPr/>
          <p:nvPr/>
        </p:nvSpPr>
        <p:spPr>
          <a:xfrm>
            <a:off x="11271250" y="466725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9" name="d"/>
          <p:cNvSpPr/>
          <p:nvPr/>
        </p:nvSpPr>
        <p:spPr>
          <a:xfrm>
            <a:off x="11366500" y="466725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0" name="d"/>
          <p:cNvSpPr/>
          <p:nvPr/>
        </p:nvSpPr>
        <p:spPr>
          <a:xfrm>
            <a:off x="11461750" y="466725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1" name="d"/>
          <p:cNvSpPr/>
          <p:nvPr/>
        </p:nvSpPr>
        <p:spPr>
          <a:xfrm>
            <a:off x="11557000" y="466725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2" name="d"/>
          <p:cNvSpPr/>
          <p:nvPr/>
        </p:nvSpPr>
        <p:spPr>
          <a:xfrm>
            <a:off x="11652250" y="466725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3" name="d"/>
          <p:cNvSpPr/>
          <p:nvPr/>
        </p:nvSpPr>
        <p:spPr>
          <a:xfrm>
            <a:off x="11747500" y="466725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4" name="d"/>
          <p:cNvSpPr/>
          <p:nvPr/>
        </p:nvSpPr>
        <p:spPr>
          <a:xfrm>
            <a:off x="11176000" y="47625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5" name="d"/>
          <p:cNvSpPr/>
          <p:nvPr/>
        </p:nvSpPr>
        <p:spPr>
          <a:xfrm>
            <a:off x="11271250" y="47625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6" name="d"/>
          <p:cNvSpPr/>
          <p:nvPr/>
        </p:nvSpPr>
        <p:spPr>
          <a:xfrm>
            <a:off x="11366500" y="47625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7" name="d"/>
          <p:cNvSpPr/>
          <p:nvPr/>
        </p:nvSpPr>
        <p:spPr>
          <a:xfrm>
            <a:off x="11461750" y="47625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8" name="d"/>
          <p:cNvSpPr/>
          <p:nvPr/>
        </p:nvSpPr>
        <p:spPr>
          <a:xfrm>
            <a:off x="11557000" y="47625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9" name="d"/>
          <p:cNvSpPr/>
          <p:nvPr/>
        </p:nvSpPr>
        <p:spPr>
          <a:xfrm>
            <a:off x="11652250" y="47625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0" name="d"/>
          <p:cNvSpPr/>
          <p:nvPr/>
        </p:nvSpPr>
        <p:spPr>
          <a:xfrm>
            <a:off x="11747500" y="47625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1" name="d"/>
          <p:cNvSpPr/>
          <p:nvPr/>
        </p:nvSpPr>
        <p:spPr>
          <a:xfrm>
            <a:off x="11176000" y="485775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2" name="d"/>
          <p:cNvSpPr/>
          <p:nvPr/>
        </p:nvSpPr>
        <p:spPr>
          <a:xfrm>
            <a:off x="11271250" y="485775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3" name="d"/>
          <p:cNvSpPr/>
          <p:nvPr/>
        </p:nvSpPr>
        <p:spPr>
          <a:xfrm>
            <a:off x="11366500" y="485775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4" name="d"/>
          <p:cNvSpPr/>
          <p:nvPr/>
        </p:nvSpPr>
        <p:spPr>
          <a:xfrm>
            <a:off x="11461750" y="485775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5" name="d"/>
          <p:cNvSpPr/>
          <p:nvPr/>
        </p:nvSpPr>
        <p:spPr>
          <a:xfrm>
            <a:off x="11557000" y="485775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6" name="d"/>
          <p:cNvSpPr/>
          <p:nvPr/>
        </p:nvSpPr>
        <p:spPr>
          <a:xfrm>
            <a:off x="11652250" y="485775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7" name="d"/>
          <p:cNvSpPr/>
          <p:nvPr/>
        </p:nvSpPr>
        <p:spPr>
          <a:xfrm>
            <a:off x="11747500" y="485775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8" name="d"/>
          <p:cNvSpPr/>
          <p:nvPr/>
        </p:nvSpPr>
        <p:spPr>
          <a:xfrm>
            <a:off x="11176000" y="49530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9" name="d"/>
          <p:cNvSpPr/>
          <p:nvPr/>
        </p:nvSpPr>
        <p:spPr>
          <a:xfrm>
            <a:off x="11271250" y="49530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0" name="d"/>
          <p:cNvSpPr/>
          <p:nvPr/>
        </p:nvSpPr>
        <p:spPr>
          <a:xfrm>
            <a:off x="11366500" y="49530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1" name="d"/>
          <p:cNvSpPr/>
          <p:nvPr/>
        </p:nvSpPr>
        <p:spPr>
          <a:xfrm>
            <a:off x="11461750" y="49530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2" name="d"/>
          <p:cNvSpPr/>
          <p:nvPr/>
        </p:nvSpPr>
        <p:spPr>
          <a:xfrm>
            <a:off x="11557000" y="49530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3" name="d"/>
          <p:cNvSpPr/>
          <p:nvPr/>
        </p:nvSpPr>
        <p:spPr>
          <a:xfrm>
            <a:off x="11652250" y="49530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4" name="d"/>
          <p:cNvSpPr/>
          <p:nvPr/>
        </p:nvSpPr>
        <p:spPr>
          <a:xfrm>
            <a:off x="11747500" y="49530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5" name="d"/>
          <p:cNvSpPr/>
          <p:nvPr/>
        </p:nvSpPr>
        <p:spPr>
          <a:xfrm>
            <a:off x="11176000" y="504825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6" name="d"/>
          <p:cNvSpPr/>
          <p:nvPr/>
        </p:nvSpPr>
        <p:spPr>
          <a:xfrm>
            <a:off x="11271250" y="504825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7" name="d"/>
          <p:cNvSpPr/>
          <p:nvPr/>
        </p:nvSpPr>
        <p:spPr>
          <a:xfrm>
            <a:off x="11366500" y="504825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8" name="d"/>
          <p:cNvSpPr/>
          <p:nvPr/>
        </p:nvSpPr>
        <p:spPr>
          <a:xfrm>
            <a:off x="11461750" y="504825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9" name="d"/>
          <p:cNvSpPr/>
          <p:nvPr/>
        </p:nvSpPr>
        <p:spPr>
          <a:xfrm>
            <a:off x="11557000" y="504825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0" name="d"/>
          <p:cNvSpPr/>
          <p:nvPr/>
        </p:nvSpPr>
        <p:spPr>
          <a:xfrm>
            <a:off x="11652250" y="504825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1" name="d"/>
          <p:cNvSpPr/>
          <p:nvPr/>
        </p:nvSpPr>
        <p:spPr>
          <a:xfrm>
            <a:off x="11747500" y="504825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2" name="d"/>
          <p:cNvSpPr/>
          <p:nvPr/>
        </p:nvSpPr>
        <p:spPr>
          <a:xfrm>
            <a:off x="11176000" y="51435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3" name="d"/>
          <p:cNvSpPr/>
          <p:nvPr/>
        </p:nvSpPr>
        <p:spPr>
          <a:xfrm>
            <a:off x="11271250" y="51435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4" name="d"/>
          <p:cNvSpPr/>
          <p:nvPr/>
        </p:nvSpPr>
        <p:spPr>
          <a:xfrm>
            <a:off x="11366500" y="51435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5" name="d"/>
          <p:cNvSpPr/>
          <p:nvPr/>
        </p:nvSpPr>
        <p:spPr>
          <a:xfrm>
            <a:off x="11461750" y="51435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6" name="d"/>
          <p:cNvSpPr/>
          <p:nvPr/>
        </p:nvSpPr>
        <p:spPr>
          <a:xfrm>
            <a:off x="11557000" y="51435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7" name="d"/>
          <p:cNvSpPr/>
          <p:nvPr/>
        </p:nvSpPr>
        <p:spPr>
          <a:xfrm>
            <a:off x="11652250" y="51435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8" name="d"/>
          <p:cNvSpPr/>
          <p:nvPr/>
        </p:nvSpPr>
        <p:spPr>
          <a:xfrm>
            <a:off x="11747500" y="5143500"/>
            <a:ext cx="31750" cy="31750"/>
          </a:xfrm>
          <a:prstGeom prst="ellipse">
            <a:avLst/>
          </a:prstGeom>
          <a:solidFill>
            <a:srgbClr val="BFD4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0" name="QA"/>
          <p:cNvSpPr txBox="1"/>
          <p:nvPr/>
        </p:nvSpPr>
        <p:spPr>
          <a:xfrm>
            <a:off x="635000" y="1968500"/>
            <a:ext cx="10922000" cy="203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1000" b="1" dirty="0">
                <a:solidFill>
                  <a:srgbClr val="0E2559"/>
                </a:solidFill>
              </a:rPr>
              <a:t>Q and A</a:t>
            </a:r>
          </a:p>
        </p:txBody>
      </p:sp>
      <p:sp>
        <p:nvSpPr>
          <p:cNvPr id="401" name="Bubble"/>
          <p:cNvSpPr/>
          <p:nvPr/>
        </p:nvSpPr>
        <p:spPr>
          <a:xfrm>
            <a:off x="2540000" y="4318000"/>
            <a:ext cx="7112000" cy="2095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84ED2"/>
            </a:solidFill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402" name="Pointer"/>
          <p:cNvSpPr/>
          <p:nvPr/>
        </p:nvSpPr>
        <p:spPr>
          <a:xfrm>
            <a:off x="5969000" y="4191000"/>
            <a:ext cx="254000" cy="15240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184E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3" name="PointerMask"/>
          <p:cNvSpPr/>
          <p:nvPr/>
        </p:nvSpPr>
        <p:spPr>
          <a:xfrm>
            <a:off x="5994400" y="4330700"/>
            <a:ext cx="2032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410" name="R0"/>
          <p:cNvSpPr txBox="1"/>
          <p:nvPr/>
        </p:nvSpPr>
        <p:spPr>
          <a:xfrm>
            <a:off x="3429000" y="4699000"/>
            <a:ext cx="5969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400" b="1" dirty="0">
                <a:solidFill>
                  <a:srgbClr val="0E2559"/>
                </a:solidFill>
              </a:rPr>
              <a:t>An integrated AI assistant for fragmented youth career-entry information</a:t>
            </a:r>
          </a:p>
        </p:txBody>
      </p:sp>
      <p:sp>
        <p:nvSpPr>
          <p:cNvPr id="420" name="Sep0"/>
          <p:cNvSpPr/>
          <p:nvPr/>
        </p:nvSpPr>
        <p:spPr>
          <a:xfrm>
            <a:off x="2921000" y="5118100"/>
            <a:ext cx="6350000" cy="635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411" name="R1"/>
          <p:cNvSpPr txBox="1"/>
          <p:nvPr/>
        </p:nvSpPr>
        <p:spPr>
          <a:xfrm>
            <a:off x="3429000" y="5334000"/>
            <a:ext cx="5969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300" b="1" dirty="0">
                <a:solidFill>
                  <a:srgbClr val="0E2559"/>
                </a:solidFill>
              </a:rPr>
              <a:t>Policy matching, job recommendations, resume coaching, schedule management</a:t>
            </a:r>
          </a:p>
        </p:txBody>
      </p:sp>
      <p:sp>
        <p:nvSpPr>
          <p:cNvPr id="421" name="Sep1"/>
          <p:cNvSpPr/>
          <p:nvPr/>
        </p:nvSpPr>
        <p:spPr>
          <a:xfrm>
            <a:off x="2921000" y="5753100"/>
            <a:ext cx="6350000" cy="6350"/>
          </a:xfrm>
          <a:prstGeom prst="rect">
            <a:avLst/>
          </a:prstGeom>
          <a:solidFill>
            <a:srgbClr val="BFD4F5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en-US"/>
          </a:p>
        </p:txBody>
      </p:sp>
      <p:sp>
        <p:nvSpPr>
          <p:cNvPr id="412" name="R2"/>
          <p:cNvSpPr txBox="1"/>
          <p:nvPr/>
        </p:nvSpPr>
        <p:spPr>
          <a:xfrm>
            <a:off x="3429000" y="5969000"/>
            <a:ext cx="5969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400" b="1" dirty="0">
                <a:solidFill>
                  <a:srgbClr val="0E2559"/>
                </a:solidFill>
              </a:rPr>
              <a:t>Validated through a prototype and evaluation dataset</a:t>
            </a:r>
          </a:p>
        </p:txBody>
      </p:sp>
      <p:sp>
        <p:nvSpPr>
          <p:cNvPr id="430" name="Footer"/>
          <p:cNvSpPr txBox="1"/>
          <p:nvPr/>
        </p:nvSpPr>
        <p:spPr>
          <a:xfrm>
            <a:off x="635000" y="6654800"/>
            <a:ext cx="109220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100" b="1" dirty="0">
                <a:solidFill>
                  <a:srgbClr val="184ED2"/>
                </a:solidFill>
              </a:rPr>
              <a:t>YouthPath</a:t>
            </a:r>
            <a:r>
              <a:rPr lang="en-US" sz="1100" dirty="0">
                <a:solidFill>
                  <a:srgbClr val="BFD4F5"/>
                </a:solidFill>
              </a:rPr>
              <a:t>    |    </a:t>
            </a:r>
            <a:r>
              <a:rPr lang="en-US" sz="1100" dirty="0">
                <a:solidFill>
                  <a:srgbClr val="184ED2"/>
                </a:solidFill>
              </a:rPr>
              <a:t>Deep Learning and Applications Project Proposal</a:t>
            </a:r>
          </a:p>
        </p:txBody>
      </p:sp>
      <p:pic>
        <p:nvPicPr>
          <p:cNvPr id="431" name="Graphic 43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68600" y="4546600"/>
            <a:ext cx="381000" cy="381000"/>
          </a:xfrm>
          <a:prstGeom prst="rect">
            <a:avLst/>
          </a:prstGeom>
        </p:spPr>
      </p:pic>
      <p:pic>
        <p:nvPicPr>
          <p:cNvPr id="432" name="Graphic 43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8600" y="5181600"/>
            <a:ext cx="381000" cy="381000"/>
          </a:xfrm>
          <a:prstGeom prst="rect">
            <a:avLst/>
          </a:prstGeom>
        </p:spPr>
      </p:pic>
      <p:pic>
        <p:nvPicPr>
          <p:cNvPr id="433" name="Graphic 43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68600" y="58166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839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 [1777821892927]">
  <a:themeElements>
    <a:clrScheme name="Office">
      <a:dk1>
        <a:srgbClr val="0E2559"/>
      </a:dk1>
      <a:lt1>
        <a:srgbClr val="FAFCFF"/>
      </a:lt1>
      <a:dk2>
        <a:srgbClr val="1446AF"/>
      </a:dk2>
      <a:lt2>
        <a:srgbClr val="E8EFFB"/>
      </a:lt2>
      <a:accent1>
        <a:srgbClr val="1446AF"/>
      </a:accent1>
      <a:accent2>
        <a:srgbClr val="184ED2"/>
      </a:accent2>
      <a:accent3>
        <a:srgbClr val="4DB8E8"/>
      </a:accent3>
      <a:accent4>
        <a:srgbClr val="0E2559"/>
      </a:accent4>
      <a:accent5>
        <a:srgbClr val="BFD4F5"/>
      </a:accent5>
      <a:accent6>
        <a:srgbClr val="FFFFFF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5744AC8-1C20-48CA-A8D7-86A925144C43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8672272e-2f99-4371-936c-46e1348eabb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993</Words>
  <Application>Microsoft Office PowerPoint</Application>
  <PresentationFormat>와이드스크린</PresentationFormat>
  <Paragraphs>278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테마 [1777821892927]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성래 홍</dc:creator>
  <cp:lastModifiedBy>성래 홍</cp:lastModifiedBy>
  <cp:revision>2</cp:revision>
  <dcterms:created xsi:type="dcterms:W3CDTF">2026-05-03T15:24:52Z</dcterms:created>
  <dcterms:modified xsi:type="dcterms:W3CDTF">2026-05-03T16:24:17Z</dcterms:modified>
</cp:coreProperties>
</file>